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424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sir, ma'am and everyone present here.,My name is Ajit Kumar, and I am the team leader of our project.,Today, our team is going to present our final project, FinanceAI - Intelligent Personal Finance and Risk Analysis System.,Our team consists of four members: Ajit Kumar, Ajeet Kumar, Sonu Kumar, and Pranav Kr Mishra.,FinanceAI is basically a Flask-based integrated financial analytics application. Is project me humne Personal Finance analysis, Machine Learning, authentication, database, APIs, analysis history aur explainable risk-analysis modules ko ek single application ke andar integrate kiya hai.,Hamare project ka main purpose sirf prediction karna nahi hai. Hamara goal financial data ko understandable, explainable aur useful insights me convert karna hai.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further, I would like to introduce our team and responsibilities.,Main Ajit Kumar, Team Leader hoon, aur maine mainly overall architecture, Flask backend, authentication, database integration, APIs aur final module integration par work kiya hai.,Ajeet Kumar Personal Finance and Data Analytics part explain karenge.,Sonu Kumar Credit Stress Machine Learning and Explainability module handle kar rahe hain.,And Pranav Kr Mishra Loan Risk, testing and documentation module explain karenge.,Testing, debugging, documentation review aur final presentation ham sabki shared responsibility hai.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would like to explain the problem that motivated us to build FinanceAI.,Aaj almost har person ke paas financial information hoti hai, jaise monthly income, expenses, savings, loan payment, investment aur credit-related data. But problem ye hai ki raw financial numbers ko samajhna easy nahi hota.,For example, agar kisi ki salary fifty thousand rupees hai, to sirf salary dekhkar hum ye decide nahi kar sakte ki uski financial condition healthy hai ya nahi. Hume expenses, debt, emergency fund, savings aur investment bhi dekhna padega.,Second problem ye hai ki financial risk models kabhi-kabhi black-box hote hain. Model ek score de deta hai, but user ko clearly nahi pata hota ki result ka meaning kya hai, kis basis par prediction hua, aur model ki limitations kya hain.,So our problem statement was: Can we build one system which combines explainable financial-health analysis, machine-learning risk analysis and a complete application backend?,Isi problem ko solve karne ke liye humne FinanceAI develop kiya.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FinanceAI ko humne three main analytical modules me divide kiya hai.,First module is Personal Finance. Ye user ko zero to hundred ka Financial Health Score, component breakdown aur personalized recommendations deta hai.,Second module is Credit Stress. Isme humne Logistic Regression based machine-learning benchmark use kiya hai.,Third module is Loan Risk. Isme Extra Trees based experimental risk-ranking model use kiya gaya hai.,Aur in tino modules ko humne ek Flask application ke through integrate kiya hai. Application me authentication, database, history, APIs aur offline FinanceAI Assistant bhi available hai.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understand how FinanceAI works technically.,Sabse pehle user browser ya API ke through application ko access karta hai. User request Flask application par aati hai. Flask layer authentication aur input validation handle karti hai.,Uske baad request service layer me jati hai. Service layer decide karti hai ki Personal Finance engine, Credit Stress model ya Loan Risk model me se kaunsa module call karna hai.,Personal Finance module transparent rule-based scoring engine use karta hai. Credit Stress Logistic Regression pipeline use karta hai. Loan Risk Extra Trees pipeline use karta hai.,Final result SQLite ya MySQL database me save kiya ja sakta hai. User later History page ke through past results dekh sakta hai. Assistant latest saved Personal Finance result ko explain bhi kar sakta hai.,So overall architecture hai: User -&gt; Flask -&gt; Service Layer -&gt; Analysis Engine or ML Model -&gt; Database -&gt; Result and History.,Transition: Ab Personal Finance module ko detail me explain karne ke liye main Ajeet ko invite karta hoon.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Ajit.,Now I am going to explain our first and primary user-facing module, which is Personal Finance.,Is module ka purpose hai user ki current financial condition ko understandable form me represent karna.,User kuch important inputs provide karta hai, such as monthly income, monthly expenses, debt-to-income ratio, loan payment, investment amount, emergency fund, credit score, budget goal, and actual savings.,In values ke basis par FinanceAI ek Financial Health Score from zero to hundred calculate karta hai.,Important point ye hai ki ye score black-box Machine Learning prediction nahi hai. Ye transparent rule-based system hai. Isliye hum clearly explain kar sakte hain ki total score kaunsa component kitna contribute kar raha hai.,Personal Finance module ka output sirf score nahi hai. User ko health category, ratios, component breakdown aur personalized recommendations bhi milti hain.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understand how the hundred-point score is calculated.,Health Score six components se milkar banta hai.,First is Cash Flow - maximum 25 points.,Second is Debt Health - maximum 20 points.,Third is Emergency Fund - maximum 20 points.,Fourth is Savings Progress - maximum 15 points.,Fifth is Investment - maximum 10 points.,And sixth is Credit - maximum 10 points.,So total becomes 100 points.,After calculating the score, system user ko health bands me classify karta hai. 85 to 100 Excellent, 70 to 84 Good, 55 to 69 Moderate, 40 to 54 Weak, and below 40 Critical.,Example integration test me score 77 out of 100 aaya, jo Good category hai.,Along with score, recommendation engine weak areas ko identify karta hai. Agar expenses high hain to spending reduce karne ki recommendation, emergency fund low hai to emergency savings build karne ka suggestion, aur debt-to-income ratio high hai to additional debt avoid karne ka recommendation mil sakta hai.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would like to show a small live demo.,Sabse pehle hum Personal Finance page open karte hain. Yahan user monthly income, expenses, debt-to-income ratio, loan payment, investment, emergency fund, credit score, budget goal aur savings enter karta hai.,Now I click on Analyze.,System Financial Health Score generate karta hai. Yahan health level show ho raha hai. Neeche component-wise score show ho raha hai. Aur recommendations section me prioritized actions show ho rahe hain.,After saving the result, ye analysis History page me available ho jata hai.,So Personal Finance module is explainable, transparent and user-focused.,Transition: Ab Credit Stress Machine Learning module Sonu explain karenge.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you.,Now I am going to explain our Credit Stress Machine Learning module.,Is module me humne different classification models compare kiye. Model comparison ke baad Logistic Regression champion model select hua.,But before discussing metrics, ek important point clear karna necessary hai. Credit Stress module ka target is financial_stress_flag.,Ye actual credit default nahi hai. It is a rule-based financial-stress proxy target.,Target leakage avoid karne ke liye humne intentionally sirf five strict predictors use kiye: Age, Dependents, Occupation, City Tier, and Desired Savings Percentage.,Income aur expense jaise features target ko directly construct karte the, isliye unhe strict ML predictor set se exclude kiya gaya. Ye decision model ko scientifically safer banata hai.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coming to the performance.,Champion model was Logistic Regression.,Test ROC-AUC approximately 0.854 tha. PR-AUC approximately 0.233 tha.,Default threshold initially 0.50 tha. STEP 7 me humne threshold tuning ki, aur recommended threshold became 0.68.,At this tuned threshold, Recall approximately 82.2 percent tha, Precision approximately 25.1 percent, and F1 score approximately 0.385.,Top-decile lift approximately 3.82 times tha.,Dataset imbalanced tha, jahan positive stress cases around 6.9 percent the. Isliye humne accuracy ke place par PR-AUC, Recall, Precision aur F1 ko importance 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choose karne ka ek additional advantage hai explainability.,Logistic Regression coefficients provide karta hai. Agar coefficient positive hai, to wo feature model ka stress score increase karta hai. Agar coefficient negative hai, to model score decrease hota hai.,Hum odds ratio bhi calculate kar sakte hain using: Odds Ratio = exp(coefficient).,Isse prediction ka direction understand karna easier hota hai.,STEP 7 me threshold tuning ka purpose false positives aur missed positives ke beech better balance achieve karna tha. Threshold 0.68 par precision improve hui aur recall abhi bhi 80 percent se above raha.,But ek limitation clearly mention karna important hai: This model does not predict actual credit default. It predicts a financial-stress proxy. So FinanceAI is model ko credit-card approval ya rejection ke liye use nahi karta.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you.,Now I am going to explain the Loan Risk module.,Loan Risk dataset me positive risky cases bahut kam the. Ye severe class imbalance create karta hai.,Isliye agar hum sirf accuracy dekhte, to misleading result mil sakta tha. For example, model almost sabko safe predict karke bhi high accuracy show kar sakta hai.,Isliye humne PR-AUC, ROC-AUC, Recall, F1 aur MCC jaise metrics use kiye.,Different models compare karne ke baad Extra Trees champion model select hua.,Test ROC-AUC approximately 0.6487 tha. Test PR-AUC approximately 0.0326 tha. STEP 7 me recommended threshold approximately 0.232 select hua.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model ki limitation important hai.,Positive cases rare hain. Historical observation window limited hai. Aur tuned threshold ke baad bhi model performance real lending use ke liye strong enough nahi hai.,Isliye humne system me Loan Risk ko clearly experimental risk-ranking model ke roop me label kiya hai.,FinanceAI Loan Risk model ko automatic approval or rejection ke liye use nahi karta.,Ek aur important safety feature ye hai ki Loan Risk API complete application-time feature vector demand karti hai.,Agar required input missing hai, system silently median ya default value use karke misleading prediction nahi karta. Instead, incomplete input ko reject karta hai.,Demo: Loan Risk page par sample input load karte hain. Output me experimental risk score show hota hai. Threshold ke comparison me class label generate hota hai. Saath me warning bhi show hoti hai ki ye autonomous lending decision nahi hai.,Transition: Ab final backend features, future scope aur conclusion ke liye main presentation wapas Ajit ko hand over karta hoon.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Pranav.,Ab main explain karna chahunga ki FinanceAI sirf Machine Learning notebooks ka collection nahi hai.,Humne complete working Flask application develop kiya hai.,Application me user registration, login and logout, password change, secure password hashing, CSRF protection, basic login rate limiting, analysis history, CSV export aur offline FinanceAI Assistant available hain.,Har authenticated user ki analysis history separately maintain hoti hai.,Project JSON APIs bhi expose karta hai.,So our final project combines: Full Stack Development + Data Analytics + Machine Learning + Database + Security + Explainability.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database, FinanceAI supports two options.,First is SQLite. SQLite zero-setup hai, isliye instant local demo ke liye useful hai.,Second is MySQL, which can be used with XAMPP.,Database me user records aur analysis history persist hoti hai.,Security side par humne password hashing, CSRF protection, session authentication and basic login throttling implement kiya hai.,Project APIs me examples hain: GET /api/v1/status, POST /api/v1/personal-finance, POST /api/v1/credit-stress, POST /api/v1/loan-risk, GET /api/v1/history.,Ye APIs project ko future integration ke liye useful banati hain.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user flow ko agar simple terms me samjhein, to six main steps hain.,First, user registers or logs in.,Second, user dashboard open karta hai.,Third, required analysis module select karta hai.,Fourth, input provide karke analysis run karta hai.,Fifth, system result show karta hai aur relevant result history me save hota hai.,And sixth, user Assistant ke through apne Personal Finance result ko simple language me samajh sakta hai.,So humne complete user journey ko simple, integrated aur reusable rakha hai.,Live flow: Home page → Login → Dashboard → module demos → History → Assistant → /api/v1/status.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FinanceAI clearly distinguishes what the system can do and what it cannot do.,FinanceAI can: explain personal financial health, generate educational recommendations, demonstrate experimental risk ranking, and show model metrics and limitations.,But FinanceAI does not: approve or reject a credit card, approve or reject a loan, claim that proxy labels are real defaults, or provide professional financial advice.,Humne intentionally model limitations ko hidden nahi rakha.,Hamare liye responsible analytics ka meaning hai: Useful output plus honest boundaries.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coming to future scope.,Current project academic and portfolio stage par complete hai.,Future me FinanceAI ko real-world data ke saath improve kiya ja sakta hai.,Real bank or UPI transaction integration add ki ja sakti hai. Credit Stress aur Loan Risk ke liye real verified repayment and default outcomes collect kiye ja sakte hain. Longer historical time-series data use karke better temporal validation perform ki ja sakti hai.,Fairness and bias testing add ki ja sakti hai. Risk probabilities ko properly calibrate kiya ja sakta hai. Application ko secure cloud environment par deploy kiya ja sakta hai. Mobile application ya Progressive Web App develop ki ja sakti hai.,Future FinanceAI Assistant ko bhi advanced user-approved financial context ke saath improve kiya ja sakta hai.,But our first priority in future would be: Better real-world data before building more complex models.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presentation,,FinanceAI is not only a Machine Learning project. It is an integrated financial analytics system.,Through this project, we worked on data understanding, data cleaning, EDA, feature engineering, Machine Learning, model evaluation, threshold tuning, explainability, Flask backend, authentication, database persistence, APIs, security, testing, and responsible communication of model limitations.,Our Personal Finance module provides an explainable Financial Health Score and recommendations.,Our Credit Stress module demonstrates Logistic Regression based financial-stress classification.,Our Loan Risk module demonstrates experimental Extra Trees risk ranking.,And all modules are integrated into one working Flask application.,Most importantly, we do not hide the limitations of our models.,FinanceAI demonstrates that a good AI or ML system is not only about getting a prediction. It is also about making the result understandable, testable, secure and responsibly communicated.,Through this project, we learned both Machine Learning and real application integration.,On behalf of our entire team - Ajeet Kumar, Sonu Kumar, Pranav Kr Mishra and myself Ajit Kumar - thank you for giving us the opportunity to present our project.,Thank you. We are ready for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5D0BA"/>
          </a:solidFill>
          <a:ln w="12700">
            <a:solidFill>
              <a:srgbClr val="35D0BA"/>
            </a:solidFill>
            <a:prstDash val="solid"/>
          </a:ln>
        </p:spPr>
      </p:sp>
      <p:sp>
        <p:nvSpPr>
          <p:cNvPr id="3" name="Text 1"/>
          <p:cNvSpPr/>
          <p:nvPr/>
        </p:nvSpPr>
        <p:spPr>
          <a:xfrm>
            <a:off x="411480" y="6537960"/>
            <a:ext cx="1554480" cy="164592"/>
          </a:xfrm>
          <a:prstGeom prst="rect">
            <a:avLst/>
          </a:prstGeom>
          <a:noFill/>
          <a:ln/>
        </p:spPr>
        <p:txBody>
          <a:bodyPr wrap="square" lIns="0" tIns="0" rIns="0" bIns="0" rtlCol="0" anchor="ctr"/>
          <a:lstStyle/>
          <a:p>
            <a:pPr marL="0" indent="0">
              <a:buNone/>
            </a:pPr>
            <a:r>
              <a:rPr lang="en-US" sz="850" b="1" dirty="0">
                <a:solidFill>
                  <a:srgbClr val="6D859D"/>
                </a:solidFill>
                <a:latin typeface="Aptos" pitchFamily="34" charset="0"/>
                <a:ea typeface="Aptos" pitchFamily="34" charset="-122"/>
                <a:cs typeface="Aptos" pitchFamily="34" charset="-120"/>
              </a:rPr>
              <a:t>FINANCEAI</a:t>
            </a:r>
            <a:endParaRPr lang="en-US" sz="850" dirty="0"/>
          </a:p>
        </p:txBody>
      </p:sp>
      <p:sp>
        <p:nvSpPr>
          <p:cNvPr id="4" name="Text 2"/>
          <p:cNvSpPr/>
          <p:nvPr/>
        </p:nvSpPr>
        <p:spPr>
          <a:xfrm>
            <a:off x="9509760" y="6537960"/>
            <a:ext cx="2240280" cy="164592"/>
          </a:xfrm>
          <a:prstGeom prst="rect">
            <a:avLst/>
          </a:prstGeom>
          <a:noFill/>
          <a:ln/>
        </p:spPr>
        <p:txBody>
          <a:bodyPr wrap="square" lIns="0" tIns="0" rIns="0" bIns="0" rtlCol="0" anchor="ctr"/>
          <a:lstStyle/>
          <a:p>
            <a:pPr marL="0" indent="0" algn="r">
              <a:buNone/>
            </a:pPr>
            <a:r>
              <a:rPr lang="en-US" sz="850" dirty="0">
                <a:solidFill>
                  <a:srgbClr val="6D859D"/>
                </a:solidFill>
                <a:latin typeface="Aptos" pitchFamily="34" charset="0"/>
                <a:ea typeface="Aptos" pitchFamily="34" charset="-122"/>
                <a:cs typeface="Aptos" pitchFamily="34" charset="-120"/>
              </a:rPr>
              <a:t>B.Tech CSE Final Project</a:t>
            </a:r>
            <a:endParaRPr lang="en-US" sz="85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052560" y="685800"/>
            <a:ext cx="2377440" cy="2377440"/>
          </a:xfrm>
          <a:prstGeom prst="ellipse">
            <a:avLst/>
          </a:prstGeom>
          <a:solidFill>
            <a:srgbClr val="35D0BA">
              <a:alpha val="13000"/>
            </a:srgbClr>
          </a:solidFill>
          <a:ln w="12700">
            <a:solidFill>
              <a:srgbClr val="35D0BA">
                <a:alpha val="0"/>
              </a:srgbClr>
            </a:solidFill>
            <a:prstDash val="solid"/>
          </a:ln>
        </p:spPr>
      </p:sp>
      <p:sp>
        <p:nvSpPr>
          <p:cNvPr id="3" name="Shape 1"/>
          <p:cNvSpPr/>
          <p:nvPr/>
        </p:nvSpPr>
        <p:spPr>
          <a:xfrm>
            <a:off x="9555480" y="1188720"/>
            <a:ext cx="1371600" cy="1371600"/>
          </a:xfrm>
          <a:prstGeom prst="ellipse">
            <a:avLst/>
          </a:prstGeom>
          <a:solidFill>
            <a:srgbClr val="6CA8FF">
              <a:alpha val="16000"/>
            </a:srgbClr>
          </a:solidFill>
          <a:ln w="12700">
            <a:solidFill>
              <a:srgbClr val="6CA8FF">
                <a:alpha val="0"/>
              </a:srgbClr>
            </a:solidFill>
            <a:prstDash val="solid"/>
          </a:ln>
        </p:spPr>
      </p:sp>
      <p:sp>
        <p:nvSpPr>
          <p:cNvPr id="4" name="Text 2"/>
          <p:cNvSpPr/>
          <p:nvPr/>
        </p:nvSpPr>
        <p:spPr>
          <a:xfrm>
            <a:off x="566928" y="502920"/>
            <a:ext cx="3657600" cy="310896"/>
          </a:xfrm>
          <a:prstGeom prst="rect">
            <a:avLst/>
          </a:prstGeom>
          <a:noFill/>
          <a:ln/>
        </p:spPr>
        <p:txBody>
          <a:bodyPr wrap="square" lIns="0" tIns="0" rIns="0" bIns="0" rtlCol="0" anchor="ctr">
            <a:normAutofit/>
          </a:bodyPr>
          <a:lstStyle/>
          <a:p>
            <a:pPr marL="0" indent="0">
              <a:buNone/>
            </a:pPr>
            <a:r>
              <a:rPr lang="en-US" sz="1200" b="1" kern="0" spc="220" dirty="0">
                <a:solidFill>
                  <a:srgbClr val="35D0BA"/>
                </a:solidFill>
                <a:latin typeface="Aptos" pitchFamily="34" charset="0"/>
                <a:ea typeface="Aptos" pitchFamily="34" charset="-122"/>
                <a:cs typeface="Aptos" pitchFamily="34" charset="-120"/>
              </a:rPr>
              <a:t>FINANCEAI</a:t>
            </a:r>
            <a:endParaRPr lang="en-US" sz="1200" dirty="0"/>
          </a:p>
        </p:txBody>
      </p:sp>
      <p:sp>
        <p:nvSpPr>
          <p:cNvPr id="5" name="Text 3"/>
          <p:cNvSpPr/>
          <p:nvPr/>
        </p:nvSpPr>
        <p:spPr>
          <a:xfrm>
            <a:off x="566928" y="1143000"/>
            <a:ext cx="7772400" cy="1417320"/>
          </a:xfrm>
          <a:prstGeom prst="rect">
            <a:avLst/>
          </a:prstGeom>
          <a:noFill/>
          <a:ln/>
        </p:spPr>
        <p:txBody>
          <a:bodyPr wrap="square" lIns="0" tIns="0" rIns="0" bIns="0" rtlCol="0" anchor="t">
            <a:normAutofit/>
          </a:bodyPr>
          <a:lstStyle/>
          <a:p>
            <a:pPr marL="0" indent="0">
              <a:buNone/>
            </a:pPr>
            <a:r>
              <a:rPr lang="en-US" sz="3400" b="1" dirty="0">
                <a:solidFill>
                  <a:srgbClr val="F2F7FB"/>
                </a:solidFill>
                <a:latin typeface="Aptos Display" pitchFamily="34" charset="0"/>
                <a:ea typeface="Aptos Display" pitchFamily="34" charset="-122"/>
                <a:cs typeface="Aptos Display" pitchFamily="34" charset="-120"/>
              </a:rPr>
              <a:t>Intelligent Personal Finance</a:t>
            </a:r>
            <a:endParaRPr lang="en-US" sz="3400" dirty="0"/>
          </a:p>
          <a:p>
            <a:pPr marL="0" indent="0">
              <a:buNone/>
            </a:pPr>
            <a:r>
              <a:rPr lang="en-US" sz="3400" b="1" dirty="0">
                <a:solidFill>
                  <a:srgbClr val="F2F7FB"/>
                </a:solidFill>
                <a:latin typeface="Aptos Display" pitchFamily="34" charset="0"/>
                <a:ea typeface="Aptos Display" pitchFamily="34" charset="-122"/>
                <a:cs typeface="Aptos Display" pitchFamily="34" charset="-120"/>
              </a:rPr>
              <a:t>&amp; Risk Analysis System</a:t>
            </a:r>
            <a:endParaRPr lang="en-US" sz="3400" dirty="0"/>
          </a:p>
        </p:txBody>
      </p:sp>
      <p:sp>
        <p:nvSpPr>
          <p:cNvPr id="6" name="Text 4"/>
          <p:cNvSpPr/>
          <p:nvPr/>
        </p:nvSpPr>
        <p:spPr>
          <a:xfrm>
            <a:off x="594360" y="2788920"/>
            <a:ext cx="7040880" cy="365760"/>
          </a:xfrm>
          <a:prstGeom prst="rect">
            <a:avLst/>
          </a:prstGeom>
          <a:noFill/>
          <a:ln/>
        </p:spPr>
        <p:txBody>
          <a:bodyPr wrap="square" lIns="0" tIns="0" rIns="0" bIns="0" rtlCol="0" anchor="ctr">
            <a:normAutofit/>
          </a:bodyPr>
          <a:lstStyle/>
          <a:p>
            <a:pPr marL="0" indent="0">
              <a:buNone/>
            </a:pPr>
            <a:r>
              <a:rPr lang="en-US" sz="1500" dirty="0">
                <a:solidFill>
                  <a:srgbClr val="93A8BB"/>
                </a:solidFill>
                <a:latin typeface="Aptos" pitchFamily="34" charset="0"/>
                <a:ea typeface="Aptos" pitchFamily="34" charset="-122"/>
                <a:cs typeface="Aptos" pitchFamily="34" charset="-120"/>
              </a:rPr>
              <a:t>Seminar Presentation • Flask + ML + Database + APIs</a:t>
            </a:r>
            <a:endParaRPr lang="en-US" sz="1500" dirty="0"/>
          </a:p>
        </p:txBody>
      </p:sp>
      <p:sp>
        <p:nvSpPr>
          <p:cNvPr id="7" name="Shape 5"/>
          <p:cNvSpPr/>
          <p:nvPr/>
        </p:nvSpPr>
        <p:spPr>
          <a:xfrm>
            <a:off x="594360" y="3401568"/>
            <a:ext cx="6766560" cy="1005840"/>
          </a:xfrm>
          <a:prstGeom prst="roundRect">
            <a:avLst>
              <a:gd name="adj" fmla="val 10909"/>
            </a:avLst>
          </a:prstGeom>
          <a:solidFill>
            <a:srgbClr val="0E2034"/>
          </a:solidFill>
          <a:ln w="12700">
            <a:solidFill>
              <a:srgbClr val="1B3853"/>
            </a:solidFill>
            <a:prstDash val="solid"/>
          </a:ln>
        </p:spPr>
      </p:sp>
      <p:sp>
        <p:nvSpPr>
          <p:cNvPr id="8" name="Text 6"/>
          <p:cNvSpPr/>
          <p:nvPr/>
        </p:nvSpPr>
        <p:spPr>
          <a:xfrm>
            <a:off x="822960" y="3566160"/>
            <a:ext cx="640080" cy="228600"/>
          </a:xfrm>
          <a:prstGeom prst="rect">
            <a:avLst/>
          </a:prstGeom>
          <a:noFill/>
          <a:ln/>
        </p:spPr>
        <p:txBody>
          <a:bodyPr wrap="square" lIns="0" tIns="0" rIns="0" bIns="0" rtlCol="0" anchor="ctr">
            <a:normAutofit/>
          </a:bodyPr>
          <a:lstStyle/>
          <a:p>
            <a:pPr marL="0" indent="0">
              <a:buNone/>
            </a:pPr>
            <a:r>
              <a:rPr lang="en-US" sz="950" b="1" kern="0" spc="140" dirty="0">
                <a:solidFill>
                  <a:srgbClr val="35D0BA"/>
                </a:solidFill>
                <a:latin typeface="Aptos" pitchFamily="34" charset="0"/>
                <a:ea typeface="Aptos" pitchFamily="34" charset="-122"/>
                <a:cs typeface="Aptos" pitchFamily="34" charset="-120"/>
              </a:rPr>
              <a:t>TEAM</a:t>
            </a:r>
            <a:endParaRPr lang="en-US" sz="950" dirty="0"/>
          </a:p>
        </p:txBody>
      </p:sp>
      <p:sp>
        <p:nvSpPr>
          <p:cNvPr id="9" name="Text 7"/>
          <p:cNvSpPr/>
          <p:nvPr/>
        </p:nvSpPr>
        <p:spPr>
          <a:xfrm>
            <a:off x="822960" y="3840480"/>
            <a:ext cx="6172200" cy="256032"/>
          </a:xfrm>
          <a:prstGeom prst="rect">
            <a:avLst/>
          </a:prstGeom>
          <a:noFill/>
          <a:ln/>
        </p:spPr>
        <p:txBody>
          <a:bodyPr wrap="square" lIns="0" tIns="0" rIns="0" bIns="0" rtlCol="0" anchor="ctr">
            <a:normAutofit/>
          </a:bodyPr>
          <a:lstStyle/>
          <a:p>
            <a:pPr marL="0" indent="0">
              <a:buNone/>
            </a:pPr>
            <a:r>
              <a:rPr lang="en-US" sz="1320" b="1" dirty="0">
                <a:solidFill>
                  <a:srgbClr val="F2F7FB"/>
                </a:solidFill>
                <a:latin typeface="Aptos" pitchFamily="34" charset="0"/>
                <a:ea typeface="Aptos" pitchFamily="34" charset="-122"/>
                <a:cs typeface="Aptos" pitchFamily="34" charset="-120"/>
              </a:rPr>
              <a:t>Ajit Kumar  ·  Ajeet Kumar  ·  Sonu Kumar  ·  Pranav Kr Mishra</a:t>
            </a:r>
            <a:endParaRPr lang="en-US" sz="1320" dirty="0"/>
          </a:p>
        </p:txBody>
      </p:sp>
      <p:sp>
        <p:nvSpPr>
          <p:cNvPr id="10" name="Text 8"/>
          <p:cNvSpPr/>
          <p:nvPr/>
        </p:nvSpPr>
        <p:spPr>
          <a:xfrm>
            <a:off x="822960" y="4123944"/>
            <a:ext cx="3474720" cy="201168"/>
          </a:xfrm>
          <a:prstGeom prst="rect">
            <a:avLst/>
          </a:prstGeom>
          <a:noFill/>
          <a:ln/>
        </p:spPr>
        <p:txBody>
          <a:bodyPr wrap="square" lIns="0" tIns="0" rIns="0" bIns="0" rtlCol="0" anchor="ctr">
            <a:normAutofit/>
          </a:bodyPr>
          <a:lstStyle/>
          <a:p>
            <a:pPr marL="0" indent="0">
              <a:buNone/>
            </a:pPr>
            <a:r>
              <a:rPr lang="en-US" sz="1050" dirty="0">
                <a:solidFill>
                  <a:srgbClr val="93A8BB"/>
                </a:solidFill>
                <a:latin typeface="Aptos" pitchFamily="34" charset="0"/>
                <a:ea typeface="Aptos" pitchFamily="34" charset="-122"/>
                <a:cs typeface="Aptos" pitchFamily="34" charset="-120"/>
              </a:rPr>
              <a:t>Team Leader: Ajit Kumar</a:t>
            </a:r>
            <a:endParaRPr lang="en-US" sz="1050" dirty="0"/>
          </a:p>
        </p:txBody>
      </p:sp>
      <p:sp>
        <p:nvSpPr>
          <p:cNvPr id="14" name="Text 12"/>
          <p:cNvSpPr/>
          <p:nvPr/>
        </p:nvSpPr>
        <p:spPr>
          <a:xfrm>
            <a:off x="594360" y="5715000"/>
            <a:ext cx="5212080" cy="237744"/>
          </a:xfrm>
          <a:prstGeom prst="rect">
            <a:avLst/>
          </a:prstGeom>
          <a:noFill/>
          <a:ln/>
        </p:spPr>
        <p:txBody>
          <a:bodyPr wrap="square" lIns="0" tIns="0" rIns="0" bIns="0" rtlCol="0" anchor="ctr">
            <a:normAutofit/>
          </a:bodyPr>
          <a:lstStyle/>
          <a:p>
            <a:pPr marL="0" indent="0">
              <a:buNone/>
            </a:pPr>
            <a:r>
              <a:rPr lang="en-US" sz="1150" dirty="0">
                <a:solidFill>
                  <a:srgbClr val="93A8BB"/>
                </a:solidFill>
                <a:latin typeface="Aptos" pitchFamily="34" charset="0"/>
                <a:ea typeface="Aptos" pitchFamily="34" charset="-122"/>
                <a:cs typeface="Aptos" pitchFamily="34" charset="-120"/>
              </a:rPr>
              <a:t>B.Tech Computer Science &amp; Engineering</a:t>
            </a:r>
            <a:endParaRPr lang="en-US" sz="1150" dirty="0"/>
          </a:p>
        </p:txBody>
      </p:sp>
      <p:sp>
        <p:nvSpPr>
          <p:cNvPr id="15" name="Text 13"/>
          <p:cNvSpPr/>
          <p:nvPr/>
        </p:nvSpPr>
        <p:spPr>
          <a:xfrm>
            <a:off x="594360" y="6035040"/>
            <a:ext cx="2743200" cy="228600"/>
          </a:xfrm>
          <a:prstGeom prst="rect">
            <a:avLst/>
          </a:prstGeom>
          <a:noFill/>
          <a:ln/>
        </p:spPr>
        <p:txBody>
          <a:bodyPr wrap="square" lIns="0" tIns="0" rIns="0" bIns="0" rtlCol="0" anchor="ctr">
            <a:normAutofit/>
          </a:bodyPr>
          <a:lstStyle/>
          <a:p>
            <a:pPr marL="0" indent="0">
              <a:buNone/>
            </a:pPr>
            <a:r>
              <a:rPr lang="en-US" sz="1150" b="1" dirty="0">
                <a:solidFill>
                  <a:srgbClr val="F2F7FB"/>
                </a:solidFill>
                <a:latin typeface="Aptos" pitchFamily="34" charset="0"/>
                <a:ea typeface="Aptos" pitchFamily="34" charset="-122"/>
                <a:cs typeface="Aptos" pitchFamily="34" charset="-120"/>
              </a:rPr>
              <a:t>Sandip University</a:t>
            </a:r>
            <a:endParaRPr lang="en-US" sz="115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a:t>
            </a:fld>
            <a:endParaRPr lang="en-US"/>
          </a:p>
        </p:txBody>
      </p:sp>
      <p:pic>
        <p:nvPicPr>
          <p:cNvPr id="17" name="Picture 16">
            <a:extLst>
              <a:ext uri="{FF2B5EF4-FFF2-40B4-BE49-F238E27FC236}">
                <a16:creationId xmlns:a16="http://schemas.microsoft.com/office/drawing/2014/main" id="{E500DEBA-1EED-F649-19B3-EE30C2C6C9D8}"/>
              </a:ext>
            </a:extLst>
          </p:cNvPr>
          <p:cNvPicPr>
            <a:picLocks noChangeAspect="1"/>
          </p:cNvPicPr>
          <p:nvPr/>
        </p:nvPicPr>
        <p:blipFill>
          <a:blip r:embed="rId3"/>
          <a:stretch>
            <a:fillRect/>
          </a:stretch>
        </p:blipFill>
        <p:spPr>
          <a:xfrm>
            <a:off x="7405346" y="422910"/>
            <a:ext cx="4732020" cy="47320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TEAM</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Meet the FinanceAI Team</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Clear module ownership for development, demo and viva.</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02920" y="1920240"/>
            <a:ext cx="2514600" cy="3246120"/>
          </a:xfrm>
          <a:prstGeom prst="roundRect">
            <a:avLst>
              <a:gd name="adj" fmla="val 4364"/>
            </a:avLst>
          </a:prstGeom>
          <a:solidFill>
            <a:srgbClr val="0E2034"/>
          </a:solidFill>
          <a:ln w="12700">
            <a:solidFill>
              <a:srgbClr val="1B3853"/>
            </a:solidFill>
            <a:prstDash val="solid"/>
          </a:ln>
        </p:spPr>
      </p:sp>
      <p:sp>
        <p:nvSpPr>
          <p:cNvPr id="8" name="Shape 6"/>
          <p:cNvSpPr/>
          <p:nvPr/>
        </p:nvSpPr>
        <p:spPr>
          <a:xfrm>
            <a:off x="667512" y="2084832"/>
            <a:ext cx="530352" cy="530352"/>
          </a:xfrm>
          <a:prstGeom prst="ellipse">
            <a:avLst/>
          </a:prstGeom>
          <a:solidFill>
            <a:srgbClr val="35D0BA">
              <a:alpha val="20000"/>
            </a:srgbClr>
          </a:solidFill>
          <a:ln w="12700">
            <a:solidFill>
              <a:srgbClr val="35D0BA">
                <a:alpha val="0"/>
              </a:srgbClr>
            </a:solidFill>
            <a:prstDash val="solid"/>
          </a:ln>
        </p:spPr>
      </p:sp>
      <p:sp>
        <p:nvSpPr>
          <p:cNvPr id="9" name="Text 7"/>
          <p:cNvSpPr/>
          <p:nvPr/>
        </p:nvSpPr>
        <p:spPr>
          <a:xfrm>
            <a:off x="667512" y="2112264"/>
            <a:ext cx="530352" cy="457200"/>
          </a:xfrm>
          <a:prstGeom prst="rect">
            <a:avLst/>
          </a:prstGeom>
          <a:noFill/>
          <a:ln/>
        </p:spPr>
        <p:txBody>
          <a:bodyPr wrap="square" lIns="0" tIns="0" rIns="0" bIns="0" rtlCol="0" anchor="ctr">
            <a:normAutofit/>
          </a:bodyPr>
          <a:lstStyle/>
          <a:p>
            <a:pPr marL="0" indent="0" algn="ctr">
              <a:buNone/>
            </a:pPr>
            <a:r>
              <a:rPr lang="en-US" sz="1200" b="1" dirty="0">
                <a:solidFill>
                  <a:srgbClr val="35D0BA"/>
                </a:solidFill>
                <a:latin typeface="Aptos" pitchFamily="34" charset="0"/>
                <a:ea typeface="Aptos" pitchFamily="34" charset="-122"/>
                <a:cs typeface="Aptos" pitchFamily="34" charset="-120"/>
              </a:rPr>
              <a:t>AK</a:t>
            </a:r>
            <a:endParaRPr lang="en-US" sz="1200" dirty="0"/>
          </a:p>
        </p:txBody>
      </p:sp>
      <p:sp>
        <p:nvSpPr>
          <p:cNvPr id="10" name="Text 8"/>
          <p:cNvSpPr/>
          <p:nvPr/>
        </p:nvSpPr>
        <p:spPr>
          <a:xfrm>
            <a:off x="667512" y="2743200"/>
            <a:ext cx="2121408" cy="292608"/>
          </a:xfrm>
          <a:prstGeom prst="rect">
            <a:avLst/>
          </a:prstGeom>
          <a:noFill/>
          <a:ln/>
        </p:spPr>
        <p:txBody>
          <a:bodyPr wrap="square" lIns="0" tIns="0" rIns="0" bIns="0" rtlCol="0" anchor="ctr">
            <a:normAutofit/>
          </a:bodyPr>
          <a:lstStyle/>
          <a:p>
            <a:pPr marL="0" indent="0">
              <a:buNone/>
            </a:pPr>
            <a:r>
              <a:rPr lang="en-US" sz="1620" b="1" dirty="0">
                <a:solidFill>
                  <a:srgbClr val="F2F7FB"/>
                </a:solidFill>
                <a:latin typeface="Aptos" pitchFamily="34" charset="0"/>
                <a:ea typeface="Aptos" pitchFamily="34" charset="-122"/>
                <a:cs typeface="Aptos" pitchFamily="34" charset="-120"/>
              </a:rPr>
              <a:t>Ajit Kumar</a:t>
            </a:r>
            <a:endParaRPr lang="en-US" sz="1620" dirty="0"/>
          </a:p>
        </p:txBody>
      </p:sp>
      <p:sp>
        <p:nvSpPr>
          <p:cNvPr id="11" name="Shape 9"/>
          <p:cNvSpPr/>
          <p:nvPr/>
        </p:nvSpPr>
        <p:spPr>
          <a:xfrm>
            <a:off x="667512" y="3127248"/>
            <a:ext cx="960120" cy="347472"/>
          </a:xfrm>
          <a:prstGeom prst="roundRect">
            <a:avLst>
              <a:gd name="adj" fmla="val 50000"/>
            </a:avLst>
          </a:prstGeom>
          <a:solidFill>
            <a:srgbClr val="35D0BA">
              <a:alpha val="15000"/>
            </a:srgbClr>
          </a:solidFill>
          <a:ln w="12700">
            <a:solidFill>
              <a:srgbClr val="35D0BA">
                <a:alpha val="30000"/>
              </a:srgbClr>
            </a:solidFill>
            <a:prstDash val="solid"/>
          </a:ln>
        </p:spPr>
      </p:sp>
      <p:sp>
        <p:nvSpPr>
          <p:cNvPr id="12" name="Text 10"/>
          <p:cNvSpPr/>
          <p:nvPr/>
        </p:nvSpPr>
        <p:spPr>
          <a:xfrm>
            <a:off x="722376" y="3145536"/>
            <a:ext cx="850392" cy="292608"/>
          </a:xfrm>
          <a:prstGeom prst="rect">
            <a:avLst/>
          </a:prstGeom>
          <a:noFill/>
          <a:ln/>
        </p:spPr>
        <p:txBody>
          <a:bodyPr wrap="square" lIns="0" tIns="0" rIns="0" bIns="0" rtlCol="0" anchor="ctr">
            <a:normAutofit/>
          </a:bodyPr>
          <a:lstStyle/>
          <a:p>
            <a:pPr marL="0" indent="0" algn="ctr">
              <a:buNone/>
            </a:pPr>
            <a:r>
              <a:rPr lang="en-US" sz="940" b="1" dirty="0">
                <a:solidFill>
                  <a:srgbClr val="35D0BA"/>
                </a:solidFill>
                <a:latin typeface="Aptos" pitchFamily="34" charset="0"/>
                <a:ea typeface="Aptos" pitchFamily="34" charset="-122"/>
                <a:cs typeface="Aptos" pitchFamily="34" charset="-120"/>
              </a:rPr>
              <a:t>Team Leader</a:t>
            </a:r>
            <a:endParaRPr lang="en-US" sz="940" dirty="0"/>
          </a:p>
        </p:txBody>
      </p:sp>
      <p:sp>
        <p:nvSpPr>
          <p:cNvPr id="13" name="Text 11"/>
          <p:cNvSpPr/>
          <p:nvPr/>
        </p:nvSpPr>
        <p:spPr>
          <a:xfrm>
            <a:off x="667512" y="3639312"/>
            <a:ext cx="2103120" cy="475488"/>
          </a:xfrm>
          <a:prstGeom prst="rect">
            <a:avLst/>
          </a:prstGeom>
          <a:noFill/>
          <a:ln/>
        </p:spPr>
        <p:txBody>
          <a:bodyPr wrap="square" lIns="0" tIns="0" rIns="0" bIns="0" rtlCol="0" anchor="t">
            <a:normAutofit/>
          </a:bodyPr>
          <a:lstStyle/>
          <a:p>
            <a:pPr marL="0" indent="0">
              <a:buNone/>
            </a:pPr>
            <a:r>
              <a:rPr lang="en-US" sz="1240" b="1" dirty="0">
                <a:solidFill>
                  <a:srgbClr val="F2F7FB"/>
                </a:solidFill>
                <a:latin typeface="Aptos" pitchFamily="34" charset="0"/>
                <a:ea typeface="Aptos" pitchFamily="34" charset="-122"/>
                <a:cs typeface="Aptos" pitchFamily="34" charset="-120"/>
              </a:rPr>
              <a:t>Full-Stack &amp; Integration Lead</a:t>
            </a:r>
            <a:endParaRPr lang="en-US" sz="1240" dirty="0"/>
          </a:p>
        </p:txBody>
      </p:sp>
      <p:sp>
        <p:nvSpPr>
          <p:cNvPr id="14" name="Text 12"/>
          <p:cNvSpPr/>
          <p:nvPr/>
        </p:nvSpPr>
        <p:spPr>
          <a:xfrm>
            <a:off x="667512" y="4343400"/>
            <a:ext cx="2103120" cy="566928"/>
          </a:xfrm>
          <a:prstGeom prst="rect">
            <a:avLst/>
          </a:prstGeom>
          <a:noFill/>
          <a:ln/>
        </p:spPr>
        <p:txBody>
          <a:bodyPr wrap="square" lIns="0" tIns="0" rIns="0" bIns="0" rtlCol="0" anchor="t">
            <a:normAutofit/>
          </a:bodyPr>
          <a:lstStyle/>
          <a:p>
            <a:pPr marL="0" indent="0">
              <a:buNone/>
            </a:pPr>
            <a:r>
              <a:rPr lang="en-US" sz="1040" dirty="0">
                <a:solidFill>
                  <a:srgbClr val="93A8BB"/>
                </a:solidFill>
                <a:latin typeface="Aptos" pitchFamily="34" charset="0"/>
                <a:ea typeface="Aptos" pitchFamily="34" charset="-122"/>
                <a:cs typeface="Aptos" pitchFamily="34" charset="-120"/>
              </a:rPr>
              <a:t>Architecture · Flask · Auth · DB · APIs</a:t>
            </a:r>
            <a:endParaRPr lang="en-US" sz="1040" dirty="0"/>
          </a:p>
        </p:txBody>
      </p:sp>
      <p:sp>
        <p:nvSpPr>
          <p:cNvPr id="15" name="Shape 13"/>
          <p:cNvSpPr/>
          <p:nvPr/>
        </p:nvSpPr>
        <p:spPr>
          <a:xfrm>
            <a:off x="3383280" y="1920240"/>
            <a:ext cx="2514600" cy="3246120"/>
          </a:xfrm>
          <a:prstGeom prst="roundRect">
            <a:avLst>
              <a:gd name="adj" fmla="val 4364"/>
            </a:avLst>
          </a:prstGeom>
          <a:solidFill>
            <a:srgbClr val="0E2034"/>
          </a:solidFill>
          <a:ln w="12700">
            <a:solidFill>
              <a:srgbClr val="1B3853"/>
            </a:solidFill>
            <a:prstDash val="solid"/>
          </a:ln>
        </p:spPr>
      </p:sp>
      <p:sp>
        <p:nvSpPr>
          <p:cNvPr id="16" name="Shape 14"/>
          <p:cNvSpPr/>
          <p:nvPr/>
        </p:nvSpPr>
        <p:spPr>
          <a:xfrm>
            <a:off x="3547872" y="2084832"/>
            <a:ext cx="530352" cy="530352"/>
          </a:xfrm>
          <a:prstGeom prst="ellipse">
            <a:avLst/>
          </a:prstGeom>
          <a:solidFill>
            <a:srgbClr val="6CA8FF">
              <a:alpha val="20000"/>
            </a:srgbClr>
          </a:solidFill>
          <a:ln w="12700">
            <a:solidFill>
              <a:srgbClr val="6CA8FF">
                <a:alpha val="0"/>
              </a:srgbClr>
            </a:solidFill>
            <a:prstDash val="solid"/>
          </a:ln>
        </p:spPr>
      </p:sp>
      <p:sp>
        <p:nvSpPr>
          <p:cNvPr id="17" name="Text 15"/>
          <p:cNvSpPr/>
          <p:nvPr/>
        </p:nvSpPr>
        <p:spPr>
          <a:xfrm>
            <a:off x="3547872" y="2112264"/>
            <a:ext cx="530352" cy="457200"/>
          </a:xfrm>
          <a:prstGeom prst="rect">
            <a:avLst/>
          </a:prstGeom>
          <a:noFill/>
          <a:ln/>
        </p:spPr>
        <p:txBody>
          <a:bodyPr wrap="square" lIns="0" tIns="0" rIns="0" bIns="0" rtlCol="0" anchor="ctr">
            <a:normAutofit/>
          </a:bodyPr>
          <a:lstStyle/>
          <a:p>
            <a:pPr marL="0" indent="0" algn="ctr">
              <a:buNone/>
            </a:pPr>
            <a:r>
              <a:rPr lang="en-US" sz="1200" b="1" dirty="0">
                <a:solidFill>
                  <a:srgbClr val="6CA8FF"/>
                </a:solidFill>
                <a:latin typeface="Aptos" pitchFamily="34" charset="0"/>
                <a:ea typeface="Aptos" pitchFamily="34" charset="-122"/>
                <a:cs typeface="Aptos" pitchFamily="34" charset="-120"/>
              </a:rPr>
              <a:t>AJ</a:t>
            </a:r>
            <a:endParaRPr lang="en-US" sz="1200" dirty="0"/>
          </a:p>
        </p:txBody>
      </p:sp>
      <p:sp>
        <p:nvSpPr>
          <p:cNvPr id="18" name="Text 16"/>
          <p:cNvSpPr/>
          <p:nvPr/>
        </p:nvSpPr>
        <p:spPr>
          <a:xfrm>
            <a:off x="3547872" y="2743200"/>
            <a:ext cx="2121408" cy="292608"/>
          </a:xfrm>
          <a:prstGeom prst="rect">
            <a:avLst/>
          </a:prstGeom>
          <a:noFill/>
          <a:ln/>
        </p:spPr>
        <p:txBody>
          <a:bodyPr wrap="square" lIns="0" tIns="0" rIns="0" bIns="0" rtlCol="0" anchor="ctr">
            <a:normAutofit/>
          </a:bodyPr>
          <a:lstStyle/>
          <a:p>
            <a:pPr marL="0" indent="0">
              <a:buNone/>
            </a:pPr>
            <a:r>
              <a:rPr lang="en-US" sz="1620" b="1" dirty="0">
                <a:solidFill>
                  <a:srgbClr val="F2F7FB"/>
                </a:solidFill>
                <a:latin typeface="Aptos" pitchFamily="34" charset="0"/>
                <a:ea typeface="Aptos" pitchFamily="34" charset="-122"/>
                <a:cs typeface="Aptos" pitchFamily="34" charset="-120"/>
              </a:rPr>
              <a:t>Ajeet Kumar</a:t>
            </a:r>
            <a:endParaRPr lang="en-US" sz="1620" dirty="0"/>
          </a:p>
        </p:txBody>
      </p:sp>
      <p:sp>
        <p:nvSpPr>
          <p:cNvPr id="19" name="Shape 17"/>
          <p:cNvSpPr/>
          <p:nvPr/>
        </p:nvSpPr>
        <p:spPr>
          <a:xfrm>
            <a:off x="3547872" y="3127248"/>
            <a:ext cx="960120" cy="347472"/>
          </a:xfrm>
          <a:prstGeom prst="roundRect">
            <a:avLst>
              <a:gd name="adj" fmla="val 50000"/>
            </a:avLst>
          </a:prstGeom>
          <a:solidFill>
            <a:srgbClr val="6CA8FF">
              <a:alpha val="15000"/>
            </a:srgbClr>
          </a:solidFill>
          <a:ln w="12700">
            <a:solidFill>
              <a:srgbClr val="6CA8FF">
                <a:alpha val="30000"/>
              </a:srgbClr>
            </a:solidFill>
            <a:prstDash val="solid"/>
          </a:ln>
        </p:spPr>
      </p:sp>
      <p:sp>
        <p:nvSpPr>
          <p:cNvPr id="20" name="Text 18"/>
          <p:cNvSpPr/>
          <p:nvPr/>
        </p:nvSpPr>
        <p:spPr>
          <a:xfrm>
            <a:off x="3602736" y="3145536"/>
            <a:ext cx="850392" cy="292608"/>
          </a:xfrm>
          <a:prstGeom prst="rect">
            <a:avLst/>
          </a:prstGeom>
          <a:noFill/>
          <a:ln/>
        </p:spPr>
        <p:txBody>
          <a:bodyPr wrap="square" lIns="0" tIns="0" rIns="0" bIns="0" rtlCol="0" anchor="ctr">
            <a:normAutofit/>
          </a:bodyPr>
          <a:lstStyle/>
          <a:p>
            <a:pPr marL="0" indent="0" algn="ctr">
              <a:buNone/>
            </a:pPr>
            <a:r>
              <a:rPr lang="en-US" sz="940" b="1" dirty="0">
                <a:solidFill>
                  <a:srgbClr val="6CA8FF"/>
                </a:solidFill>
                <a:latin typeface="Aptos" pitchFamily="34" charset="0"/>
                <a:ea typeface="Aptos" pitchFamily="34" charset="-122"/>
                <a:cs typeface="Aptos" pitchFamily="34" charset="-120"/>
              </a:rPr>
              <a:t>Team Member</a:t>
            </a:r>
            <a:endParaRPr lang="en-US" sz="940" dirty="0"/>
          </a:p>
        </p:txBody>
      </p:sp>
      <p:sp>
        <p:nvSpPr>
          <p:cNvPr id="21" name="Text 19"/>
          <p:cNvSpPr/>
          <p:nvPr/>
        </p:nvSpPr>
        <p:spPr>
          <a:xfrm>
            <a:off x="3547872" y="3639312"/>
            <a:ext cx="2103120" cy="475488"/>
          </a:xfrm>
          <a:prstGeom prst="rect">
            <a:avLst/>
          </a:prstGeom>
          <a:noFill/>
          <a:ln/>
        </p:spPr>
        <p:txBody>
          <a:bodyPr wrap="square" lIns="0" tIns="0" rIns="0" bIns="0" rtlCol="0" anchor="t">
            <a:normAutofit/>
          </a:bodyPr>
          <a:lstStyle/>
          <a:p>
            <a:pPr marL="0" indent="0">
              <a:buNone/>
            </a:pPr>
            <a:r>
              <a:rPr lang="en-US" sz="1240" b="1" dirty="0">
                <a:solidFill>
                  <a:srgbClr val="F2F7FB"/>
                </a:solidFill>
                <a:latin typeface="Aptos" pitchFamily="34" charset="0"/>
                <a:ea typeface="Aptos" pitchFamily="34" charset="-122"/>
                <a:cs typeface="Aptos" pitchFamily="34" charset="-120"/>
              </a:rPr>
              <a:t>Personal Finance &amp; Data Analytics</a:t>
            </a:r>
            <a:endParaRPr lang="en-US" sz="1240" dirty="0"/>
          </a:p>
        </p:txBody>
      </p:sp>
      <p:sp>
        <p:nvSpPr>
          <p:cNvPr id="22" name="Text 20"/>
          <p:cNvSpPr/>
          <p:nvPr/>
        </p:nvSpPr>
        <p:spPr>
          <a:xfrm>
            <a:off x="3547872" y="4343400"/>
            <a:ext cx="2103120" cy="566928"/>
          </a:xfrm>
          <a:prstGeom prst="rect">
            <a:avLst/>
          </a:prstGeom>
          <a:noFill/>
          <a:ln/>
        </p:spPr>
        <p:txBody>
          <a:bodyPr wrap="square" lIns="0" tIns="0" rIns="0" bIns="0" rtlCol="0" anchor="t">
            <a:normAutofit/>
          </a:bodyPr>
          <a:lstStyle/>
          <a:p>
            <a:pPr marL="0" indent="0">
              <a:buNone/>
            </a:pPr>
            <a:r>
              <a:rPr lang="en-US" sz="1040" dirty="0">
                <a:solidFill>
                  <a:srgbClr val="93A8BB"/>
                </a:solidFill>
                <a:latin typeface="Aptos" pitchFamily="34" charset="0"/>
                <a:ea typeface="Aptos" pitchFamily="34" charset="-122"/>
                <a:cs typeface="Aptos" pitchFamily="34" charset="-120"/>
              </a:rPr>
              <a:t>Health Score · Recommendations · History</a:t>
            </a:r>
            <a:endParaRPr lang="en-US" sz="1040" dirty="0"/>
          </a:p>
        </p:txBody>
      </p:sp>
      <p:sp>
        <p:nvSpPr>
          <p:cNvPr id="23" name="Shape 21"/>
          <p:cNvSpPr/>
          <p:nvPr/>
        </p:nvSpPr>
        <p:spPr>
          <a:xfrm>
            <a:off x="6263640" y="1920240"/>
            <a:ext cx="2514600" cy="3246120"/>
          </a:xfrm>
          <a:prstGeom prst="roundRect">
            <a:avLst>
              <a:gd name="adj" fmla="val 4364"/>
            </a:avLst>
          </a:prstGeom>
          <a:solidFill>
            <a:srgbClr val="0E2034"/>
          </a:solidFill>
          <a:ln w="12700">
            <a:solidFill>
              <a:srgbClr val="1B3853"/>
            </a:solidFill>
            <a:prstDash val="solid"/>
          </a:ln>
        </p:spPr>
      </p:sp>
      <p:sp>
        <p:nvSpPr>
          <p:cNvPr id="24" name="Shape 22"/>
          <p:cNvSpPr/>
          <p:nvPr/>
        </p:nvSpPr>
        <p:spPr>
          <a:xfrm>
            <a:off x="6428232" y="2084832"/>
            <a:ext cx="530352" cy="530352"/>
          </a:xfrm>
          <a:prstGeom prst="ellipse">
            <a:avLst/>
          </a:prstGeom>
          <a:solidFill>
            <a:srgbClr val="A78BFA">
              <a:alpha val="20000"/>
            </a:srgbClr>
          </a:solidFill>
          <a:ln w="12700">
            <a:solidFill>
              <a:srgbClr val="A78BFA">
                <a:alpha val="0"/>
              </a:srgbClr>
            </a:solidFill>
            <a:prstDash val="solid"/>
          </a:ln>
        </p:spPr>
      </p:sp>
      <p:sp>
        <p:nvSpPr>
          <p:cNvPr id="25" name="Text 23"/>
          <p:cNvSpPr/>
          <p:nvPr/>
        </p:nvSpPr>
        <p:spPr>
          <a:xfrm>
            <a:off x="6428232" y="2112264"/>
            <a:ext cx="530352" cy="457200"/>
          </a:xfrm>
          <a:prstGeom prst="rect">
            <a:avLst/>
          </a:prstGeom>
          <a:noFill/>
          <a:ln/>
        </p:spPr>
        <p:txBody>
          <a:bodyPr wrap="square" lIns="0" tIns="0" rIns="0" bIns="0" rtlCol="0" anchor="ctr">
            <a:normAutofit/>
          </a:bodyPr>
          <a:lstStyle/>
          <a:p>
            <a:pPr marL="0" indent="0" algn="ctr">
              <a:buNone/>
            </a:pPr>
            <a:r>
              <a:rPr lang="en-US" sz="1200" b="1" dirty="0">
                <a:solidFill>
                  <a:srgbClr val="A78BFA"/>
                </a:solidFill>
                <a:latin typeface="Aptos" pitchFamily="34" charset="0"/>
                <a:ea typeface="Aptos" pitchFamily="34" charset="-122"/>
                <a:cs typeface="Aptos" pitchFamily="34" charset="-120"/>
              </a:rPr>
              <a:t>SK</a:t>
            </a:r>
            <a:endParaRPr lang="en-US" sz="1200" dirty="0"/>
          </a:p>
        </p:txBody>
      </p:sp>
      <p:sp>
        <p:nvSpPr>
          <p:cNvPr id="26" name="Text 24"/>
          <p:cNvSpPr/>
          <p:nvPr/>
        </p:nvSpPr>
        <p:spPr>
          <a:xfrm>
            <a:off x="6428232" y="2743200"/>
            <a:ext cx="2121408" cy="292608"/>
          </a:xfrm>
          <a:prstGeom prst="rect">
            <a:avLst/>
          </a:prstGeom>
          <a:noFill/>
          <a:ln/>
        </p:spPr>
        <p:txBody>
          <a:bodyPr wrap="square" lIns="0" tIns="0" rIns="0" bIns="0" rtlCol="0" anchor="ctr">
            <a:normAutofit/>
          </a:bodyPr>
          <a:lstStyle/>
          <a:p>
            <a:pPr marL="0" indent="0">
              <a:buNone/>
            </a:pPr>
            <a:r>
              <a:rPr lang="en-US" sz="1620" b="1" dirty="0">
                <a:solidFill>
                  <a:srgbClr val="F2F7FB"/>
                </a:solidFill>
                <a:latin typeface="Aptos" pitchFamily="34" charset="0"/>
                <a:ea typeface="Aptos" pitchFamily="34" charset="-122"/>
                <a:cs typeface="Aptos" pitchFamily="34" charset="-120"/>
              </a:rPr>
              <a:t>Sonu Kumar</a:t>
            </a:r>
            <a:endParaRPr lang="en-US" sz="1620" dirty="0"/>
          </a:p>
        </p:txBody>
      </p:sp>
      <p:sp>
        <p:nvSpPr>
          <p:cNvPr id="27" name="Shape 25"/>
          <p:cNvSpPr/>
          <p:nvPr/>
        </p:nvSpPr>
        <p:spPr>
          <a:xfrm>
            <a:off x="6428232" y="3127248"/>
            <a:ext cx="960120" cy="347472"/>
          </a:xfrm>
          <a:prstGeom prst="roundRect">
            <a:avLst>
              <a:gd name="adj" fmla="val 50000"/>
            </a:avLst>
          </a:prstGeom>
          <a:solidFill>
            <a:srgbClr val="A78BFA">
              <a:alpha val="15000"/>
            </a:srgbClr>
          </a:solidFill>
          <a:ln w="12700">
            <a:solidFill>
              <a:srgbClr val="A78BFA">
                <a:alpha val="30000"/>
              </a:srgbClr>
            </a:solidFill>
            <a:prstDash val="solid"/>
          </a:ln>
        </p:spPr>
      </p:sp>
      <p:sp>
        <p:nvSpPr>
          <p:cNvPr id="28" name="Text 26"/>
          <p:cNvSpPr/>
          <p:nvPr/>
        </p:nvSpPr>
        <p:spPr>
          <a:xfrm>
            <a:off x="6483096" y="3145536"/>
            <a:ext cx="850392" cy="292608"/>
          </a:xfrm>
          <a:prstGeom prst="rect">
            <a:avLst/>
          </a:prstGeom>
          <a:noFill/>
          <a:ln/>
        </p:spPr>
        <p:txBody>
          <a:bodyPr wrap="square" lIns="0" tIns="0" rIns="0" bIns="0" rtlCol="0" anchor="ctr">
            <a:normAutofit/>
          </a:bodyPr>
          <a:lstStyle/>
          <a:p>
            <a:pPr marL="0" indent="0" algn="ctr">
              <a:buNone/>
            </a:pPr>
            <a:r>
              <a:rPr lang="en-US" sz="940" b="1" dirty="0">
                <a:solidFill>
                  <a:srgbClr val="A78BFA"/>
                </a:solidFill>
                <a:latin typeface="Aptos" pitchFamily="34" charset="0"/>
                <a:ea typeface="Aptos" pitchFamily="34" charset="-122"/>
                <a:cs typeface="Aptos" pitchFamily="34" charset="-120"/>
              </a:rPr>
              <a:t>Team Member</a:t>
            </a:r>
            <a:endParaRPr lang="en-US" sz="940" dirty="0"/>
          </a:p>
        </p:txBody>
      </p:sp>
      <p:sp>
        <p:nvSpPr>
          <p:cNvPr id="29" name="Text 27"/>
          <p:cNvSpPr/>
          <p:nvPr/>
        </p:nvSpPr>
        <p:spPr>
          <a:xfrm>
            <a:off x="6428232" y="3639312"/>
            <a:ext cx="2103120" cy="475488"/>
          </a:xfrm>
          <a:prstGeom prst="rect">
            <a:avLst/>
          </a:prstGeom>
          <a:noFill/>
          <a:ln/>
        </p:spPr>
        <p:txBody>
          <a:bodyPr wrap="square" lIns="0" tIns="0" rIns="0" bIns="0" rtlCol="0" anchor="t">
            <a:normAutofit/>
          </a:bodyPr>
          <a:lstStyle/>
          <a:p>
            <a:pPr marL="0" indent="0">
              <a:buNone/>
            </a:pPr>
            <a:r>
              <a:rPr lang="en-US" sz="1240" b="1" dirty="0">
                <a:solidFill>
                  <a:srgbClr val="F2F7FB"/>
                </a:solidFill>
                <a:latin typeface="Aptos" pitchFamily="34" charset="0"/>
                <a:ea typeface="Aptos" pitchFamily="34" charset="-122"/>
                <a:cs typeface="Aptos" pitchFamily="34" charset="-120"/>
              </a:rPr>
              <a:t>Credit Stress ML &amp; Explainability</a:t>
            </a:r>
            <a:endParaRPr lang="en-US" sz="1240" dirty="0"/>
          </a:p>
        </p:txBody>
      </p:sp>
      <p:sp>
        <p:nvSpPr>
          <p:cNvPr id="30" name="Text 28"/>
          <p:cNvSpPr/>
          <p:nvPr/>
        </p:nvSpPr>
        <p:spPr>
          <a:xfrm>
            <a:off x="6428232" y="4343400"/>
            <a:ext cx="2103120" cy="566928"/>
          </a:xfrm>
          <a:prstGeom prst="rect">
            <a:avLst/>
          </a:prstGeom>
          <a:noFill/>
          <a:ln/>
        </p:spPr>
        <p:txBody>
          <a:bodyPr wrap="square" lIns="0" tIns="0" rIns="0" bIns="0" rtlCol="0" anchor="t">
            <a:normAutofit/>
          </a:bodyPr>
          <a:lstStyle/>
          <a:p>
            <a:pPr marL="0" indent="0">
              <a:buNone/>
            </a:pPr>
            <a:r>
              <a:rPr lang="en-US" sz="1040" dirty="0">
                <a:solidFill>
                  <a:srgbClr val="93A8BB"/>
                </a:solidFill>
                <a:latin typeface="Aptos" pitchFamily="34" charset="0"/>
                <a:ea typeface="Aptos" pitchFamily="34" charset="-122"/>
                <a:cs typeface="Aptos" pitchFamily="34" charset="-120"/>
              </a:rPr>
              <a:t>Logistic Regression · Threshold · Metrics</a:t>
            </a:r>
            <a:endParaRPr lang="en-US" sz="1040" dirty="0"/>
          </a:p>
        </p:txBody>
      </p:sp>
      <p:sp>
        <p:nvSpPr>
          <p:cNvPr id="31" name="Shape 29"/>
          <p:cNvSpPr/>
          <p:nvPr/>
        </p:nvSpPr>
        <p:spPr>
          <a:xfrm>
            <a:off x="9144000" y="1920240"/>
            <a:ext cx="2514600" cy="3246120"/>
          </a:xfrm>
          <a:prstGeom prst="roundRect">
            <a:avLst>
              <a:gd name="adj" fmla="val 4364"/>
            </a:avLst>
          </a:prstGeom>
          <a:solidFill>
            <a:srgbClr val="0E2034"/>
          </a:solidFill>
          <a:ln w="12700">
            <a:solidFill>
              <a:srgbClr val="1B3853"/>
            </a:solidFill>
            <a:prstDash val="solid"/>
          </a:ln>
        </p:spPr>
      </p:sp>
      <p:sp>
        <p:nvSpPr>
          <p:cNvPr id="32" name="Shape 30"/>
          <p:cNvSpPr/>
          <p:nvPr/>
        </p:nvSpPr>
        <p:spPr>
          <a:xfrm>
            <a:off x="9308592" y="2084832"/>
            <a:ext cx="530352" cy="530352"/>
          </a:xfrm>
          <a:prstGeom prst="ellipse">
            <a:avLst/>
          </a:prstGeom>
          <a:solidFill>
            <a:srgbClr val="F6B85A">
              <a:alpha val="20000"/>
            </a:srgbClr>
          </a:solidFill>
          <a:ln w="12700">
            <a:solidFill>
              <a:srgbClr val="F6B85A">
                <a:alpha val="0"/>
              </a:srgbClr>
            </a:solidFill>
            <a:prstDash val="solid"/>
          </a:ln>
        </p:spPr>
      </p:sp>
      <p:sp>
        <p:nvSpPr>
          <p:cNvPr id="33" name="Text 31"/>
          <p:cNvSpPr/>
          <p:nvPr/>
        </p:nvSpPr>
        <p:spPr>
          <a:xfrm>
            <a:off x="9308592" y="2112264"/>
            <a:ext cx="530352" cy="457200"/>
          </a:xfrm>
          <a:prstGeom prst="rect">
            <a:avLst/>
          </a:prstGeom>
          <a:noFill/>
          <a:ln/>
        </p:spPr>
        <p:txBody>
          <a:bodyPr wrap="square" lIns="0" tIns="0" rIns="0" bIns="0" rtlCol="0" anchor="ctr">
            <a:normAutofit/>
          </a:bodyPr>
          <a:lstStyle/>
          <a:p>
            <a:pPr marL="0" indent="0" algn="ctr">
              <a:buNone/>
            </a:pPr>
            <a:r>
              <a:rPr lang="en-US" sz="1200" b="1" dirty="0">
                <a:solidFill>
                  <a:srgbClr val="F6B85A"/>
                </a:solidFill>
                <a:latin typeface="Aptos" pitchFamily="34" charset="0"/>
                <a:ea typeface="Aptos" pitchFamily="34" charset="-122"/>
                <a:cs typeface="Aptos" pitchFamily="34" charset="-120"/>
              </a:rPr>
              <a:t>PM</a:t>
            </a:r>
            <a:endParaRPr lang="en-US" sz="1200" dirty="0"/>
          </a:p>
        </p:txBody>
      </p:sp>
      <p:sp>
        <p:nvSpPr>
          <p:cNvPr id="34" name="Text 32"/>
          <p:cNvSpPr/>
          <p:nvPr/>
        </p:nvSpPr>
        <p:spPr>
          <a:xfrm>
            <a:off x="9308592" y="2743200"/>
            <a:ext cx="2121408" cy="292608"/>
          </a:xfrm>
          <a:prstGeom prst="rect">
            <a:avLst/>
          </a:prstGeom>
          <a:noFill/>
          <a:ln/>
        </p:spPr>
        <p:txBody>
          <a:bodyPr wrap="square" lIns="0" tIns="0" rIns="0" bIns="0" rtlCol="0" anchor="ctr">
            <a:normAutofit/>
          </a:bodyPr>
          <a:lstStyle/>
          <a:p>
            <a:pPr marL="0" indent="0">
              <a:buNone/>
            </a:pPr>
            <a:r>
              <a:rPr lang="en-US" sz="1620" b="1" dirty="0">
                <a:solidFill>
                  <a:srgbClr val="F2F7FB"/>
                </a:solidFill>
                <a:latin typeface="Aptos" pitchFamily="34" charset="0"/>
                <a:ea typeface="Aptos" pitchFamily="34" charset="-122"/>
                <a:cs typeface="Aptos" pitchFamily="34" charset="-120"/>
              </a:rPr>
              <a:t>Pranav Kr Mishra</a:t>
            </a:r>
            <a:endParaRPr lang="en-US" sz="1620" dirty="0"/>
          </a:p>
        </p:txBody>
      </p:sp>
      <p:sp>
        <p:nvSpPr>
          <p:cNvPr id="35" name="Shape 33"/>
          <p:cNvSpPr/>
          <p:nvPr/>
        </p:nvSpPr>
        <p:spPr>
          <a:xfrm>
            <a:off x="9308592" y="3127248"/>
            <a:ext cx="960120" cy="347472"/>
          </a:xfrm>
          <a:prstGeom prst="roundRect">
            <a:avLst>
              <a:gd name="adj" fmla="val 50000"/>
            </a:avLst>
          </a:prstGeom>
          <a:solidFill>
            <a:srgbClr val="F6B85A">
              <a:alpha val="15000"/>
            </a:srgbClr>
          </a:solidFill>
          <a:ln w="12700">
            <a:solidFill>
              <a:srgbClr val="F6B85A">
                <a:alpha val="30000"/>
              </a:srgbClr>
            </a:solidFill>
            <a:prstDash val="solid"/>
          </a:ln>
        </p:spPr>
      </p:sp>
      <p:sp>
        <p:nvSpPr>
          <p:cNvPr id="36" name="Text 34"/>
          <p:cNvSpPr/>
          <p:nvPr/>
        </p:nvSpPr>
        <p:spPr>
          <a:xfrm>
            <a:off x="9363456" y="3145536"/>
            <a:ext cx="850392" cy="292608"/>
          </a:xfrm>
          <a:prstGeom prst="rect">
            <a:avLst/>
          </a:prstGeom>
          <a:noFill/>
          <a:ln/>
        </p:spPr>
        <p:txBody>
          <a:bodyPr wrap="square" lIns="0" tIns="0" rIns="0" bIns="0" rtlCol="0" anchor="ctr">
            <a:normAutofit/>
          </a:bodyPr>
          <a:lstStyle/>
          <a:p>
            <a:pPr marL="0" indent="0" algn="ctr">
              <a:buNone/>
            </a:pPr>
            <a:r>
              <a:rPr lang="en-US" sz="940" b="1" dirty="0">
                <a:solidFill>
                  <a:srgbClr val="F6B85A"/>
                </a:solidFill>
                <a:latin typeface="Aptos" pitchFamily="34" charset="0"/>
                <a:ea typeface="Aptos" pitchFamily="34" charset="-122"/>
                <a:cs typeface="Aptos" pitchFamily="34" charset="-120"/>
              </a:rPr>
              <a:t>Team Member</a:t>
            </a:r>
            <a:endParaRPr lang="en-US" sz="940" dirty="0"/>
          </a:p>
        </p:txBody>
      </p:sp>
      <p:sp>
        <p:nvSpPr>
          <p:cNvPr id="37" name="Text 35"/>
          <p:cNvSpPr/>
          <p:nvPr/>
        </p:nvSpPr>
        <p:spPr>
          <a:xfrm>
            <a:off x="9308592" y="3639312"/>
            <a:ext cx="2103120" cy="475488"/>
          </a:xfrm>
          <a:prstGeom prst="rect">
            <a:avLst/>
          </a:prstGeom>
          <a:noFill/>
          <a:ln/>
        </p:spPr>
        <p:txBody>
          <a:bodyPr wrap="square" lIns="0" tIns="0" rIns="0" bIns="0" rtlCol="0" anchor="t">
            <a:normAutofit/>
          </a:bodyPr>
          <a:lstStyle/>
          <a:p>
            <a:pPr marL="0" indent="0">
              <a:buNone/>
            </a:pPr>
            <a:r>
              <a:rPr lang="en-US" sz="1240" b="1" dirty="0">
                <a:solidFill>
                  <a:srgbClr val="F2F7FB"/>
                </a:solidFill>
                <a:latin typeface="Aptos" pitchFamily="34" charset="0"/>
                <a:ea typeface="Aptos" pitchFamily="34" charset="-122"/>
                <a:cs typeface="Aptos" pitchFamily="34" charset="-120"/>
              </a:rPr>
              <a:t>Loan Risk ML, Testing &amp; Docs</a:t>
            </a:r>
            <a:endParaRPr lang="en-US" sz="1240" dirty="0"/>
          </a:p>
        </p:txBody>
      </p:sp>
      <p:sp>
        <p:nvSpPr>
          <p:cNvPr id="38" name="Text 36"/>
          <p:cNvSpPr/>
          <p:nvPr/>
        </p:nvSpPr>
        <p:spPr>
          <a:xfrm>
            <a:off x="9308592" y="4343400"/>
            <a:ext cx="2103120" cy="566928"/>
          </a:xfrm>
          <a:prstGeom prst="rect">
            <a:avLst/>
          </a:prstGeom>
          <a:noFill/>
          <a:ln/>
        </p:spPr>
        <p:txBody>
          <a:bodyPr wrap="square" lIns="0" tIns="0" rIns="0" bIns="0" rtlCol="0" anchor="t">
            <a:normAutofit/>
          </a:bodyPr>
          <a:lstStyle/>
          <a:p>
            <a:pPr marL="0" indent="0">
              <a:buNone/>
            </a:pPr>
            <a:r>
              <a:rPr lang="en-US" sz="1040" dirty="0">
                <a:solidFill>
                  <a:srgbClr val="93A8BB"/>
                </a:solidFill>
                <a:latin typeface="Aptos" pitchFamily="34" charset="0"/>
                <a:ea typeface="Aptos" pitchFamily="34" charset="-122"/>
                <a:cs typeface="Aptos" pitchFamily="34" charset="-120"/>
              </a:rPr>
              <a:t>Extra Trees · Diagnostics · Validation</a:t>
            </a:r>
            <a:endParaRPr lang="en-US" sz="1040" dirty="0"/>
          </a:p>
        </p:txBody>
      </p:sp>
      <p:sp>
        <p:nvSpPr>
          <p:cNvPr id="39" name="Shape 37"/>
          <p:cNvSpPr/>
          <p:nvPr/>
        </p:nvSpPr>
        <p:spPr>
          <a:xfrm>
            <a:off x="502920" y="5440680"/>
            <a:ext cx="11201400" cy="594360"/>
          </a:xfrm>
          <a:prstGeom prst="roundRect">
            <a:avLst>
              <a:gd name="adj" fmla="val 18462"/>
            </a:avLst>
          </a:prstGeom>
          <a:solidFill>
            <a:srgbClr val="0A192A"/>
          </a:solidFill>
          <a:ln w="12700">
            <a:solidFill>
              <a:srgbClr val="1B3853"/>
            </a:solidFill>
            <a:prstDash val="solid"/>
          </a:ln>
        </p:spPr>
      </p:sp>
      <p:sp>
        <p:nvSpPr>
          <p:cNvPr id="40" name="Text 38"/>
          <p:cNvSpPr/>
          <p:nvPr/>
        </p:nvSpPr>
        <p:spPr>
          <a:xfrm>
            <a:off x="731520" y="5614416"/>
            <a:ext cx="10744200" cy="219456"/>
          </a:xfrm>
          <a:prstGeom prst="rect">
            <a:avLst/>
          </a:prstGeom>
          <a:noFill/>
          <a:ln/>
        </p:spPr>
        <p:txBody>
          <a:bodyPr wrap="square" lIns="0" tIns="0" rIns="0" bIns="0" rtlCol="0" anchor="ctr">
            <a:normAutofit/>
          </a:bodyPr>
          <a:lstStyle/>
          <a:p>
            <a:pPr marL="0" indent="0" algn="ctr">
              <a:buNone/>
            </a:pPr>
            <a:r>
              <a:rPr lang="en-US" sz="1140" dirty="0">
                <a:solidFill>
                  <a:srgbClr val="93A8BB"/>
                </a:solidFill>
                <a:latin typeface="Aptos" pitchFamily="34" charset="0"/>
                <a:ea typeface="Aptos" pitchFamily="34" charset="-122"/>
                <a:cs typeface="Aptos" pitchFamily="34" charset="-120"/>
              </a:rPr>
              <a:t>Shared responsibility: testing · documentation · bug fixing · presentation · viva preparation</a:t>
            </a:r>
            <a:endParaRPr lang="en-US" sz="1140" dirty="0"/>
          </a:p>
        </p:txBody>
      </p:sp>
      <p:sp>
        <p:nvSpPr>
          <p:cNvPr id="41"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WHY FINANCEAI</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The Problem We Wanted to Solve</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Financial data exists — but understanding it, acting on it and presenting risk responsibly is difficult.</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02920" y="1874520"/>
            <a:ext cx="3337560" cy="2084832"/>
          </a:xfrm>
          <a:prstGeom prst="roundRect">
            <a:avLst>
              <a:gd name="adj" fmla="val 5263"/>
            </a:avLst>
          </a:prstGeom>
          <a:solidFill>
            <a:srgbClr val="0E2034"/>
          </a:solidFill>
          <a:ln w="12700">
            <a:solidFill>
              <a:srgbClr val="1B3853"/>
            </a:solidFill>
            <a:prstDash val="solid"/>
          </a:ln>
        </p:spPr>
      </p:sp>
      <p:sp>
        <p:nvSpPr>
          <p:cNvPr id="8" name="Shape 6"/>
          <p:cNvSpPr/>
          <p:nvPr/>
        </p:nvSpPr>
        <p:spPr>
          <a:xfrm>
            <a:off x="667512" y="2039112"/>
            <a:ext cx="384048" cy="384048"/>
          </a:xfrm>
          <a:prstGeom prst="ellipse">
            <a:avLst/>
          </a:prstGeom>
          <a:solidFill>
            <a:srgbClr val="35D0BA">
              <a:alpha val="20000"/>
            </a:srgbClr>
          </a:solidFill>
          <a:ln w="12700">
            <a:solidFill>
              <a:srgbClr val="35D0BA">
                <a:alpha val="0"/>
              </a:srgbClr>
            </a:solidFill>
            <a:prstDash val="solid"/>
          </a:ln>
        </p:spPr>
      </p:sp>
      <p:sp>
        <p:nvSpPr>
          <p:cNvPr id="9" name="Text 7"/>
          <p:cNvSpPr/>
          <p:nvPr/>
        </p:nvSpPr>
        <p:spPr>
          <a:xfrm>
            <a:off x="66751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35D0BA"/>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685800" y="2478024"/>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Fragmented financial data</a:t>
            </a:r>
            <a:endParaRPr lang="en-US" sz="1500" dirty="0"/>
          </a:p>
        </p:txBody>
      </p:sp>
      <p:sp>
        <p:nvSpPr>
          <p:cNvPr id="11" name="Text 9"/>
          <p:cNvSpPr/>
          <p:nvPr/>
        </p:nvSpPr>
        <p:spPr>
          <a:xfrm>
            <a:off x="685800" y="2825496"/>
            <a:ext cx="2971800" cy="1005840"/>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Income, expenses, savings, debt and credit indicators are usually viewed separately.</a:t>
            </a:r>
            <a:endParaRPr lang="en-US" sz="1130" dirty="0"/>
          </a:p>
        </p:txBody>
      </p:sp>
      <p:sp>
        <p:nvSpPr>
          <p:cNvPr id="12" name="Shape 10"/>
          <p:cNvSpPr/>
          <p:nvPr/>
        </p:nvSpPr>
        <p:spPr>
          <a:xfrm>
            <a:off x="4206240" y="1874520"/>
            <a:ext cx="3337560" cy="2084832"/>
          </a:xfrm>
          <a:prstGeom prst="roundRect">
            <a:avLst>
              <a:gd name="adj" fmla="val 5263"/>
            </a:avLst>
          </a:prstGeom>
          <a:solidFill>
            <a:srgbClr val="0E2034"/>
          </a:solidFill>
          <a:ln w="12700">
            <a:solidFill>
              <a:srgbClr val="1B3853"/>
            </a:solidFill>
            <a:prstDash val="solid"/>
          </a:ln>
        </p:spPr>
      </p:sp>
      <p:sp>
        <p:nvSpPr>
          <p:cNvPr id="13" name="Shape 11"/>
          <p:cNvSpPr/>
          <p:nvPr/>
        </p:nvSpPr>
        <p:spPr>
          <a:xfrm>
            <a:off x="4370832" y="2039112"/>
            <a:ext cx="384048" cy="384048"/>
          </a:xfrm>
          <a:prstGeom prst="ellipse">
            <a:avLst/>
          </a:prstGeom>
          <a:solidFill>
            <a:srgbClr val="6CA8FF">
              <a:alpha val="20000"/>
            </a:srgbClr>
          </a:solidFill>
          <a:ln w="12700">
            <a:solidFill>
              <a:srgbClr val="6CA8FF">
                <a:alpha val="0"/>
              </a:srgbClr>
            </a:solidFill>
            <a:prstDash val="solid"/>
          </a:ln>
        </p:spPr>
      </p:sp>
      <p:sp>
        <p:nvSpPr>
          <p:cNvPr id="14" name="Text 12"/>
          <p:cNvSpPr/>
          <p:nvPr/>
        </p:nvSpPr>
        <p:spPr>
          <a:xfrm>
            <a:off x="437083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6CA8FF"/>
                </a:solidFill>
                <a:latin typeface="Aptos" pitchFamily="34" charset="0"/>
                <a:ea typeface="Aptos" pitchFamily="34" charset="-122"/>
                <a:cs typeface="Aptos" pitchFamily="34" charset="-120"/>
              </a:rPr>
              <a:t>02</a:t>
            </a:r>
            <a:endParaRPr lang="en-US" sz="1100" dirty="0"/>
          </a:p>
        </p:txBody>
      </p:sp>
      <p:sp>
        <p:nvSpPr>
          <p:cNvPr id="15" name="Text 13"/>
          <p:cNvSpPr/>
          <p:nvPr/>
        </p:nvSpPr>
        <p:spPr>
          <a:xfrm>
            <a:off x="4389120" y="2478024"/>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Hard to interpret</a:t>
            </a:r>
            <a:endParaRPr lang="en-US" sz="1500" dirty="0"/>
          </a:p>
        </p:txBody>
      </p:sp>
      <p:sp>
        <p:nvSpPr>
          <p:cNvPr id="16" name="Text 14"/>
          <p:cNvSpPr/>
          <p:nvPr/>
        </p:nvSpPr>
        <p:spPr>
          <a:xfrm>
            <a:off x="4389120" y="2825496"/>
            <a:ext cx="2971800" cy="1005840"/>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Raw numbers do not directly tell a user what is healthy, weak or urgent.</a:t>
            </a:r>
            <a:endParaRPr lang="en-US" sz="1130" dirty="0"/>
          </a:p>
        </p:txBody>
      </p:sp>
      <p:sp>
        <p:nvSpPr>
          <p:cNvPr id="17" name="Shape 15"/>
          <p:cNvSpPr/>
          <p:nvPr/>
        </p:nvSpPr>
        <p:spPr>
          <a:xfrm>
            <a:off x="7909560" y="1874520"/>
            <a:ext cx="3337560" cy="2084832"/>
          </a:xfrm>
          <a:prstGeom prst="roundRect">
            <a:avLst>
              <a:gd name="adj" fmla="val 5263"/>
            </a:avLst>
          </a:prstGeom>
          <a:solidFill>
            <a:srgbClr val="0E2034"/>
          </a:solidFill>
          <a:ln w="12700">
            <a:solidFill>
              <a:srgbClr val="1B3853"/>
            </a:solidFill>
            <a:prstDash val="solid"/>
          </a:ln>
        </p:spPr>
      </p:sp>
      <p:sp>
        <p:nvSpPr>
          <p:cNvPr id="18" name="Shape 16"/>
          <p:cNvSpPr/>
          <p:nvPr/>
        </p:nvSpPr>
        <p:spPr>
          <a:xfrm>
            <a:off x="8074152" y="2039112"/>
            <a:ext cx="384048" cy="384048"/>
          </a:xfrm>
          <a:prstGeom prst="ellipse">
            <a:avLst/>
          </a:prstGeom>
          <a:solidFill>
            <a:srgbClr val="A78BFA">
              <a:alpha val="20000"/>
            </a:srgbClr>
          </a:solidFill>
          <a:ln w="12700">
            <a:solidFill>
              <a:srgbClr val="A78BFA">
                <a:alpha val="0"/>
              </a:srgbClr>
            </a:solidFill>
            <a:prstDash val="solid"/>
          </a:ln>
        </p:spPr>
      </p:sp>
      <p:sp>
        <p:nvSpPr>
          <p:cNvPr id="19" name="Text 17"/>
          <p:cNvSpPr/>
          <p:nvPr/>
        </p:nvSpPr>
        <p:spPr>
          <a:xfrm>
            <a:off x="807415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A78BFA"/>
                </a:solidFill>
                <a:latin typeface="Aptos" pitchFamily="34" charset="0"/>
                <a:ea typeface="Aptos" pitchFamily="34" charset="-122"/>
                <a:cs typeface="Aptos" pitchFamily="34" charset="-120"/>
              </a:rPr>
              <a:t>03</a:t>
            </a:r>
            <a:endParaRPr lang="en-US" sz="1100" dirty="0"/>
          </a:p>
        </p:txBody>
      </p:sp>
      <p:sp>
        <p:nvSpPr>
          <p:cNvPr id="20" name="Text 18"/>
          <p:cNvSpPr/>
          <p:nvPr/>
        </p:nvSpPr>
        <p:spPr>
          <a:xfrm>
            <a:off x="8092440" y="2478024"/>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Black-box risk models</a:t>
            </a:r>
            <a:endParaRPr lang="en-US" sz="1500" dirty="0"/>
          </a:p>
        </p:txBody>
      </p:sp>
      <p:sp>
        <p:nvSpPr>
          <p:cNvPr id="21" name="Text 19"/>
          <p:cNvSpPr/>
          <p:nvPr/>
        </p:nvSpPr>
        <p:spPr>
          <a:xfrm>
            <a:off x="8092440" y="2825496"/>
            <a:ext cx="2971800" cy="1005840"/>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Risk scores can be misunderstood when model limitations are hidden.</a:t>
            </a:r>
            <a:endParaRPr lang="en-US" sz="1130" dirty="0"/>
          </a:p>
        </p:txBody>
      </p:sp>
      <p:sp>
        <p:nvSpPr>
          <p:cNvPr id="22" name="Shape 20"/>
          <p:cNvSpPr/>
          <p:nvPr/>
        </p:nvSpPr>
        <p:spPr>
          <a:xfrm>
            <a:off x="502920" y="4297680"/>
            <a:ext cx="11018520" cy="1097280"/>
          </a:xfrm>
          <a:prstGeom prst="roundRect">
            <a:avLst>
              <a:gd name="adj" fmla="val 10000"/>
            </a:avLst>
          </a:prstGeom>
          <a:solidFill>
            <a:srgbClr val="10283F"/>
          </a:solidFill>
          <a:ln w="12700">
            <a:solidFill>
              <a:srgbClr val="1B3853"/>
            </a:solidFill>
            <a:prstDash val="solid"/>
          </a:ln>
        </p:spPr>
      </p:sp>
      <p:sp>
        <p:nvSpPr>
          <p:cNvPr id="23" name="Text 21"/>
          <p:cNvSpPr/>
          <p:nvPr/>
        </p:nvSpPr>
        <p:spPr>
          <a:xfrm>
            <a:off x="749808" y="4498848"/>
            <a:ext cx="1097280" cy="201168"/>
          </a:xfrm>
          <a:prstGeom prst="rect">
            <a:avLst/>
          </a:prstGeom>
          <a:noFill/>
          <a:ln/>
        </p:spPr>
        <p:txBody>
          <a:bodyPr wrap="square" lIns="0" tIns="0" rIns="0" bIns="0" rtlCol="0" anchor="ctr">
            <a:normAutofit/>
          </a:bodyPr>
          <a:lstStyle/>
          <a:p>
            <a:pPr marL="0" indent="0">
              <a:buNone/>
            </a:pPr>
            <a:r>
              <a:rPr lang="en-US" sz="970" b="1" kern="0" spc="130" dirty="0">
                <a:solidFill>
                  <a:srgbClr val="35D0BA"/>
                </a:solidFill>
                <a:latin typeface="Aptos" pitchFamily="34" charset="0"/>
                <a:ea typeface="Aptos" pitchFamily="34" charset="-122"/>
                <a:cs typeface="Aptos" pitchFamily="34" charset="-120"/>
              </a:rPr>
              <a:t>OUR GOAL</a:t>
            </a:r>
            <a:endParaRPr lang="en-US" sz="970" dirty="0"/>
          </a:p>
        </p:txBody>
      </p:sp>
      <p:sp>
        <p:nvSpPr>
          <p:cNvPr id="24" name="Text 22"/>
          <p:cNvSpPr/>
          <p:nvPr/>
        </p:nvSpPr>
        <p:spPr>
          <a:xfrm>
            <a:off x="1874520" y="4425696"/>
            <a:ext cx="9235440" cy="621792"/>
          </a:xfrm>
          <a:prstGeom prst="rect">
            <a:avLst/>
          </a:prstGeom>
          <a:noFill/>
          <a:ln/>
        </p:spPr>
        <p:txBody>
          <a:bodyPr wrap="square" lIns="0" tIns="0" rIns="0" bIns="0" rtlCol="0" anchor="ctr">
            <a:normAutofit/>
          </a:bodyPr>
          <a:lstStyle/>
          <a:p>
            <a:pPr marL="0" indent="0">
              <a:buNone/>
            </a:pPr>
            <a:r>
              <a:rPr lang="en-US" sz="1400" b="1" dirty="0">
                <a:solidFill>
                  <a:srgbClr val="F2F7FB"/>
                </a:solidFill>
                <a:latin typeface="Aptos" pitchFamily="34" charset="0"/>
                <a:ea typeface="Aptos" pitchFamily="34" charset="-122"/>
                <a:cs typeface="Aptos" pitchFamily="34" charset="-120"/>
              </a:rPr>
              <a:t>Build one explainable platform that combines financial-health guidance, experimental ML risk analysis, authentication, history and APIs — without pretending experimental models are real lending decisions.</a:t>
            </a:r>
            <a:endParaRPr lang="en-US" sz="140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SOLUTION</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FinanceAI at a Glance</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Three analytical modules, one integrated Flask application.</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48640" y="1874520"/>
            <a:ext cx="3429000" cy="2560320"/>
          </a:xfrm>
          <a:prstGeom prst="roundRect">
            <a:avLst>
              <a:gd name="adj" fmla="val 4286"/>
            </a:avLst>
          </a:prstGeom>
          <a:solidFill>
            <a:srgbClr val="0E2034"/>
          </a:solidFill>
          <a:ln w="12700">
            <a:solidFill>
              <a:srgbClr val="1B3853"/>
            </a:solidFill>
            <a:prstDash val="solid"/>
          </a:ln>
        </p:spPr>
      </p:sp>
      <p:sp>
        <p:nvSpPr>
          <p:cNvPr id="8" name="Shape 6"/>
          <p:cNvSpPr/>
          <p:nvPr/>
        </p:nvSpPr>
        <p:spPr>
          <a:xfrm>
            <a:off x="713232" y="2039112"/>
            <a:ext cx="384048" cy="384048"/>
          </a:xfrm>
          <a:prstGeom prst="ellipse">
            <a:avLst/>
          </a:prstGeom>
          <a:solidFill>
            <a:srgbClr val="35D0BA">
              <a:alpha val="20000"/>
            </a:srgbClr>
          </a:solidFill>
          <a:ln w="12700">
            <a:solidFill>
              <a:srgbClr val="35D0BA">
                <a:alpha val="0"/>
              </a:srgbClr>
            </a:solidFill>
            <a:prstDash val="solid"/>
          </a:ln>
        </p:spPr>
      </p:sp>
      <p:sp>
        <p:nvSpPr>
          <p:cNvPr id="9" name="Text 7"/>
          <p:cNvSpPr/>
          <p:nvPr/>
        </p:nvSpPr>
        <p:spPr>
          <a:xfrm>
            <a:off x="71323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35D0BA"/>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731520" y="2478024"/>
            <a:ext cx="306324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Personal Finance</a:t>
            </a:r>
            <a:endParaRPr lang="en-US" sz="1500" dirty="0"/>
          </a:p>
        </p:txBody>
      </p:sp>
      <p:sp>
        <p:nvSpPr>
          <p:cNvPr id="11" name="Text 9"/>
          <p:cNvSpPr/>
          <p:nvPr/>
        </p:nvSpPr>
        <p:spPr>
          <a:xfrm>
            <a:off x="731520" y="2825496"/>
            <a:ext cx="3063240" cy="148132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Transparent 0–100 health score, component breakdown, personalized recommendations and saved history.</a:t>
            </a:r>
            <a:endParaRPr lang="en-US" sz="1130" dirty="0"/>
          </a:p>
        </p:txBody>
      </p:sp>
      <p:sp>
        <p:nvSpPr>
          <p:cNvPr id="12" name="Shape 10"/>
          <p:cNvSpPr/>
          <p:nvPr/>
        </p:nvSpPr>
        <p:spPr>
          <a:xfrm>
            <a:off x="4389120" y="1874520"/>
            <a:ext cx="3429000" cy="2560320"/>
          </a:xfrm>
          <a:prstGeom prst="roundRect">
            <a:avLst>
              <a:gd name="adj" fmla="val 4286"/>
            </a:avLst>
          </a:prstGeom>
          <a:solidFill>
            <a:srgbClr val="0E2034"/>
          </a:solidFill>
          <a:ln w="12700">
            <a:solidFill>
              <a:srgbClr val="1B3853"/>
            </a:solidFill>
            <a:prstDash val="solid"/>
          </a:ln>
        </p:spPr>
      </p:sp>
      <p:sp>
        <p:nvSpPr>
          <p:cNvPr id="13" name="Shape 11"/>
          <p:cNvSpPr/>
          <p:nvPr/>
        </p:nvSpPr>
        <p:spPr>
          <a:xfrm>
            <a:off x="4553712" y="2039112"/>
            <a:ext cx="384048" cy="384048"/>
          </a:xfrm>
          <a:prstGeom prst="ellipse">
            <a:avLst/>
          </a:prstGeom>
          <a:solidFill>
            <a:srgbClr val="A78BFA">
              <a:alpha val="20000"/>
            </a:srgbClr>
          </a:solidFill>
          <a:ln w="12700">
            <a:solidFill>
              <a:srgbClr val="A78BFA">
                <a:alpha val="0"/>
              </a:srgbClr>
            </a:solidFill>
            <a:prstDash val="solid"/>
          </a:ln>
        </p:spPr>
      </p:sp>
      <p:sp>
        <p:nvSpPr>
          <p:cNvPr id="14" name="Text 12"/>
          <p:cNvSpPr/>
          <p:nvPr/>
        </p:nvSpPr>
        <p:spPr>
          <a:xfrm>
            <a:off x="455371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A78BFA"/>
                </a:solidFill>
                <a:latin typeface="Aptos" pitchFamily="34" charset="0"/>
                <a:ea typeface="Aptos" pitchFamily="34" charset="-122"/>
                <a:cs typeface="Aptos" pitchFamily="34" charset="-120"/>
              </a:rPr>
              <a:t>02</a:t>
            </a:r>
            <a:endParaRPr lang="en-US" sz="1100" dirty="0"/>
          </a:p>
        </p:txBody>
      </p:sp>
      <p:sp>
        <p:nvSpPr>
          <p:cNvPr id="15" name="Text 13"/>
          <p:cNvSpPr/>
          <p:nvPr/>
        </p:nvSpPr>
        <p:spPr>
          <a:xfrm>
            <a:off x="4572000" y="2478024"/>
            <a:ext cx="306324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Credit Stress</a:t>
            </a:r>
            <a:endParaRPr lang="en-US" sz="1500" dirty="0"/>
          </a:p>
        </p:txBody>
      </p:sp>
      <p:sp>
        <p:nvSpPr>
          <p:cNvPr id="16" name="Text 14"/>
          <p:cNvSpPr/>
          <p:nvPr/>
        </p:nvSpPr>
        <p:spPr>
          <a:xfrm>
            <a:off x="4572000" y="2825496"/>
            <a:ext cx="3063240" cy="148132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Leakage-safe Logistic Regression benchmark using five strict predictors.</a:t>
            </a:r>
            <a:endParaRPr lang="en-US" sz="1130" dirty="0"/>
          </a:p>
        </p:txBody>
      </p:sp>
      <p:sp>
        <p:nvSpPr>
          <p:cNvPr id="17" name="Shape 15"/>
          <p:cNvSpPr/>
          <p:nvPr/>
        </p:nvSpPr>
        <p:spPr>
          <a:xfrm>
            <a:off x="8229600" y="1874520"/>
            <a:ext cx="3429000" cy="2560320"/>
          </a:xfrm>
          <a:prstGeom prst="roundRect">
            <a:avLst>
              <a:gd name="adj" fmla="val 4286"/>
            </a:avLst>
          </a:prstGeom>
          <a:solidFill>
            <a:srgbClr val="0E2034"/>
          </a:solidFill>
          <a:ln w="12700">
            <a:solidFill>
              <a:srgbClr val="1B3853"/>
            </a:solidFill>
            <a:prstDash val="solid"/>
          </a:ln>
        </p:spPr>
      </p:sp>
      <p:sp>
        <p:nvSpPr>
          <p:cNvPr id="18" name="Shape 16"/>
          <p:cNvSpPr/>
          <p:nvPr/>
        </p:nvSpPr>
        <p:spPr>
          <a:xfrm>
            <a:off x="8394192" y="2039112"/>
            <a:ext cx="384048" cy="384048"/>
          </a:xfrm>
          <a:prstGeom prst="ellipse">
            <a:avLst/>
          </a:prstGeom>
          <a:solidFill>
            <a:srgbClr val="F6B85A">
              <a:alpha val="20000"/>
            </a:srgbClr>
          </a:solidFill>
          <a:ln w="12700">
            <a:solidFill>
              <a:srgbClr val="F6B85A">
                <a:alpha val="0"/>
              </a:srgbClr>
            </a:solidFill>
            <a:prstDash val="solid"/>
          </a:ln>
        </p:spPr>
      </p:sp>
      <p:sp>
        <p:nvSpPr>
          <p:cNvPr id="19" name="Text 17"/>
          <p:cNvSpPr/>
          <p:nvPr/>
        </p:nvSpPr>
        <p:spPr>
          <a:xfrm>
            <a:off x="8394192" y="204825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F6B85A"/>
                </a:solidFill>
                <a:latin typeface="Aptos" pitchFamily="34" charset="0"/>
                <a:ea typeface="Aptos" pitchFamily="34" charset="-122"/>
                <a:cs typeface="Aptos" pitchFamily="34" charset="-120"/>
              </a:rPr>
              <a:t>03</a:t>
            </a:r>
            <a:endParaRPr lang="en-US" sz="1100" dirty="0"/>
          </a:p>
        </p:txBody>
      </p:sp>
      <p:sp>
        <p:nvSpPr>
          <p:cNvPr id="20" name="Text 18"/>
          <p:cNvSpPr/>
          <p:nvPr/>
        </p:nvSpPr>
        <p:spPr>
          <a:xfrm>
            <a:off x="8412480" y="2478024"/>
            <a:ext cx="306324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Loan Risk</a:t>
            </a:r>
            <a:endParaRPr lang="en-US" sz="1500" dirty="0"/>
          </a:p>
        </p:txBody>
      </p:sp>
      <p:sp>
        <p:nvSpPr>
          <p:cNvPr id="21" name="Text 19"/>
          <p:cNvSpPr/>
          <p:nvPr/>
        </p:nvSpPr>
        <p:spPr>
          <a:xfrm>
            <a:off x="8412480" y="2825496"/>
            <a:ext cx="3063240" cy="148132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Experimental Extra Trees risk-ranking model using application-time features.</a:t>
            </a:r>
            <a:endParaRPr lang="en-US" sz="1130" dirty="0"/>
          </a:p>
        </p:txBody>
      </p:sp>
      <p:sp>
        <p:nvSpPr>
          <p:cNvPr id="22" name="Shape 20"/>
          <p:cNvSpPr/>
          <p:nvPr/>
        </p:nvSpPr>
        <p:spPr>
          <a:xfrm>
            <a:off x="1005840" y="4828032"/>
            <a:ext cx="10058400" cy="822960"/>
          </a:xfrm>
          <a:prstGeom prst="roundRect">
            <a:avLst>
              <a:gd name="adj" fmla="val 13333"/>
            </a:avLst>
          </a:prstGeom>
          <a:solidFill>
            <a:srgbClr val="10283F"/>
          </a:solidFill>
          <a:ln w="12700">
            <a:solidFill>
              <a:srgbClr val="1B3853"/>
            </a:solidFill>
            <a:prstDash val="solid"/>
          </a:ln>
        </p:spPr>
      </p:sp>
      <p:sp>
        <p:nvSpPr>
          <p:cNvPr id="23" name="Text 21"/>
          <p:cNvSpPr/>
          <p:nvPr/>
        </p:nvSpPr>
        <p:spPr>
          <a:xfrm>
            <a:off x="1243584" y="5020056"/>
            <a:ext cx="1508760" cy="219456"/>
          </a:xfrm>
          <a:prstGeom prst="rect">
            <a:avLst/>
          </a:prstGeom>
          <a:noFill/>
          <a:ln/>
        </p:spPr>
        <p:txBody>
          <a:bodyPr wrap="square" lIns="0" tIns="0" rIns="0" bIns="0" rtlCol="0" anchor="ctr">
            <a:normAutofit/>
          </a:bodyPr>
          <a:lstStyle/>
          <a:p>
            <a:pPr marL="0" indent="0">
              <a:buNone/>
            </a:pPr>
            <a:r>
              <a:rPr lang="en-US" sz="1200" b="1" dirty="0">
                <a:solidFill>
                  <a:srgbClr val="35D0BA"/>
                </a:solidFill>
                <a:latin typeface="Aptos" pitchFamily="34" charset="0"/>
                <a:ea typeface="Aptos" pitchFamily="34" charset="-122"/>
                <a:cs typeface="Aptos" pitchFamily="34" charset="-120"/>
              </a:rPr>
              <a:t>Unified Backend</a:t>
            </a:r>
            <a:endParaRPr lang="en-US" sz="1200" dirty="0"/>
          </a:p>
        </p:txBody>
      </p:sp>
      <p:sp>
        <p:nvSpPr>
          <p:cNvPr id="24" name="Text 22"/>
          <p:cNvSpPr/>
          <p:nvPr/>
        </p:nvSpPr>
        <p:spPr>
          <a:xfrm>
            <a:off x="2852928" y="4983480"/>
            <a:ext cx="7818120" cy="256032"/>
          </a:xfrm>
          <a:prstGeom prst="rect">
            <a:avLst/>
          </a:prstGeom>
          <a:noFill/>
          <a:ln/>
        </p:spPr>
        <p:txBody>
          <a:bodyPr wrap="square" lIns="0" tIns="0" rIns="0" bIns="0" rtlCol="0" anchor="ctr">
            <a:normAutofit/>
          </a:bodyPr>
          <a:lstStyle/>
          <a:p>
            <a:pPr marL="0" indent="0" algn="ctr">
              <a:buNone/>
            </a:pPr>
            <a:r>
              <a:rPr lang="en-US" sz="1300" b="1" dirty="0">
                <a:solidFill>
                  <a:srgbClr val="F2F7FB"/>
                </a:solidFill>
                <a:latin typeface="Aptos" pitchFamily="34" charset="0"/>
                <a:ea typeface="Aptos" pitchFamily="34" charset="-122"/>
                <a:cs typeface="Aptos" pitchFamily="34" charset="-120"/>
              </a:rPr>
              <a:t>Authentication  ·  SQLite/MySQL  ·  APIs  ·  History  ·  Offline Assistant</a:t>
            </a:r>
            <a:endParaRPr lang="en-US" sz="130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ARCHITECTURE</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How the System Works</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A modular flow from user input to explainable results and persistent history.</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48640" y="2148840"/>
            <a:ext cx="1783080" cy="868680"/>
          </a:xfrm>
          <a:prstGeom prst="roundRect">
            <a:avLst>
              <a:gd name="adj" fmla="val 12632"/>
            </a:avLst>
          </a:prstGeom>
          <a:solidFill>
            <a:srgbClr val="10283F"/>
          </a:solidFill>
          <a:ln w="12700">
            <a:solidFill>
              <a:srgbClr val="1B3853"/>
            </a:solidFill>
            <a:prstDash val="solid"/>
          </a:ln>
        </p:spPr>
      </p:sp>
      <p:sp>
        <p:nvSpPr>
          <p:cNvPr id="8" name="Text 6"/>
          <p:cNvSpPr/>
          <p:nvPr/>
        </p:nvSpPr>
        <p:spPr>
          <a:xfrm>
            <a:off x="658368" y="2368296"/>
            <a:ext cx="1563624" cy="384048"/>
          </a:xfrm>
          <a:prstGeom prst="rect">
            <a:avLst/>
          </a:prstGeom>
          <a:noFill/>
          <a:ln/>
        </p:spPr>
        <p:txBody>
          <a:bodyPr wrap="square" lIns="0" tIns="0" rIns="0" bIns="0" rtlCol="0" anchor="ctr">
            <a:normAutofit/>
          </a:bodyPr>
          <a:lstStyle/>
          <a:p>
            <a:pPr marL="0" indent="0" algn="ctr">
              <a:buNone/>
            </a:pPr>
            <a:r>
              <a:rPr lang="en-US" sz="1220" b="1" dirty="0">
                <a:solidFill>
                  <a:srgbClr val="35D0BA"/>
                </a:solidFill>
                <a:latin typeface="Aptos" pitchFamily="34" charset="0"/>
                <a:ea typeface="Aptos" pitchFamily="34" charset="-122"/>
                <a:cs typeface="Aptos" pitchFamily="34" charset="-120"/>
              </a:rPr>
              <a:t>User / Browser</a:t>
            </a:r>
            <a:endParaRPr lang="en-US" sz="1220" dirty="0"/>
          </a:p>
        </p:txBody>
      </p:sp>
      <p:sp>
        <p:nvSpPr>
          <p:cNvPr id="9" name="Shape 7"/>
          <p:cNvSpPr/>
          <p:nvPr/>
        </p:nvSpPr>
        <p:spPr>
          <a:xfrm>
            <a:off x="2331720" y="2578608"/>
            <a:ext cx="292608" cy="0"/>
          </a:xfrm>
          <a:prstGeom prst="line">
            <a:avLst/>
          </a:prstGeom>
          <a:noFill/>
          <a:ln w="25400">
            <a:solidFill>
              <a:srgbClr val="93A8BB"/>
            </a:solidFill>
            <a:prstDash val="solid"/>
            <a:headEnd type="none"/>
            <a:tailEnd type="triangle"/>
          </a:ln>
        </p:spPr>
      </p:sp>
      <p:sp>
        <p:nvSpPr>
          <p:cNvPr id="10" name="Shape 8"/>
          <p:cNvSpPr/>
          <p:nvPr/>
        </p:nvSpPr>
        <p:spPr>
          <a:xfrm>
            <a:off x="2697480" y="2148840"/>
            <a:ext cx="1783080" cy="868680"/>
          </a:xfrm>
          <a:prstGeom prst="roundRect">
            <a:avLst>
              <a:gd name="adj" fmla="val 12632"/>
            </a:avLst>
          </a:prstGeom>
          <a:solidFill>
            <a:srgbClr val="10283F"/>
          </a:solidFill>
          <a:ln w="12700">
            <a:solidFill>
              <a:srgbClr val="1B3853"/>
            </a:solidFill>
            <a:prstDash val="solid"/>
          </a:ln>
        </p:spPr>
      </p:sp>
      <p:sp>
        <p:nvSpPr>
          <p:cNvPr id="11" name="Text 9"/>
          <p:cNvSpPr/>
          <p:nvPr/>
        </p:nvSpPr>
        <p:spPr>
          <a:xfrm>
            <a:off x="2807208" y="2368296"/>
            <a:ext cx="1563624" cy="384048"/>
          </a:xfrm>
          <a:prstGeom prst="rect">
            <a:avLst/>
          </a:prstGeom>
          <a:noFill/>
          <a:ln/>
        </p:spPr>
        <p:txBody>
          <a:bodyPr wrap="square" lIns="0" tIns="0" rIns="0" bIns="0" rtlCol="0" anchor="ctr">
            <a:normAutofit/>
          </a:bodyPr>
          <a:lstStyle/>
          <a:p>
            <a:pPr marL="0" indent="0" algn="ctr">
              <a:buNone/>
            </a:pPr>
            <a:r>
              <a:rPr lang="en-US" sz="1220" b="1" dirty="0">
                <a:solidFill>
                  <a:srgbClr val="6CA8FF"/>
                </a:solidFill>
                <a:latin typeface="Aptos" pitchFamily="34" charset="0"/>
                <a:ea typeface="Aptos" pitchFamily="34" charset="-122"/>
                <a:cs typeface="Aptos" pitchFamily="34" charset="-120"/>
              </a:rPr>
              <a:t>Flask App</a:t>
            </a:r>
            <a:endParaRPr lang="en-US" sz="1220" dirty="0"/>
          </a:p>
        </p:txBody>
      </p:sp>
      <p:sp>
        <p:nvSpPr>
          <p:cNvPr id="12" name="Shape 10"/>
          <p:cNvSpPr/>
          <p:nvPr/>
        </p:nvSpPr>
        <p:spPr>
          <a:xfrm>
            <a:off x="4480560" y="2578608"/>
            <a:ext cx="292608" cy="0"/>
          </a:xfrm>
          <a:prstGeom prst="line">
            <a:avLst/>
          </a:prstGeom>
          <a:noFill/>
          <a:ln w="25400">
            <a:solidFill>
              <a:srgbClr val="93A8BB"/>
            </a:solidFill>
            <a:prstDash val="solid"/>
            <a:headEnd type="none"/>
            <a:tailEnd type="triangle"/>
          </a:ln>
        </p:spPr>
      </p:sp>
      <p:sp>
        <p:nvSpPr>
          <p:cNvPr id="13" name="Shape 11"/>
          <p:cNvSpPr/>
          <p:nvPr/>
        </p:nvSpPr>
        <p:spPr>
          <a:xfrm>
            <a:off x="4846320" y="2148840"/>
            <a:ext cx="1783080" cy="868680"/>
          </a:xfrm>
          <a:prstGeom prst="roundRect">
            <a:avLst>
              <a:gd name="adj" fmla="val 12632"/>
            </a:avLst>
          </a:prstGeom>
          <a:solidFill>
            <a:srgbClr val="10283F"/>
          </a:solidFill>
          <a:ln w="12700">
            <a:solidFill>
              <a:srgbClr val="1B3853"/>
            </a:solidFill>
            <a:prstDash val="solid"/>
          </a:ln>
        </p:spPr>
      </p:sp>
      <p:sp>
        <p:nvSpPr>
          <p:cNvPr id="14" name="Text 12"/>
          <p:cNvSpPr/>
          <p:nvPr/>
        </p:nvSpPr>
        <p:spPr>
          <a:xfrm>
            <a:off x="4956048" y="2368296"/>
            <a:ext cx="1563624" cy="384048"/>
          </a:xfrm>
          <a:prstGeom prst="rect">
            <a:avLst/>
          </a:prstGeom>
          <a:noFill/>
          <a:ln/>
        </p:spPr>
        <p:txBody>
          <a:bodyPr wrap="square" lIns="0" tIns="0" rIns="0" bIns="0" rtlCol="0" anchor="ctr">
            <a:normAutofit/>
          </a:bodyPr>
          <a:lstStyle/>
          <a:p>
            <a:pPr marL="0" indent="0" algn="ctr">
              <a:buNone/>
            </a:pPr>
            <a:r>
              <a:rPr lang="en-US" sz="1220" b="1" dirty="0">
                <a:solidFill>
                  <a:srgbClr val="A78BFA"/>
                </a:solidFill>
                <a:latin typeface="Aptos" pitchFamily="34" charset="0"/>
                <a:ea typeface="Aptos" pitchFamily="34" charset="-122"/>
                <a:cs typeface="Aptos" pitchFamily="34" charset="-120"/>
              </a:rPr>
              <a:t>Service Layer</a:t>
            </a:r>
            <a:endParaRPr lang="en-US" sz="1220" dirty="0"/>
          </a:p>
        </p:txBody>
      </p:sp>
      <p:sp>
        <p:nvSpPr>
          <p:cNvPr id="15" name="Shape 13"/>
          <p:cNvSpPr/>
          <p:nvPr/>
        </p:nvSpPr>
        <p:spPr>
          <a:xfrm>
            <a:off x="6629400" y="2578608"/>
            <a:ext cx="612648" cy="0"/>
          </a:xfrm>
          <a:prstGeom prst="line">
            <a:avLst/>
          </a:prstGeom>
          <a:noFill/>
          <a:ln w="25400">
            <a:solidFill>
              <a:srgbClr val="93A8BB"/>
            </a:solidFill>
            <a:prstDash val="solid"/>
            <a:headEnd type="none"/>
            <a:tailEnd type="triangle"/>
          </a:ln>
        </p:spPr>
      </p:sp>
      <p:sp>
        <p:nvSpPr>
          <p:cNvPr id="16" name="Shape 14"/>
          <p:cNvSpPr/>
          <p:nvPr/>
        </p:nvSpPr>
        <p:spPr>
          <a:xfrm>
            <a:off x="7315200" y="2148840"/>
            <a:ext cx="1783080" cy="868680"/>
          </a:xfrm>
          <a:prstGeom prst="roundRect">
            <a:avLst>
              <a:gd name="adj" fmla="val 12632"/>
            </a:avLst>
          </a:prstGeom>
          <a:solidFill>
            <a:srgbClr val="10283F"/>
          </a:solidFill>
          <a:ln w="12700">
            <a:solidFill>
              <a:srgbClr val="1B3853"/>
            </a:solidFill>
            <a:prstDash val="solid"/>
          </a:ln>
        </p:spPr>
      </p:sp>
      <p:sp>
        <p:nvSpPr>
          <p:cNvPr id="17" name="Text 15"/>
          <p:cNvSpPr/>
          <p:nvPr/>
        </p:nvSpPr>
        <p:spPr>
          <a:xfrm>
            <a:off x="7424928" y="2368296"/>
            <a:ext cx="1563624" cy="384048"/>
          </a:xfrm>
          <a:prstGeom prst="rect">
            <a:avLst/>
          </a:prstGeom>
          <a:noFill/>
          <a:ln/>
        </p:spPr>
        <p:txBody>
          <a:bodyPr wrap="square" lIns="0" tIns="0" rIns="0" bIns="0" rtlCol="0" anchor="ctr">
            <a:normAutofit/>
          </a:bodyPr>
          <a:lstStyle/>
          <a:p>
            <a:pPr marL="0" indent="0" algn="ctr">
              <a:buNone/>
            </a:pPr>
            <a:r>
              <a:rPr lang="en-US" sz="1220" b="1" dirty="0">
                <a:solidFill>
                  <a:srgbClr val="F6B85A"/>
                </a:solidFill>
                <a:latin typeface="Aptos" pitchFamily="34" charset="0"/>
                <a:ea typeface="Aptos" pitchFamily="34" charset="-122"/>
                <a:cs typeface="Aptos" pitchFamily="34" charset="-120"/>
              </a:rPr>
              <a:t>Analysis Modules</a:t>
            </a:r>
            <a:endParaRPr lang="en-US" sz="1220" dirty="0"/>
          </a:p>
        </p:txBody>
      </p:sp>
      <p:sp>
        <p:nvSpPr>
          <p:cNvPr id="18" name="Shape 16"/>
          <p:cNvSpPr/>
          <p:nvPr/>
        </p:nvSpPr>
        <p:spPr>
          <a:xfrm>
            <a:off x="9098280" y="2578608"/>
            <a:ext cx="658368" cy="0"/>
          </a:xfrm>
          <a:prstGeom prst="line">
            <a:avLst/>
          </a:prstGeom>
          <a:noFill/>
          <a:ln w="25400">
            <a:solidFill>
              <a:srgbClr val="93A8BB"/>
            </a:solidFill>
            <a:prstDash val="solid"/>
            <a:headEnd type="none"/>
            <a:tailEnd type="triangle"/>
          </a:ln>
        </p:spPr>
      </p:sp>
      <p:sp>
        <p:nvSpPr>
          <p:cNvPr id="19" name="Shape 17"/>
          <p:cNvSpPr/>
          <p:nvPr/>
        </p:nvSpPr>
        <p:spPr>
          <a:xfrm>
            <a:off x="9829800" y="2148840"/>
            <a:ext cx="1783080" cy="868680"/>
          </a:xfrm>
          <a:prstGeom prst="roundRect">
            <a:avLst>
              <a:gd name="adj" fmla="val 12632"/>
            </a:avLst>
          </a:prstGeom>
          <a:solidFill>
            <a:srgbClr val="10283F"/>
          </a:solidFill>
          <a:ln w="12700">
            <a:solidFill>
              <a:srgbClr val="1B3853"/>
            </a:solidFill>
            <a:prstDash val="solid"/>
          </a:ln>
        </p:spPr>
      </p:sp>
      <p:sp>
        <p:nvSpPr>
          <p:cNvPr id="20" name="Text 18"/>
          <p:cNvSpPr/>
          <p:nvPr/>
        </p:nvSpPr>
        <p:spPr>
          <a:xfrm>
            <a:off x="9939528" y="2368296"/>
            <a:ext cx="1563624" cy="384048"/>
          </a:xfrm>
          <a:prstGeom prst="rect">
            <a:avLst/>
          </a:prstGeom>
          <a:noFill/>
          <a:ln/>
        </p:spPr>
        <p:txBody>
          <a:bodyPr wrap="square" lIns="0" tIns="0" rIns="0" bIns="0" rtlCol="0" anchor="ctr">
            <a:normAutofit/>
          </a:bodyPr>
          <a:lstStyle/>
          <a:p>
            <a:pPr marL="0" indent="0" algn="ctr">
              <a:buNone/>
            </a:pPr>
            <a:r>
              <a:rPr lang="en-US" sz="1220" b="1" dirty="0">
                <a:solidFill>
                  <a:srgbClr val="52D69C"/>
                </a:solidFill>
                <a:latin typeface="Aptos" pitchFamily="34" charset="0"/>
                <a:ea typeface="Aptos" pitchFamily="34" charset="-122"/>
                <a:cs typeface="Aptos" pitchFamily="34" charset="-120"/>
              </a:rPr>
              <a:t>SQLite / MySQL</a:t>
            </a:r>
            <a:endParaRPr lang="en-US" sz="1220" dirty="0"/>
          </a:p>
        </p:txBody>
      </p:sp>
      <p:sp>
        <p:nvSpPr>
          <p:cNvPr id="21" name="Shape 19"/>
          <p:cNvSpPr/>
          <p:nvPr/>
        </p:nvSpPr>
        <p:spPr>
          <a:xfrm>
            <a:off x="6629400" y="3703320"/>
            <a:ext cx="1353312" cy="658368"/>
          </a:xfrm>
          <a:prstGeom prst="roundRect">
            <a:avLst>
              <a:gd name="adj" fmla="val 16667"/>
            </a:avLst>
          </a:prstGeom>
          <a:solidFill>
            <a:srgbClr val="0E2034"/>
          </a:solidFill>
          <a:ln w="12700">
            <a:solidFill>
              <a:srgbClr val="1B3853"/>
            </a:solidFill>
            <a:prstDash val="solid"/>
          </a:ln>
        </p:spPr>
      </p:sp>
      <p:sp>
        <p:nvSpPr>
          <p:cNvPr id="22" name="Text 20"/>
          <p:cNvSpPr/>
          <p:nvPr/>
        </p:nvSpPr>
        <p:spPr>
          <a:xfrm>
            <a:off x="6702552" y="3877056"/>
            <a:ext cx="1207008" cy="310896"/>
          </a:xfrm>
          <a:prstGeom prst="rect">
            <a:avLst/>
          </a:prstGeom>
          <a:noFill/>
          <a:ln/>
        </p:spPr>
        <p:txBody>
          <a:bodyPr wrap="square" lIns="0" tIns="0" rIns="0" bIns="0" rtlCol="0" anchor="ctr">
            <a:normAutofit/>
          </a:bodyPr>
          <a:lstStyle/>
          <a:p>
            <a:pPr marL="0" indent="0" algn="ctr">
              <a:buNone/>
            </a:pPr>
            <a:r>
              <a:rPr lang="en-US" sz="1050" b="1" dirty="0">
                <a:solidFill>
                  <a:srgbClr val="35D0BA"/>
                </a:solidFill>
                <a:latin typeface="Aptos" pitchFamily="34" charset="0"/>
                <a:ea typeface="Aptos" pitchFamily="34" charset="-122"/>
                <a:cs typeface="Aptos" pitchFamily="34" charset="-120"/>
              </a:rPr>
              <a:t>Personal Finance</a:t>
            </a:r>
            <a:endParaRPr lang="en-US" sz="1050" dirty="0"/>
          </a:p>
        </p:txBody>
      </p:sp>
      <p:sp>
        <p:nvSpPr>
          <p:cNvPr id="23" name="Shape 21"/>
          <p:cNvSpPr/>
          <p:nvPr/>
        </p:nvSpPr>
        <p:spPr>
          <a:xfrm>
            <a:off x="8138160" y="3703320"/>
            <a:ext cx="1353312" cy="658368"/>
          </a:xfrm>
          <a:prstGeom prst="roundRect">
            <a:avLst>
              <a:gd name="adj" fmla="val 16667"/>
            </a:avLst>
          </a:prstGeom>
          <a:solidFill>
            <a:srgbClr val="0E2034"/>
          </a:solidFill>
          <a:ln w="12700">
            <a:solidFill>
              <a:srgbClr val="1B3853"/>
            </a:solidFill>
            <a:prstDash val="solid"/>
          </a:ln>
        </p:spPr>
      </p:sp>
      <p:sp>
        <p:nvSpPr>
          <p:cNvPr id="24" name="Text 22"/>
          <p:cNvSpPr/>
          <p:nvPr/>
        </p:nvSpPr>
        <p:spPr>
          <a:xfrm>
            <a:off x="8211312" y="3877056"/>
            <a:ext cx="1207008" cy="310896"/>
          </a:xfrm>
          <a:prstGeom prst="rect">
            <a:avLst/>
          </a:prstGeom>
          <a:noFill/>
          <a:ln/>
        </p:spPr>
        <p:txBody>
          <a:bodyPr wrap="square" lIns="0" tIns="0" rIns="0" bIns="0" rtlCol="0" anchor="ctr">
            <a:normAutofit/>
          </a:bodyPr>
          <a:lstStyle/>
          <a:p>
            <a:pPr marL="0" indent="0" algn="ctr">
              <a:buNone/>
            </a:pPr>
            <a:r>
              <a:rPr lang="en-US" sz="1050" b="1" dirty="0">
                <a:solidFill>
                  <a:srgbClr val="A78BFA"/>
                </a:solidFill>
                <a:latin typeface="Aptos" pitchFamily="34" charset="0"/>
                <a:ea typeface="Aptos" pitchFamily="34" charset="-122"/>
                <a:cs typeface="Aptos" pitchFamily="34" charset="-120"/>
              </a:rPr>
              <a:t>Credit Stress</a:t>
            </a:r>
            <a:endParaRPr lang="en-US" sz="1050" dirty="0"/>
          </a:p>
        </p:txBody>
      </p:sp>
      <p:sp>
        <p:nvSpPr>
          <p:cNvPr id="25" name="Shape 23"/>
          <p:cNvSpPr/>
          <p:nvPr/>
        </p:nvSpPr>
        <p:spPr>
          <a:xfrm>
            <a:off x="9646920" y="3703320"/>
            <a:ext cx="1353312" cy="658368"/>
          </a:xfrm>
          <a:prstGeom prst="roundRect">
            <a:avLst>
              <a:gd name="adj" fmla="val 16667"/>
            </a:avLst>
          </a:prstGeom>
          <a:solidFill>
            <a:srgbClr val="0E2034"/>
          </a:solidFill>
          <a:ln w="12700">
            <a:solidFill>
              <a:srgbClr val="1B3853"/>
            </a:solidFill>
            <a:prstDash val="solid"/>
          </a:ln>
        </p:spPr>
      </p:sp>
      <p:sp>
        <p:nvSpPr>
          <p:cNvPr id="26" name="Text 24"/>
          <p:cNvSpPr/>
          <p:nvPr/>
        </p:nvSpPr>
        <p:spPr>
          <a:xfrm>
            <a:off x="9720072" y="3877056"/>
            <a:ext cx="1207008" cy="310896"/>
          </a:xfrm>
          <a:prstGeom prst="rect">
            <a:avLst/>
          </a:prstGeom>
          <a:noFill/>
          <a:ln/>
        </p:spPr>
        <p:txBody>
          <a:bodyPr wrap="square" lIns="0" tIns="0" rIns="0" bIns="0" rtlCol="0" anchor="ctr">
            <a:normAutofit/>
          </a:bodyPr>
          <a:lstStyle/>
          <a:p>
            <a:pPr marL="0" indent="0" algn="ctr">
              <a:buNone/>
            </a:pPr>
            <a:r>
              <a:rPr lang="en-US" sz="1050" b="1" dirty="0">
                <a:solidFill>
                  <a:srgbClr val="F6B85A"/>
                </a:solidFill>
                <a:latin typeface="Aptos" pitchFamily="34" charset="0"/>
                <a:ea typeface="Aptos" pitchFamily="34" charset="-122"/>
                <a:cs typeface="Aptos" pitchFamily="34" charset="-120"/>
              </a:rPr>
              <a:t>Loan Risk</a:t>
            </a:r>
            <a:endParaRPr lang="en-US" sz="1050" dirty="0"/>
          </a:p>
        </p:txBody>
      </p:sp>
      <p:sp>
        <p:nvSpPr>
          <p:cNvPr id="27" name="Shape 25"/>
          <p:cNvSpPr/>
          <p:nvPr/>
        </p:nvSpPr>
        <p:spPr>
          <a:xfrm>
            <a:off x="8211312" y="3017520"/>
            <a:ext cx="0" cy="576072"/>
          </a:xfrm>
          <a:prstGeom prst="line">
            <a:avLst/>
          </a:prstGeom>
          <a:noFill/>
          <a:ln w="25400">
            <a:solidFill>
              <a:srgbClr val="93A8BB"/>
            </a:solidFill>
            <a:prstDash val="solid"/>
            <a:headEnd type="none"/>
            <a:tailEnd type="triangle"/>
          </a:ln>
        </p:spPr>
      </p:sp>
      <p:sp>
        <p:nvSpPr>
          <p:cNvPr id="28" name="Shape 26"/>
          <p:cNvSpPr/>
          <p:nvPr/>
        </p:nvSpPr>
        <p:spPr>
          <a:xfrm>
            <a:off x="868680" y="4864608"/>
            <a:ext cx="10332720" cy="658368"/>
          </a:xfrm>
          <a:prstGeom prst="roundRect">
            <a:avLst>
              <a:gd name="adj" fmla="val 16667"/>
            </a:avLst>
          </a:prstGeom>
          <a:solidFill>
            <a:srgbClr val="0A192A"/>
          </a:solidFill>
          <a:ln w="12700">
            <a:solidFill>
              <a:srgbClr val="1B3853"/>
            </a:solidFill>
            <a:prstDash val="solid"/>
          </a:ln>
        </p:spPr>
      </p:sp>
      <p:sp>
        <p:nvSpPr>
          <p:cNvPr id="29" name="Text 27"/>
          <p:cNvSpPr/>
          <p:nvPr/>
        </p:nvSpPr>
        <p:spPr>
          <a:xfrm>
            <a:off x="1097280" y="5065776"/>
            <a:ext cx="9875520" cy="228600"/>
          </a:xfrm>
          <a:prstGeom prst="rect">
            <a:avLst/>
          </a:prstGeom>
          <a:noFill/>
          <a:ln/>
        </p:spPr>
        <p:txBody>
          <a:bodyPr wrap="square" lIns="0" tIns="0" rIns="0" bIns="0" rtlCol="0" anchor="ctr">
            <a:normAutofit/>
          </a:bodyPr>
          <a:lstStyle/>
          <a:p>
            <a:pPr marL="0" indent="0" algn="ctr">
              <a:buNone/>
            </a:pPr>
            <a:r>
              <a:rPr lang="en-US" sz="1220" dirty="0">
                <a:solidFill>
                  <a:srgbClr val="93A8BB"/>
                </a:solidFill>
                <a:latin typeface="Aptos" pitchFamily="34" charset="0"/>
                <a:ea typeface="Aptos" pitchFamily="34" charset="-122"/>
                <a:cs typeface="Aptos" pitchFamily="34" charset="-120"/>
              </a:rPr>
              <a:t>Authentication  ·  Validation  ·  History  ·  Assistant  ·  JSON APIs</a:t>
            </a:r>
            <a:endParaRPr lang="en-US" sz="1220" dirty="0"/>
          </a:p>
        </p:txBody>
      </p:sp>
      <p:sp>
        <p:nvSpPr>
          <p:cNvPr id="30"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MODULE 01</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Personal Finance — Explainable Health Score</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Primary user-facing module with transparent rules and prioritized recommendations.</a:t>
            </a:r>
            <a:endParaRPr lang="en-US" sz="1350" dirty="0"/>
          </a:p>
        </p:txBody>
      </p:sp>
      <p:sp>
        <p:nvSpPr>
          <p:cNvPr id="5" name="Shape 3"/>
          <p:cNvSpPr/>
          <p:nvPr/>
        </p:nvSpPr>
        <p:spPr>
          <a:xfrm>
            <a:off x="9555480" y="384048"/>
            <a:ext cx="2157984" cy="310896"/>
          </a:xfrm>
          <a:prstGeom prst="roundRect">
            <a:avLst>
              <a:gd name="adj" fmla="val 47059"/>
            </a:avLst>
          </a:prstGeom>
          <a:solidFill>
            <a:srgbClr val="6CA8FF">
              <a:alpha val="18000"/>
            </a:srgbClr>
          </a:solidFill>
          <a:ln w="12700">
            <a:solidFill>
              <a:srgbClr val="6CA8FF">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6CA8FF"/>
                </a:solidFill>
                <a:latin typeface="Aptos" pitchFamily="34" charset="0"/>
                <a:ea typeface="Aptos" pitchFamily="34" charset="-122"/>
                <a:cs typeface="Aptos" pitchFamily="34" charset="-120"/>
              </a:rPr>
              <a:t>AJEET KUMAR</a:t>
            </a:r>
            <a:endParaRPr lang="en-US" sz="950" dirty="0"/>
          </a:p>
        </p:txBody>
      </p:sp>
      <p:sp>
        <p:nvSpPr>
          <p:cNvPr id="7" name="Shape 5"/>
          <p:cNvSpPr/>
          <p:nvPr/>
        </p:nvSpPr>
        <p:spPr>
          <a:xfrm>
            <a:off x="548640" y="1828800"/>
            <a:ext cx="2331720" cy="960120"/>
          </a:xfrm>
          <a:prstGeom prst="roundRect">
            <a:avLst>
              <a:gd name="adj" fmla="val 11429"/>
            </a:avLst>
          </a:prstGeom>
          <a:solidFill>
            <a:srgbClr val="0E2034"/>
          </a:solidFill>
          <a:ln w="12700">
            <a:solidFill>
              <a:srgbClr val="1B3853"/>
            </a:solidFill>
            <a:prstDash val="solid"/>
          </a:ln>
        </p:spPr>
      </p:sp>
      <p:sp>
        <p:nvSpPr>
          <p:cNvPr id="8" name="Text 6"/>
          <p:cNvSpPr/>
          <p:nvPr/>
        </p:nvSpPr>
        <p:spPr>
          <a:xfrm>
            <a:off x="713232" y="1920240"/>
            <a:ext cx="20025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6CA8FF"/>
                </a:solidFill>
                <a:latin typeface="Aptos" pitchFamily="34" charset="0"/>
                <a:ea typeface="Aptos" pitchFamily="34" charset="-122"/>
                <a:cs typeface="Aptos" pitchFamily="34" charset="-120"/>
              </a:rPr>
              <a:t>0–100</a:t>
            </a:r>
            <a:endParaRPr lang="en-US" sz="2300" dirty="0"/>
          </a:p>
        </p:txBody>
      </p:sp>
      <p:sp>
        <p:nvSpPr>
          <p:cNvPr id="9" name="Text 7"/>
          <p:cNvSpPr/>
          <p:nvPr/>
        </p:nvSpPr>
        <p:spPr>
          <a:xfrm>
            <a:off x="713232" y="2286000"/>
            <a:ext cx="20025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Financial Health Score</a:t>
            </a:r>
            <a:endParaRPr lang="en-US" sz="1070" dirty="0"/>
          </a:p>
        </p:txBody>
      </p:sp>
      <p:sp>
        <p:nvSpPr>
          <p:cNvPr id="10" name="Text 8"/>
          <p:cNvSpPr/>
          <p:nvPr/>
        </p:nvSpPr>
        <p:spPr>
          <a:xfrm>
            <a:off x="713232" y="2505456"/>
            <a:ext cx="20025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Transparent — not a black box</a:t>
            </a:r>
            <a:endParaRPr lang="en-US" sz="870" dirty="0"/>
          </a:p>
        </p:txBody>
      </p:sp>
      <p:sp>
        <p:nvSpPr>
          <p:cNvPr id="11" name="Shape 9"/>
          <p:cNvSpPr/>
          <p:nvPr/>
        </p:nvSpPr>
        <p:spPr>
          <a:xfrm>
            <a:off x="3063240" y="1828800"/>
            <a:ext cx="2331720" cy="960120"/>
          </a:xfrm>
          <a:prstGeom prst="roundRect">
            <a:avLst>
              <a:gd name="adj" fmla="val 11429"/>
            </a:avLst>
          </a:prstGeom>
          <a:solidFill>
            <a:srgbClr val="0E2034"/>
          </a:solidFill>
          <a:ln w="12700">
            <a:solidFill>
              <a:srgbClr val="1B3853"/>
            </a:solidFill>
            <a:prstDash val="solid"/>
          </a:ln>
        </p:spPr>
      </p:sp>
      <p:sp>
        <p:nvSpPr>
          <p:cNvPr id="12" name="Text 10"/>
          <p:cNvSpPr/>
          <p:nvPr/>
        </p:nvSpPr>
        <p:spPr>
          <a:xfrm>
            <a:off x="3227832" y="1920240"/>
            <a:ext cx="20025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35D0BA"/>
                </a:solidFill>
                <a:latin typeface="Aptos" pitchFamily="34" charset="0"/>
                <a:ea typeface="Aptos" pitchFamily="34" charset="-122"/>
                <a:cs typeface="Aptos" pitchFamily="34" charset="-120"/>
              </a:rPr>
              <a:t>6</a:t>
            </a:r>
            <a:endParaRPr lang="en-US" sz="2300" dirty="0"/>
          </a:p>
        </p:txBody>
      </p:sp>
      <p:sp>
        <p:nvSpPr>
          <p:cNvPr id="13" name="Text 11"/>
          <p:cNvSpPr/>
          <p:nvPr/>
        </p:nvSpPr>
        <p:spPr>
          <a:xfrm>
            <a:off x="3227832" y="2286000"/>
            <a:ext cx="20025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Score Components</a:t>
            </a:r>
            <a:endParaRPr lang="en-US" sz="1070" dirty="0"/>
          </a:p>
        </p:txBody>
      </p:sp>
      <p:sp>
        <p:nvSpPr>
          <p:cNvPr id="14" name="Text 12"/>
          <p:cNvSpPr/>
          <p:nvPr/>
        </p:nvSpPr>
        <p:spPr>
          <a:xfrm>
            <a:off x="3227832" y="2505456"/>
            <a:ext cx="20025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Cash flow to credit health</a:t>
            </a:r>
            <a:endParaRPr lang="en-US" sz="870" dirty="0"/>
          </a:p>
        </p:txBody>
      </p:sp>
      <p:sp>
        <p:nvSpPr>
          <p:cNvPr id="15" name="Shape 13"/>
          <p:cNvSpPr/>
          <p:nvPr/>
        </p:nvSpPr>
        <p:spPr>
          <a:xfrm>
            <a:off x="5577840" y="1828800"/>
            <a:ext cx="2331720" cy="960120"/>
          </a:xfrm>
          <a:prstGeom prst="roundRect">
            <a:avLst>
              <a:gd name="adj" fmla="val 11429"/>
            </a:avLst>
          </a:prstGeom>
          <a:solidFill>
            <a:srgbClr val="0E2034"/>
          </a:solidFill>
          <a:ln w="12700">
            <a:solidFill>
              <a:srgbClr val="1B3853"/>
            </a:solidFill>
            <a:prstDash val="solid"/>
          </a:ln>
        </p:spPr>
      </p:sp>
      <p:sp>
        <p:nvSpPr>
          <p:cNvPr id="16" name="Text 14"/>
          <p:cNvSpPr/>
          <p:nvPr/>
        </p:nvSpPr>
        <p:spPr>
          <a:xfrm>
            <a:off x="5742432" y="1920240"/>
            <a:ext cx="20025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52D69C"/>
                </a:solidFill>
                <a:latin typeface="Aptos" pitchFamily="34" charset="0"/>
                <a:ea typeface="Aptos" pitchFamily="34" charset="-122"/>
                <a:cs typeface="Aptos" pitchFamily="34" charset="-120"/>
              </a:rPr>
              <a:t>Top 5</a:t>
            </a:r>
            <a:endParaRPr lang="en-US" sz="2300" dirty="0"/>
          </a:p>
        </p:txBody>
      </p:sp>
      <p:sp>
        <p:nvSpPr>
          <p:cNvPr id="17" name="Text 15"/>
          <p:cNvSpPr/>
          <p:nvPr/>
        </p:nvSpPr>
        <p:spPr>
          <a:xfrm>
            <a:off x="5742432" y="2286000"/>
            <a:ext cx="20025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Recommendations</a:t>
            </a:r>
            <a:endParaRPr lang="en-US" sz="1070" dirty="0"/>
          </a:p>
        </p:txBody>
      </p:sp>
      <p:sp>
        <p:nvSpPr>
          <p:cNvPr id="18" name="Text 16"/>
          <p:cNvSpPr/>
          <p:nvPr/>
        </p:nvSpPr>
        <p:spPr>
          <a:xfrm>
            <a:off x="5742432" y="2505456"/>
            <a:ext cx="20025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Prioritized actions</a:t>
            </a:r>
            <a:endParaRPr lang="en-US" sz="870" dirty="0"/>
          </a:p>
        </p:txBody>
      </p:sp>
      <p:sp>
        <p:nvSpPr>
          <p:cNvPr id="19" name="Shape 17"/>
          <p:cNvSpPr/>
          <p:nvPr/>
        </p:nvSpPr>
        <p:spPr>
          <a:xfrm>
            <a:off x="8092440" y="1828800"/>
            <a:ext cx="2331720" cy="960120"/>
          </a:xfrm>
          <a:prstGeom prst="roundRect">
            <a:avLst>
              <a:gd name="adj" fmla="val 11429"/>
            </a:avLst>
          </a:prstGeom>
          <a:solidFill>
            <a:srgbClr val="0E2034"/>
          </a:solidFill>
          <a:ln w="12700">
            <a:solidFill>
              <a:srgbClr val="1B3853"/>
            </a:solidFill>
            <a:prstDash val="solid"/>
          </a:ln>
        </p:spPr>
      </p:sp>
      <p:sp>
        <p:nvSpPr>
          <p:cNvPr id="20" name="Text 18"/>
          <p:cNvSpPr/>
          <p:nvPr/>
        </p:nvSpPr>
        <p:spPr>
          <a:xfrm>
            <a:off x="8257032" y="1920240"/>
            <a:ext cx="20025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F6B85A"/>
                </a:solidFill>
                <a:latin typeface="Aptos" pitchFamily="34" charset="0"/>
                <a:ea typeface="Aptos" pitchFamily="34" charset="-122"/>
                <a:cs typeface="Aptos" pitchFamily="34" charset="-120"/>
              </a:rPr>
              <a:t>Saved</a:t>
            </a:r>
            <a:endParaRPr lang="en-US" sz="2300" dirty="0"/>
          </a:p>
        </p:txBody>
      </p:sp>
      <p:sp>
        <p:nvSpPr>
          <p:cNvPr id="21" name="Text 19"/>
          <p:cNvSpPr/>
          <p:nvPr/>
        </p:nvSpPr>
        <p:spPr>
          <a:xfrm>
            <a:off x="8257032" y="2286000"/>
            <a:ext cx="20025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History</a:t>
            </a:r>
            <a:endParaRPr lang="en-US" sz="1070" dirty="0"/>
          </a:p>
        </p:txBody>
      </p:sp>
      <p:sp>
        <p:nvSpPr>
          <p:cNvPr id="22" name="Text 20"/>
          <p:cNvSpPr/>
          <p:nvPr/>
        </p:nvSpPr>
        <p:spPr>
          <a:xfrm>
            <a:off x="8257032" y="2505456"/>
            <a:ext cx="20025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Per-user persistence</a:t>
            </a:r>
            <a:endParaRPr lang="en-US" sz="870" dirty="0"/>
          </a:p>
        </p:txBody>
      </p:sp>
      <p:sp>
        <p:nvSpPr>
          <p:cNvPr id="23" name="Shape 21"/>
          <p:cNvSpPr/>
          <p:nvPr/>
        </p:nvSpPr>
        <p:spPr>
          <a:xfrm>
            <a:off x="548640" y="3246120"/>
            <a:ext cx="5212080" cy="2011680"/>
          </a:xfrm>
          <a:prstGeom prst="roundRect">
            <a:avLst>
              <a:gd name="adj" fmla="val 5455"/>
            </a:avLst>
          </a:prstGeom>
          <a:solidFill>
            <a:srgbClr val="0E2034"/>
          </a:solidFill>
          <a:ln w="12700">
            <a:solidFill>
              <a:srgbClr val="1B3853"/>
            </a:solidFill>
            <a:prstDash val="solid"/>
          </a:ln>
        </p:spPr>
      </p:sp>
      <p:sp>
        <p:nvSpPr>
          <p:cNvPr id="24" name="Text 22"/>
          <p:cNvSpPr/>
          <p:nvPr/>
        </p:nvSpPr>
        <p:spPr>
          <a:xfrm>
            <a:off x="777240" y="3456432"/>
            <a:ext cx="914400" cy="201168"/>
          </a:xfrm>
          <a:prstGeom prst="rect">
            <a:avLst/>
          </a:prstGeom>
          <a:noFill/>
          <a:ln/>
        </p:spPr>
        <p:txBody>
          <a:bodyPr wrap="square" lIns="0" tIns="0" rIns="0" bIns="0" rtlCol="0" anchor="ctr">
            <a:normAutofit/>
          </a:bodyPr>
          <a:lstStyle/>
          <a:p>
            <a:pPr marL="0" indent="0">
              <a:buNone/>
            </a:pPr>
            <a:r>
              <a:rPr lang="en-US" sz="1000" b="1" kern="0" spc="120" dirty="0">
                <a:solidFill>
                  <a:srgbClr val="35D0BA"/>
                </a:solidFill>
                <a:latin typeface="Aptos" pitchFamily="34" charset="0"/>
                <a:ea typeface="Aptos" pitchFamily="34" charset="-122"/>
                <a:cs typeface="Aptos" pitchFamily="34" charset="-120"/>
              </a:rPr>
              <a:t>INPUTS</a:t>
            </a:r>
            <a:endParaRPr lang="en-US" sz="1000" dirty="0"/>
          </a:p>
        </p:txBody>
      </p:sp>
      <p:sp>
        <p:nvSpPr>
          <p:cNvPr id="25" name="Shape 23"/>
          <p:cNvSpPr/>
          <p:nvPr/>
        </p:nvSpPr>
        <p:spPr>
          <a:xfrm>
            <a:off x="777240" y="3822192"/>
            <a:ext cx="1353312" cy="347472"/>
          </a:xfrm>
          <a:prstGeom prst="roundRect">
            <a:avLst>
              <a:gd name="adj" fmla="val 50000"/>
            </a:avLst>
          </a:prstGeom>
          <a:solidFill>
            <a:srgbClr val="35D0BA">
              <a:alpha val="15000"/>
            </a:srgbClr>
          </a:solidFill>
          <a:ln w="12700">
            <a:solidFill>
              <a:srgbClr val="35D0BA">
                <a:alpha val="30000"/>
              </a:srgbClr>
            </a:solidFill>
            <a:prstDash val="solid"/>
          </a:ln>
        </p:spPr>
      </p:sp>
      <p:sp>
        <p:nvSpPr>
          <p:cNvPr id="26" name="Text 24"/>
          <p:cNvSpPr/>
          <p:nvPr/>
        </p:nvSpPr>
        <p:spPr>
          <a:xfrm>
            <a:off x="832104" y="38404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35D0BA"/>
                </a:solidFill>
                <a:latin typeface="Aptos" pitchFamily="34" charset="0"/>
                <a:ea typeface="Aptos" pitchFamily="34" charset="-122"/>
                <a:cs typeface="Aptos" pitchFamily="34" charset="-120"/>
              </a:rPr>
              <a:t>Income</a:t>
            </a:r>
            <a:endParaRPr lang="en-US" sz="940" dirty="0"/>
          </a:p>
        </p:txBody>
      </p:sp>
      <p:sp>
        <p:nvSpPr>
          <p:cNvPr id="27" name="Shape 25"/>
          <p:cNvSpPr/>
          <p:nvPr/>
        </p:nvSpPr>
        <p:spPr>
          <a:xfrm>
            <a:off x="2286000" y="3822192"/>
            <a:ext cx="1353312" cy="347472"/>
          </a:xfrm>
          <a:prstGeom prst="roundRect">
            <a:avLst>
              <a:gd name="adj" fmla="val 50000"/>
            </a:avLst>
          </a:prstGeom>
          <a:solidFill>
            <a:srgbClr val="6CA8FF">
              <a:alpha val="15000"/>
            </a:srgbClr>
          </a:solidFill>
          <a:ln w="12700">
            <a:solidFill>
              <a:srgbClr val="6CA8FF">
                <a:alpha val="30000"/>
              </a:srgbClr>
            </a:solidFill>
            <a:prstDash val="solid"/>
          </a:ln>
        </p:spPr>
      </p:sp>
      <p:sp>
        <p:nvSpPr>
          <p:cNvPr id="28" name="Text 26"/>
          <p:cNvSpPr/>
          <p:nvPr/>
        </p:nvSpPr>
        <p:spPr>
          <a:xfrm>
            <a:off x="2340864" y="38404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6CA8FF"/>
                </a:solidFill>
                <a:latin typeface="Aptos" pitchFamily="34" charset="0"/>
                <a:ea typeface="Aptos" pitchFamily="34" charset="-122"/>
                <a:cs typeface="Aptos" pitchFamily="34" charset="-120"/>
              </a:rPr>
              <a:t>Expenses</a:t>
            </a:r>
            <a:endParaRPr lang="en-US" sz="940" dirty="0"/>
          </a:p>
        </p:txBody>
      </p:sp>
      <p:sp>
        <p:nvSpPr>
          <p:cNvPr id="29" name="Shape 27"/>
          <p:cNvSpPr/>
          <p:nvPr/>
        </p:nvSpPr>
        <p:spPr>
          <a:xfrm>
            <a:off x="3794760" y="3822192"/>
            <a:ext cx="1353312" cy="347472"/>
          </a:xfrm>
          <a:prstGeom prst="roundRect">
            <a:avLst>
              <a:gd name="adj" fmla="val 50000"/>
            </a:avLst>
          </a:prstGeom>
          <a:solidFill>
            <a:srgbClr val="A78BFA">
              <a:alpha val="15000"/>
            </a:srgbClr>
          </a:solidFill>
          <a:ln w="12700">
            <a:solidFill>
              <a:srgbClr val="A78BFA">
                <a:alpha val="30000"/>
              </a:srgbClr>
            </a:solidFill>
            <a:prstDash val="solid"/>
          </a:ln>
        </p:spPr>
      </p:sp>
      <p:sp>
        <p:nvSpPr>
          <p:cNvPr id="30" name="Text 28"/>
          <p:cNvSpPr/>
          <p:nvPr/>
        </p:nvSpPr>
        <p:spPr>
          <a:xfrm>
            <a:off x="3849624" y="38404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A78BFA"/>
                </a:solidFill>
                <a:latin typeface="Aptos" pitchFamily="34" charset="0"/>
                <a:ea typeface="Aptos" pitchFamily="34" charset="-122"/>
                <a:cs typeface="Aptos" pitchFamily="34" charset="-120"/>
              </a:rPr>
              <a:t>DTI</a:t>
            </a:r>
            <a:endParaRPr lang="en-US" sz="940" dirty="0"/>
          </a:p>
        </p:txBody>
      </p:sp>
      <p:sp>
        <p:nvSpPr>
          <p:cNvPr id="31" name="Shape 29"/>
          <p:cNvSpPr/>
          <p:nvPr/>
        </p:nvSpPr>
        <p:spPr>
          <a:xfrm>
            <a:off x="777240" y="4279392"/>
            <a:ext cx="1353312" cy="347472"/>
          </a:xfrm>
          <a:prstGeom prst="roundRect">
            <a:avLst>
              <a:gd name="adj" fmla="val 50000"/>
            </a:avLst>
          </a:prstGeom>
          <a:solidFill>
            <a:srgbClr val="35D0BA">
              <a:alpha val="15000"/>
            </a:srgbClr>
          </a:solidFill>
          <a:ln w="12700">
            <a:solidFill>
              <a:srgbClr val="35D0BA">
                <a:alpha val="30000"/>
              </a:srgbClr>
            </a:solidFill>
            <a:prstDash val="solid"/>
          </a:ln>
        </p:spPr>
      </p:sp>
      <p:sp>
        <p:nvSpPr>
          <p:cNvPr id="32" name="Text 30"/>
          <p:cNvSpPr/>
          <p:nvPr/>
        </p:nvSpPr>
        <p:spPr>
          <a:xfrm>
            <a:off x="832104" y="42976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35D0BA"/>
                </a:solidFill>
                <a:latin typeface="Aptos" pitchFamily="34" charset="0"/>
                <a:ea typeface="Aptos" pitchFamily="34" charset="-122"/>
                <a:cs typeface="Aptos" pitchFamily="34" charset="-120"/>
              </a:rPr>
              <a:t>Loan Payment</a:t>
            </a:r>
            <a:endParaRPr lang="en-US" sz="940" dirty="0"/>
          </a:p>
        </p:txBody>
      </p:sp>
      <p:sp>
        <p:nvSpPr>
          <p:cNvPr id="33" name="Shape 31"/>
          <p:cNvSpPr/>
          <p:nvPr/>
        </p:nvSpPr>
        <p:spPr>
          <a:xfrm>
            <a:off x="2286000" y="4279392"/>
            <a:ext cx="1353312" cy="347472"/>
          </a:xfrm>
          <a:prstGeom prst="roundRect">
            <a:avLst>
              <a:gd name="adj" fmla="val 50000"/>
            </a:avLst>
          </a:prstGeom>
          <a:solidFill>
            <a:srgbClr val="6CA8FF">
              <a:alpha val="15000"/>
            </a:srgbClr>
          </a:solidFill>
          <a:ln w="12700">
            <a:solidFill>
              <a:srgbClr val="6CA8FF">
                <a:alpha val="30000"/>
              </a:srgbClr>
            </a:solidFill>
            <a:prstDash val="solid"/>
          </a:ln>
        </p:spPr>
      </p:sp>
      <p:sp>
        <p:nvSpPr>
          <p:cNvPr id="34" name="Text 32"/>
          <p:cNvSpPr/>
          <p:nvPr/>
        </p:nvSpPr>
        <p:spPr>
          <a:xfrm>
            <a:off x="2340864" y="42976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6CA8FF"/>
                </a:solidFill>
                <a:latin typeface="Aptos" pitchFamily="34" charset="0"/>
                <a:ea typeface="Aptos" pitchFamily="34" charset="-122"/>
                <a:cs typeface="Aptos" pitchFamily="34" charset="-120"/>
              </a:rPr>
              <a:t>Investment</a:t>
            </a:r>
            <a:endParaRPr lang="en-US" sz="940" dirty="0"/>
          </a:p>
        </p:txBody>
      </p:sp>
      <p:sp>
        <p:nvSpPr>
          <p:cNvPr id="35" name="Shape 33"/>
          <p:cNvSpPr/>
          <p:nvPr/>
        </p:nvSpPr>
        <p:spPr>
          <a:xfrm>
            <a:off x="3794760" y="4279392"/>
            <a:ext cx="1353312" cy="347472"/>
          </a:xfrm>
          <a:prstGeom prst="roundRect">
            <a:avLst>
              <a:gd name="adj" fmla="val 50000"/>
            </a:avLst>
          </a:prstGeom>
          <a:solidFill>
            <a:srgbClr val="A78BFA">
              <a:alpha val="15000"/>
            </a:srgbClr>
          </a:solidFill>
          <a:ln w="12700">
            <a:solidFill>
              <a:srgbClr val="A78BFA">
                <a:alpha val="30000"/>
              </a:srgbClr>
            </a:solidFill>
            <a:prstDash val="solid"/>
          </a:ln>
        </p:spPr>
      </p:sp>
      <p:sp>
        <p:nvSpPr>
          <p:cNvPr id="36" name="Text 34"/>
          <p:cNvSpPr/>
          <p:nvPr/>
        </p:nvSpPr>
        <p:spPr>
          <a:xfrm>
            <a:off x="3849624" y="42976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A78BFA"/>
                </a:solidFill>
                <a:latin typeface="Aptos" pitchFamily="34" charset="0"/>
                <a:ea typeface="Aptos" pitchFamily="34" charset="-122"/>
                <a:cs typeface="Aptos" pitchFamily="34" charset="-120"/>
              </a:rPr>
              <a:t>Emergency Fund</a:t>
            </a:r>
            <a:endParaRPr lang="en-US" sz="940" dirty="0"/>
          </a:p>
        </p:txBody>
      </p:sp>
      <p:sp>
        <p:nvSpPr>
          <p:cNvPr id="37" name="Shape 35"/>
          <p:cNvSpPr/>
          <p:nvPr/>
        </p:nvSpPr>
        <p:spPr>
          <a:xfrm>
            <a:off x="777240" y="4736592"/>
            <a:ext cx="1353312" cy="347472"/>
          </a:xfrm>
          <a:prstGeom prst="roundRect">
            <a:avLst>
              <a:gd name="adj" fmla="val 50000"/>
            </a:avLst>
          </a:prstGeom>
          <a:solidFill>
            <a:srgbClr val="35D0BA">
              <a:alpha val="15000"/>
            </a:srgbClr>
          </a:solidFill>
          <a:ln w="12700">
            <a:solidFill>
              <a:srgbClr val="35D0BA">
                <a:alpha val="30000"/>
              </a:srgbClr>
            </a:solidFill>
            <a:prstDash val="solid"/>
          </a:ln>
        </p:spPr>
      </p:sp>
      <p:sp>
        <p:nvSpPr>
          <p:cNvPr id="38" name="Text 36"/>
          <p:cNvSpPr/>
          <p:nvPr/>
        </p:nvSpPr>
        <p:spPr>
          <a:xfrm>
            <a:off x="832104" y="47548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35D0BA"/>
                </a:solidFill>
                <a:latin typeface="Aptos" pitchFamily="34" charset="0"/>
                <a:ea typeface="Aptos" pitchFamily="34" charset="-122"/>
                <a:cs typeface="Aptos" pitchFamily="34" charset="-120"/>
              </a:rPr>
              <a:t>Credit Score</a:t>
            </a:r>
            <a:endParaRPr lang="en-US" sz="940" dirty="0"/>
          </a:p>
        </p:txBody>
      </p:sp>
      <p:sp>
        <p:nvSpPr>
          <p:cNvPr id="39" name="Shape 37"/>
          <p:cNvSpPr/>
          <p:nvPr/>
        </p:nvSpPr>
        <p:spPr>
          <a:xfrm>
            <a:off x="2286000" y="4736592"/>
            <a:ext cx="1353312" cy="347472"/>
          </a:xfrm>
          <a:prstGeom prst="roundRect">
            <a:avLst>
              <a:gd name="adj" fmla="val 50000"/>
            </a:avLst>
          </a:prstGeom>
          <a:solidFill>
            <a:srgbClr val="6CA8FF">
              <a:alpha val="15000"/>
            </a:srgbClr>
          </a:solidFill>
          <a:ln w="12700">
            <a:solidFill>
              <a:srgbClr val="6CA8FF">
                <a:alpha val="30000"/>
              </a:srgbClr>
            </a:solidFill>
            <a:prstDash val="solid"/>
          </a:ln>
        </p:spPr>
      </p:sp>
      <p:sp>
        <p:nvSpPr>
          <p:cNvPr id="40" name="Text 38"/>
          <p:cNvSpPr/>
          <p:nvPr/>
        </p:nvSpPr>
        <p:spPr>
          <a:xfrm>
            <a:off x="2340864" y="47548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6CA8FF"/>
                </a:solidFill>
                <a:latin typeface="Aptos" pitchFamily="34" charset="0"/>
                <a:ea typeface="Aptos" pitchFamily="34" charset="-122"/>
                <a:cs typeface="Aptos" pitchFamily="34" charset="-120"/>
              </a:rPr>
              <a:t>Budget Goal</a:t>
            </a:r>
            <a:endParaRPr lang="en-US" sz="940" dirty="0"/>
          </a:p>
        </p:txBody>
      </p:sp>
      <p:sp>
        <p:nvSpPr>
          <p:cNvPr id="41" name="Shape 39"/>
          <p:cNvSpPr/>
          <p:nvPr/>
        </p:nvSpPr>
        <p:spPr>
          <a:xfrm>
            <a:off x="3794760" y="4736592"/>
            <a:ext cx="1353312" cy="347472"/>
          </a:xfrm>
          <a:prstGeom prst="roundRect">
            <a:avLst>
              <a:gd name="adj" fmla="val 50000"/>
            </a:avLst>
          </a:prstGeom>
          <a:solidFill>
            <a:srgbClr val="A78BFA">
              <a:alpha val="15000"/>
            </a:srgbClr>
          </a:solidFill>
          <a:ln w="12700">
            <a:solidFill>
              <a:srgbClr val="A78BFA">
                <a:alpha val="30000"/>
              </a:srgbClr>
            </a:solidFill>
            <a:prstDash val="solid"/>
          </a:ln>
        </p:spPr>
      </p:sp>
      <p:sp>
        <p:nvSpPr>
          <p:cNvPr id="42" name="Text 40"/>
          <p:cNvSpPr/>
          <p:nvPr/>
        </p:nvSpPr>
        <p:spPr>
          <a:xfrm>
            <a:off x="3849624" y="4754880"/>
            <a:ext cx="1243584" cy="292608"/>
          </a:xfrm>
          <a:prstGeom prst="rect">
            <a:avLst/>
          </a:prstGeom>
          <a:noFill/>
          <a:ln/>
        </p:spPr>
        <p:txBody>
          <a:bodyPr wrap="square" lIns="0" tIns="0" rIns="0" bIns="0" rtlCol="0" anchor="ctr">
            <a:normAutofit/>
          </a:bodyPr>
          <a:lstStyle/>
          <a:p>
            <a:pPr marL="0" indent="0" algn="ctr">
              <a:buNone/>
            </a:pPr>
            <a:r>
              <a:rPr lang="en-US" sz="940" b="1" dirty="0">
                <a:solidFill>
                  <a:srgbClr val="A78BFA"/>
                </a:solidFill>
                <a:latin typeface="Aptos" pitchFamily="34" charset="0"/>
                <a:ea typeface="Aptos" pitchFamily="34" charset="-122"/>
                <a:cs typeface="Aptos" pitchFamily="34" charset="-120"/>
              </a:rPr>
              <a:t>Savings</a:t>
            </a:r>
            <a:endParaRPr lang="en-US" sz="940" dirty="0"/>
          </a:p>
        </p:txBody>
      </p:sp>
      <p:sp>
        <p:nvSpPr>
          <p:cNvPr id="43" name="Shape 41"/>
          <p:cNvSpPr/>
          <p:nvPr/>
        </p:nvSpPr>
        <p:spPr>
          <a:xfrm>
            <a:off x="6035040" y="3246120"/>
            <a:ext cx="5303520" cy="2011680"/>
          </a:xfrm>
          <a:prstGeom prst="roundRect">
            <a:avLst>
              <a:gd name="adj" fmla="val 5455"/>
            </a:avLst>
          </a:prstGeom>
          <a:solidFill>
            <a:srgbClr val="10283F"/>
          </a:solidFill>
          <a:ln w="12700">
            <a:solidFill>
              <a:srgbClr val="1B3853"/>
            </a:solidFill>
            <a:prstDash val="solid"/>
          </a:ln>
        </p:spPr>
      </p:sp>
      <p:sp>
        <p:nvSpPr>
          <p:cNvPr id="44" name="Text 42"/>
          <p:cNvSpPr/>
          <p:nvPr/>
        </p:nvSpPr>
        <p:spPr>
          <a:xfrm>
            <a:off x="6263640" y="3456432"/>
            <a:ext cx="914400" cy="201168"/>
          </a:xfrm>
          <a:prstGeom prst="rect">
            <a:avLst/>
          </a:prstGeom>
          <a:noFill/>
          <a:ln/>
        </p:spPr>
        <p:txBody>
          <a:bodyPr wrap="square" lIns="0" tIns="0" rIns="0" bIns="0" rtlCol="0" anchor="ctr">
            <a:normAutofit/>
          </a:bodyPr>
          <a:lstStyle/>
          <a:p>
            <a:pPr marL="0" indent="0">
              <a:buNone/>
            </a:pPr>
            <a:r>
              <a:rPr lang="en-US" sz="1000" b="1" kern="0" spc="120" dirty="0">
                <a:solidFill>
                  <a:srgbClr val="6CA8FF"/>
                </a:solidFill>
                <a:latin typeface="Aptos" pitchFamily="34" charset="0"/>
                <a:ea typeface="Aptos" pitchFamily="34" charset="-122"/>
                <a:cs typeface="Aptos" pitchFamily="34" charset="-120"/>
              </a:rPr>
              <a:t>OUTPUT</a:t>
            </a:r>
            <a:endParaRPr lang="en-US" sz="1000" dirty="0"/>
          </a:p>
        </p:txBody>
      </p:sp>
      <p:sp>
        <p:nvSpPr>
          <p:cNvPr id="45" name="Text 43"/>
          <p:cNvSpPr/>
          <p:nvPr/>
        </p:nvSpPr>
        <p:spPr>
          <a:xfrm>
            <a:off x="6263640" y="3858768"/>
            <a:ext cx="4800600" cy="1005840"/>
          </a:xfrm>
          <a:prstGeom prst="rect">
            <a:avLst/>
          </a:prstGeom>
          <a:noFill/>
          <a:ln/>
        </p:spPr>
        <p:txBody>
          <a:bodyPr wrap="square" lIns="0" tIns="0" rIns="0" bIns="0" rtlCol="0" anchor="t">
            <a:normAutofit/>
          </a:bodyPr>
          <a:lstStyle/>
          <a:p>
            <a:pPr marL="0" indent="0">
              <a:buNone/>
            </a:pPr>
            <a:r>
              <a:rPr lang="en-US" sz="1600" b="1" dirty="0">
                <a:solidFill>
                  <a:srgbClr val="F2F7FB"/>
                </a:solidFill>
                <a:latin typeface="Aptos" pitchFamily="34" charset="0"/>
                <a:ea typeface="Aptos" pitchFamily="34" charset="-122"/>
                <a:cs typeface="Aptos" pitchFamily="34" charset="-120"/>
              </a:rPr>
              <a:t>Score + level + component breakdown + key ratios + personalized recommendations + saved history</a:t>
            </a:r>
            <a:endParaRPr lang="en-US" sz="1600" dirty="0"/>
          </a:p>
        </p:txBody>
      </p:sp>
      <p:sp>
        <p:nvSpPr>
          <p:cNvPr id="46"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PERSONAL FINANCE</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How the 100-Point Health Score is Built</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Six transparent components make the score easy to explain in viva.</a:t>
            </a:r>
            <a:endParaRPr lang="en-US" sz="1350" dirty="0"/>
          </a:p>
        </p:txBody>
      </p:sp>
      <p:sp>
        <p:nvSpPr>
          <p:cNvPr id="5" name="Shape 3"/>
          <p:cNvSpPr/>
          <p:nvPr/>
        </p:nvSpPr>
        <p:spPr>
          <a:xfrm>
            <a:off x="9555480" y="384048"/>
            <a:ext cx="2157984" cy="310896"/>
          </a:xfrm>
          <a:prstGeom prst="roundRect">
            <a:avLst>
              <a:gd name="adj" fmla="val 47059"/>
            </a:avLst>
          </a:prstGeom>
          <a:solidFill>
            <a:srgbClr val="6CA8FF">
              <a:alpha val="18000"/>
            </a:srgbClr>
          </a:solidFill>
          <a:ln w="12700">
            <a:solidFill>
              <a:srgbClr val="6CA8FF">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6CA8FF"/>
                </a:solidFill>
                <a:latin typeface="Aptos" pitchFamily="34" charset="0"/>
                <a:ea typeface="Aptos" pitchFamily="34" charset="-122"/>
                <a:cs typeface="Aptos" pitchFamily="34" charset="-120"/>
              </a:rPr>
              <a:t>AJEET KUMAR</a:t>
            </a:r>
            <a:endParaRPr lang="en-US" sz="950" dirty="0"/>
          </a:p>
        </p:txBody>
      </p:sp>
      <p:sp>
        <p:nvSpPr>
          <p:cNvPr id="7" name="Shape 5"/>
          <p:cNvSpPr/>
          <p:nvPr/>
        </p:nvSpPr>
        <p:spPr>
          <a:xfrm>
            <a:off x="594360" y="1828800"/>
            <a:ext cx="2103120" cy="987552"/>
          </a:xfrm>
          <a:prstGeom prst="roundRect">
            <a:avLst>
              <a:gd name="adj" fmla="val 11111"/>
            </a:avLst>
          </a:prstGeom>
          <a:solidFill>
            <a:srgbClr val="0E2034"/>
          </a:solidFill>
          <a:ln w="12700">
            <a:solidFill>
              <a:srgbClr val="1B3853"/>
            </a:solidFill>
            <a:prstDash val="solid"/>
          </a:ln>
        </p:spPr>
      </p:sp>
      <p:sp>
        <p:nvSpPr>
          <p:cNvPr id="8" name="Text 6"/>
          <p:cNvSpPr/>
          <p:nvPr/>
        </p:nvSpPr>
        <p:spPr>
          <a:xfrm>
            <a:off x="731520" y="193852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35D0BA"/>
                </a:solidFill>
                <a:latin typeface="Aptos" pitchFamily="34" charset="0"/>
                <a:ea typeface="Aptos" pitchFamily="34" charset="-122"/>
                <a:cs typeface="Aptos" pitchFamily="34" charset="-120"/>
              </a:rPr>
              <a:t>25</a:t>
            </a:r>
            <a:endParaRPr lang="en-US" sz="2300" dirty="0"/>
          </a:p>
        </p:txBody>
      </p:sp>
      <p:sp>
        <p:nvSpPr>
          <p:cNvPr id="9" name="Text 7"/>
          <p:cNvSpPr/>
          <p:nvPr/>
        </p:nvSpPr>
        <p:spPr>
          <a:xfrm>
            <a:off x="1380744" y="2084832"/>
            <a:ext cx="1143000" cy="274320"/>
          </a:xfrm>
          <a:prstGeom prst="rect">
            <a:avLst/>
          </a:prstGeom>
          <a:noFill/>
          <a:ln/>
        </p:spPr>
        <p:txBody>
          <a:bodyPr wrap="square" lIns="0" tIns="0" rIns="0" bIns="0" rtlCol="0" anchor="ctr">
            <a:normAutofit/>
          </a:bodyPr>
          <a:lstStyle/>
          <a:p>
            <a:pPr marL="0" indent="0">
              <a:buNone/>
            </a:pPr>
            <a:r>
              <a:rPr lang="en-US" sz="1230" b="1" dirty="0">
                <a:solidFill>
                  <a:srgbClr val="F2F7FB"/>
                </a:solidFill>
                <a:latin typeface="Aptos" pitchFamily="34" charset="0"/>
                <a:ea typeface="Aptos" pitchFamily="34" charset="-122"/>
                <a:cs typeface="Aptos" pitchFamily="34" charset="-120"/>
              </a:rPr>
              <a:t>Cash Flow</a:t>
            </a:r>
            <a:endParaRPr lang="en-US" sz="1230" dirty="0"/>
          </a:p>
        </p:txBody>
      </p:sp>
      <p:sp>
        <p:nvSpPr>
          <p:cNvPr id="10" name="Shape 8"/>
          <p:cNvSpPr/>
          <p:nvPr/>
        </p:nvSpPr>
        <p:spPr>
          <a:xfrm>
            <a:off x="2926080" y="1828800"/>
            <a:ext cx="2103120" cy="987552"/>
          </a:xfrm>
          <a:prstGeom prst="roundRect">
            <a:avLst>
              <a:gd name="adj" fmla="val 11111"/>
            </a:avLst>
          </a:prstGeom>
          <a:solidFill>
            <a:srgbClr val="0E2034"/>
          </a:solidFill>
          <a:ln w="12700">
            <a:solidFill>
              <a:srgbClr val="1B3853"/>
            </a:solidFill>
            <a:prstDash val="solid"/>
          </a:ln>
        </p:spPr>
      </p:sp>
      <p:sp>
        <p:nvSpPr>
          <p:cNvPr id="11" name="Text 9"/>
          <p:cNvSpPr/>
          <p:nvPr/>
        </p:nvSpPr>
        <p:spPr>
          <a:xfrm>
            <a:off x="3063240" y="193852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6CA8FF"/>
                </a:solidFill>
                <a:latin typeface="Aptos" pitchFamily="34" charset="0"/>
                <a:ea typeface="Aptos" pitchFamily="34" charset="-122"/>
                <a:cs typeface="Aptos" pitchFamily="34" charset="-120"/>
              </a:rPr>
              <a:t>20</a:t>
            </a:r>
            <a:endParaRPr lang="en-US" sz="2300" dirty="0"/>
          </a:p>
        </p:txBody>
      </p:sp>
      <p:sp>
        <p:nvSpPr>
          <p:cNvPr id="12" name="Text 10"/>
          <p:cNvSpPr/>
          <p:nvPr/>
        </p:nvSpPr>
        <p:spPr>
          <a:xfrm>
            <a:off x="3712464" y="2084832"/>
            <a:ext cx="1143000" cy="274320"/>
          </a:xfrm>
          <a:prstGeom prst="rect">
            <a:avLst/>
          </a:prstGeom>
          <a:noFill/>
          <a:ln/>
        </p:spPr>
        <p:txBody>
          <a:bodyPr wrap="square" lIns="0" tIns="0" rIns="0" bIns="0" rtlCol="0" anchor="ctr">
            <a:normAutofit/>
          </a:bodyPr>
          <a:lstStyle/>
          <a:p>
            <a:pPr marL="0" indent="0">
              <a:buNone/>
            </a:pPr>
            <a:r>
              <a:rPr lang="en-US" sz="1230" b="1" dirty="0">
                <a:solidFill>
                  <a:srgbClr val="F2F7FB"/>
                </a:solidFill>
                <a:latin typeface="Aptos" pitchFamily="34" charset="0"/>
                <a:ea typeface="Aptos" pitchFamily="34" charset="-122"/>
                <a:cs typeface="Aptos" pitchFamily="34" charset="-120"/>
              </a:rPr>
              <a:t>Debt Health</a:t>
            </a:r>
            <a:endParaRPr lang="en-US" sz="1230" dirty="0"/>
          </a:p>
        </p:txBody>
      </p:sp>
      <p:sp>
        <p:nvSpPr>
          <p:cNvPr id="13" name="Shape 11"/>
          <p:cNvSpPr/>
          <p:nvPr/>
        </p:nvSpPr>
        <p:spPr>
          <a:xfrm>
            <a:off x="5257800" y="1828800"/>
            <a:ext cx="2103120" cy="987552"/>
          </a:xfrm>
          <a:prstGeom prst="roundRect">
            <a:avLst>
              <a:gd name="adj" fmla="val 11111"/>
            </a:avLst>
          </a:prstGeom>
          <a:solidFill>
            <a:srgbClr val="0E2034"/>
          </a:solidFill>
          <a:ln w="12700">
            <a:solidFill>
              <a:srgbClr val="1B3853"/>
            </a:solidFill>
            <a:prstDash val="solid"/>
          </a:ln>
        </p:spPr>
      </p:sp>
      <p:sp>
        <p:nvSpPr>
          <p:cNvPr id="14" name="Text 12"/>
          <p:cNvSpPr/>
          <p:nvPr/>
        </p:nvSpPr>
        <p:spPr>
          <a:xfrm>
            <a:off x="5394960" y="193852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52D69C"/>
                </a:solidFill>
                <a:latin typeface="Aptos" pitchFamily="34" charset="0"/>
                <a:ea typeface="Aptos" pitchFamily="34" charset="-122"/>
                <a:cs typeface="Aptos" pitchFamily="34" charset="-120"/>
              </a:rPr>
              <a:t>20</a:t>
            </a:r>
            <a:endParaRPr lang="en-US" sz="2300" dirty="0"/>
          </a:p>
        </p:txBody>
      </p:sp>
      <p:sp>
        <p:nvSpPr>
          <p:cNvPr id="15" name="Text 13"/>
          <p:cNvSpPr/>
          <p:nvPr/>
        </p:nvSpPr>
        <p:spPr>
          <a:xfrm>
            <a:off x="6044184" y="2084832"/>
            <a:ext cx="1143000" cy="274320"/>
          </a:xfrm>
          <a:prstGeom prst="rect">
            <a:avLst/>
          </a:prstGeom>
          <a:noFill/>
          <a:ln/>
        </p:spPr>
        <p:txBody>
          <a:bodyPr wrap="square" lIns="0" tIns="0" rIns="0" bIns="0" rtlCol="0" anchor="ctr">
            <a:normAutofit fontScale="92500"/>
          </a:bodyPr>
          <a:lstStyle/>
          <a:p>
            <a:pPr marL="0" indent="0">
              <a:buNone/>
            </a:pPr>
            <a:r>
              <a:rPr lang="en-US" sz="1230" b="1" dirty="0">
                <a:solidFill>
                  <a:srgbClr val="F2F7FB"/>
                </a:solidFill>
                <a:latin typeface="Aptos" pitchFamily="34" charset="0"/>
                <a:ea typeface="Aptos" pitchFamily="34" charset="-122"/>
                <a:cs typeface="Aptos" pitchFamily="34" charset="-120"/>
              </a:rPr>
              <a:t>Emergency Fund</a:t>
            </a:r>
            <a:endParaRPr lang="en-US" sz="1230" dirty="0"/>
          </a:p>
        </p:txBody>
      </p:sp>
      <p:sp>
        <p:nvSpPr>
          <p:cNvPr id="16" name="Shape 14"/>
          <p:cNvSpPr/>
          <p:nvPr/>
        </p:nvSpPr>
        <p:spPr>
          <a:xfrm>
            <a:off x="594360" y="3063240"/>
            <a:ext cx="2103120" cy="987552"/>
          </a:xfrm>
          <a:prstGeom prst="roundRect">
            <a:avLst>
              <a:gd name="adj" fmla="val 11111"/>
            </a:avLst>
          </a:prstGeom>
          <a:solidFill>
            <a:srgbClr val="0E2034"/>
          </a:solidFill>
          <a:ln w="12700">
            <a:solidFill>
              <a:srgbClr val="1B3853"/>
            </a:solidFill>
            <a:prstDash val="solid"/>
          </a:ln>
        </p:spPr>
      </p:sp>
      <p:sp>
        <p:nvSpPr>
          <p:cNvPr id="17" name="Text 15"/>
          <p:cNvSpPr/>
          <p:nvPr/>
        </p:nvSpPr>
        <p:spPr>
          <a:xfrm>
            <a:off x="731520" y="317296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A78BFA"/>
                </a:solidFill>
                <a:latin typeface="Aptos" pitchFamily="34" charset="0"/>
                <a:ea typeface="Aptos" pitchFamily="34" charset="-122"/>
                <a:cs typeface="Aptos" pitchFamily="34" charset="-120"/>
              </a:rPr>
              <a:t>15</a:t>
            </a:r>
            <a:endParaRPr lang="en-US" sz="2300" dirty="0"/>
          </a:p>
        </p:txBody>
      </p:sp>
      <p:sp>
        <p:nvSpPr>
          <p:cNvPr id="18" name="Text 16"/>
          <p:cNvSpPr/>
          <p:nvPr/>
        </p:nvSpPr>
        <p:spPr>
          <a:xfrm>
            <a:off x="1380744" y="3319272"/>
            <a:ext cx="1143000" cy="274320"/>
          </a:xfrm>
          <a:prstGeom prst="rect">
            <a:avLst/>
          </a:prstGeom>
          <a:noFill/>
          <a:ln/>
        </p:spPr>
        <p:txBody>
          <a:bodyPr wrap="square" lIns="0" tIns="0" rIns="0" bIns="0" rtlCol="0" anchor="ctr">
            <a:normAutofit fontScale="92500"/>
          </a:bodyPr>
          <a:lstStyle/>
          <a:p>
            <a:pPr marL="0" indent="0">
              <a:buNone/>
            </a:pPr>
            <a:r>
              <a:rPr lang="en-US" sz="1230" b="1" dirty="0">
                <a:solidFill>
                  <a:srgbClr val="F2F7FB"/>
                </a:solidFill>
                <a:latin typeface="Aptos" pitchFamily="34" charset="0"/>
                <a:ea typeface="Aptos" pitchFamily="34" charset="-122"/>
                <a:cs typeface="Aptos" pitchFamily="34" charset="-120"/>
              </a:rPr>
              <a:t>Savings Progress</a:t>
            </a:r>
            <a:endParaRPr lang="en-US" sz="1230" dirty="0"/>
          </a:p>
        </p:txBody>
      </p:sp>
      <p:sp>
        <p:nvSpPr>
          <p:cNvPr id="19" name="Shape 17"/>
          <p:cNvSpPr/>
          <p:nvPr/>
        </p:nvSpPr>
        <p:spPr>
          <a:xfrm>
            <a:off x="2926080" y="3063240"/>
            <a:ext cx="2103120" cy="987552"/>
          </a:xfrm>
          <a:prstGeom prst="roundRect">
            <a:avLst>
              <a:gd name="adj" fmla="val 11111"/>
            </a:avLst>
          </a:prstGeom>
          <a:solidFill>
            <a:srgbClr val="0E2034"/>
          </a:solidFill>
          <a:ln w="12700">
            <a:solidFill>
              <a:srgbClr val="1B3853"/>
            </a:solidFill>
            <a:prstDash val="solid"/>
          </a:ln>
        </p:spPr>
      </p:sp>
      <p:sp>
        <p:nvSpPr>
          <p:cNvPr id="20" name="Text 18"/>
          <p:cNvSpPr/>
          <p:nvPr/>
        </p:nvSpPr>
        <p:spPr>
          <a:xfrm>
            <a:off x="3063240" y="317296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F6B85A"/>
                </a:solidFill>
                <a:latin typeface="Aptos" pitchFamily="34" charset="0"/>
                <a:ea typeface="Aptos" pitchFamily="34" charset="-122"/>
                <a:cs typeface="Aptos" pitchFamily="34" charset="-120"/>
              </a:rPr>
              <a:t>10</a:t>
            </a:r>
            <a:endParaRPr lang="en-US" sz="2300" dirty="0"/>
          </a:p>
        </p:txBody>
      </p:sp>
      <p:sp>
        <p:nvSpPr>
          <p:cNvPr id="21" name="Text 19"/>
          <p:cNvSpPr/>
          <p:nvPr/>
        </p:nvSpPr>
        <p:spPr>
          <a:xfrm>
            <a:off x="3712464" y="3319272"/>
            <a:ext cx="1143000" cy="274320"/>
          </a:xfrm>
          <a:prstGeom prst="rect">
            <a:avLst/>
          </a:prstGeom>
          <a:noFill/>
          <a:ln/>
        </p:spPr>
        <p:txBody>
          <a:bodyPr wrap="square" lIns="0" tIns="0" rIns="0" bIns="0" rtlCol="0" anchor="ctr">
            <a:normAutofit/>
          </a:bodyPr>
          <a:lstStyle/>
          <a:p>
            <a:pPr marL="0" indent="0">
              <a:buNone/>
            </a:pPr>
            <a:r>
              <a:rPr lang="en-US" sz="1230" b="1" dirty="0">
                <a:solidFill>
                  <a:srgbClr val="F2F7FB"/>
                </a:solidFill>
                <a:latin typeface="Aptos" pitchFamily="34" charset="0"/>
                <a:ea typeface="Aptos" pitchFamily="34" charset="-122"/>
                <a:cs typeface="Aptos" pitchFamily="34" charset="-120"/>
              </a:rPr>
              <a:t>Investment</a:t>
            </a:r>
            <a:endParaRPr lang="en-US" sz="1230" dirty="0"/>
          </a:p>
        </p:txBody>
      </p:sp>
      <p:sp>
        <p:nvSpPr>
          <p:cNvPr id="22" name="Shape 20"/>
          <p:cNvSpPr/>
          <p:nvPr/>
        </p:nvSpPr>
        <p:spPr>
          <a:xfrm>
            <a:off x="5257800" y="3063240"/>
            <a:ext cx="2103120" cy="987552"/>
          </a:xfrm>
          <a:prstGeom prst="roundRect">
            <a:avLst>
              <a:gd name="adj" fmla="val 11111"/>
            </a:avLst>
          </a:prstGeom>
          <a:solidFill>
            <a:srgbClr val="0E2034"/>
          </a:solidFill>
          <a:ln w="12700">
            <a:solidFill>
              <a:srgbClr val="1B3853"/>
            </a:solidFill>
            <a:prstDash val="solid"/>
          </a:ln>
        </p:spPr>
      </p:sp>
      <p:sp>
        <p:nvSpPr>
          <p:cNvPr id="23" name="Text 21"/>
          <p:cNvSpPr/>
          <p:nvPr/>
        </p:nvSpPr>
        <p:spPr>
          <a:xfrm>
            <a:off x="5394960" y="3172968"/>
            <a:ext cx="594360" cy="411480"/>
          </a:xfrm>
          <a:prstGeom prst="rect">
            <a:avLst/>
          </a:prstGeom>
          <a:noFill/>
          <a:ln/>
        </p:spPr>
        <p:txBody>
          <a:bodyPr wrap="square" lIns="0" tIns="0" rIns="0" bIns="0" rtlCol="0" anchor="ctr">
            <a:normAutofit/>
          </a:bodyPr>
          <a:lstStyle/>
          <a:p>
            <a:pPr marL="0" indent="0" algn="ctr">
              <a:buNone/>
            </a:pPr>
            <a:r>
              <a:rPr lang="en-US" sz="2300" b="1" dirty="0">
                <a:solidFill>
                  <a:srgbClr val="FFD978"/>
                </a:solidFill>
                <a:latin typeface="Aptos" pitchFamily="34" charset="0"/>
                <a:ea typeface="Aptos" pitchFamily="34" charset="-122"/>
                <a:cs typeface="Aptos" pitchFamily="34" charset="-120"/>
              </a:rPr>
              <a:t>10</a:t>
            </a:r>
            <a:endParaRPr lang="en-US" sz="2300" dirty="0"/>
          </a:p>
        </p:txBody>
      </p:sp>
      <p:sp>
        <p:nvSpPr>
          <p:cNvPr id="24" name="Text 22"/>
          <p:cNvSpPr/>
          <p:nvPr/>
        </p:nvSpPr>
        <p:spPr>
          <a:xfrm>
            <a:off x="6044184" y="3319272"/>
            <a:ext cx="1143000" cy="274320"/>
          </a:xfrm>
          <a:prstGeom prst="rect">
            <a:avLst/>
          </a:prstGeom>
          <a:noFill/>
          <a:ln/>
        </p:spPr>
        <p:txBody>
          <a:bodyPr wrap="square" lIns="0" tIns="0" rIns="0" bIns="0" rtlCol="0" anchor="ctr">
            <a:normAutofit/>
          </a:bodyPr>
          <a:lstStyle/>
          <a:p>
            <a:pPr marL="0" indent="0">
              <a:buNone/>
            </a:pPr>
            <a:r>
              <a:rPr lang="en-US" sz="1230" b="1" dirty="0">
                <a:solidFill>
                  <a:srgbClr val="F2F7FB"/>
                </a:solidFill>
                <a:latin typeface="Aptos" pitchFamily="34" charset="0"/>
                <a:ea typeface="Aptos" pitchFamily="34" charset="-122"/>
                <a:cs typeface="Aptos" pitchFamily="34" charset="-120"/>
              </a:rPr>
              <a:t>Credit</a:t>
            </a:r>
            <a:endParaRPr lang="en-US" sz="1230" dirty="0"/>
          </a:p>
        </p:txBody>
      </p:sp>
      <p:sp>
        <p:nvSpPr>
          <p:cNvPr id="25" name="Shape 23"/>
          <p:cNvSpPr/>
          <p:nvPr/>
        </p:nvSpPr>
        <p:spPr>
          <a:xfrm>
            <a:off x="7818120" y="1828800"/>
            <a:ext cx="3337560" cy="2240280"/>
          </a:xfrm>
          <a:prstGeom prst="roundRect">
            <a:avLst>
              <a:gd name="adj" fmla="val 4898"/>
            </a:avLst>
          </a:prstGeom>
          <a:solidFill>
            <a:srgbClr val="10283F"/>
          </a:solidFill>
          <a:ln w="12700">
            <a:solidFill>
              <a:srgbClr val="1B3853"/>
            </a:solidFill>
            <a:prstDash val="solid"/>
          </a:ln>
        </p:spPr>
      </p:sp>
      <p:sp>
        <p:nvSpPr>
          <p:cNvPr id="26" name="Text 24"/>
          <p:cNvSpPr/>
          <p:nvPr/>
        </p:nvSpPr>
        <p:spPr>
          <a:xfrm>
            <a:off x="8092440" y="2011680"/>
            <a:ext cx="1325880" cy="822960"/>
          </a:xfrm>
          <a:prstGeom prst="rect">
            <a:avLst/>
          </a:prstGeom>
          <a:noFill/>
          <a:ln/>
        </p:spPr>
        <p:txBody>
          <a:bodyPr wrap="square" lIns="0" tIns="0" rIns="0" bIns="0" rtlCol="0" anchor="ctr">
            <a:normAutofit/>
          </a:bodyPr>
          <a:lstStyle/>
          <a:p>
            <a:pPr marL="0" indent="0" algn="ctr">
              <a:buNone/>
            </a:pPr>
            <a:r>
              <a:rPr lang="en-US" sz="4400" b="1" dirty="0">
                <a:solidFill>
                  <a:srgbClr val="35D0BA"/>
                </a:solidFill>
                <a:latin typeface="Aptos" pitchFamily="34" charset="0"/>
                <a:ea typeface="Aptos" pitchFamily="34" charset="-122"/>
                <a:cs typeface="Aptos" pitchFamily="34" charset="-120"/>
              </a:rPr>
              <a:t>77</a:t>
            </a:r>
            <a:endParaRPr lang="en-US" sz="4400" dirty="0"/>
          </a:p>
        </p:txBody>
      </p:sp>
      <p:sp>
        <p:nvSpPr>
          <p:cNvPr id="27" name="Text 25"/>
          <p:cNvSpPr/>
          <p:nvPr/>
        </p:nvSpPr>
        <p:spPr>
          <a:xfrm>
            <a:off x="9217152" y="2359152"/>
            <a:ext cx="1143000" cy="320040"/>
          </a:xfrm>
          <a:prstGeom prst="rect">
            <a:avLst/>
          </a:prstGeom>
          <a:noFill/>
          <a:ln/>
        </p:spPr>
        <p:txBody>
          <a:bodyPr wrap="square" lIns="0" tIns="0" rIns="0" bIns="0" rtlCol="0" anchor="ctr">
            <a:normAutofit/>
          </a:bodyPr>
          <a:lstStyle/>
          <a:p>
            <a:pPr marL="0" indent="0">
              <a:buNone/>
            </a:pPr>
            <a:r>
              <a:rPr lang="en-US" sz="1800" b="1" dirty="0">
                <a:solidFill>
                  <a:srgbClr val="93A8BB"/>
                </a:solidFill>
                <a:latin typeface="Aptos" pitchFamily="34" charset="0"/>
                <a:ea typeface="Aptos" pitchFamily="34" charset="-122"/>
                <a:cs typeface="Aptos" pitchFamily="34" charset="-120"/>
              </a:rPr>
              <a:t>/ 100</a:t>
            </a:r>
            <a:endParaRPr lang="en-US" sz="1800" dirty="0"/>
          </a:p>
        </p:txBody>
      </p:sp>
      <p:sp>
        <p:nvSpPr>
          <p:cNvPr id="28" name="Text 26"/>
          <p:cNvSpPr/>
          <p:nvPr/>
        </p:nvSpPr>
        <p:spPr>
          <a:xfrm>
            <a:off x="8275320" y="2962656"/>
            <a:ext cx="1920240" cy="347472"/>
          </a:xfrm>
          <a:prstGeom prst="rect">
            <a:avLst/>
          </a:prstGeom>
          <a:noFill/>
          <a:ln/>
        </p:spPr>
        <p:txBody>
          <a:bodyPr wrap="square" lIns="0" tIns="0" rIns="0" bIns="0" rtlCol="0" anchor="ctr">
            <a:normAutofit/>
          </a:bodyPr>
          <a:lstStyle/>
          <a:p>
            <a:pPr marL="0" indent="0" algn="ctr">
              <a:buNone/>
            </a:pPr>
            <a:r>
              <a:rPr lang="en-US" sz="2000" b="1" dirty="0">
                <a:solidFill>
                  <a:srgbClr val="52D69C"/>
                </a:solidFill>
                <a:latin typeface="Aptos" pitchFamily="34" charset="0"/>
                <a:ea typeface="Aptos" pitchFamily="34" charset="-122"/>
                <a:cs typeface="Aptos" pitchFamily="34" charset="-120"/>
              </a:rPr>
              <a:t>GOOD</a:t>
            </a:r>
            <a:endParaRPr lang="en-US" sz="2000" dirty="0"/>
          </a:p>
        </p:txBody>
      </p:sp>
      <p:sp>
        <p:nvSpPr>
          <p:cNvPr id="29" name="Text 27"/>
          <p:cNvSpPr/>
          <p:nvPr/>
        </p:nvSpPr>
        <p:spPr>
          <a:xfrm>
            <a:off x="8092440" y="3419856"/>
            <a:ext cx="2788920" cy="256032"/>
          </a:xfrm>
          <a:prstGeom prst="rect">
            <a:avLst/>
          </a:prstGeom>
          <a:noFill/>
          <a:ln/>
        </p:spPr>
        <p:txBody>
          <a:bodyPr wrap="square" lIns="0" tIns="0" rIns="0" bIns="0" rtlCol="0" anchor="ctr">
            <a:normAutofit/>
          </a:bodyPr>
          <a:lstStyle/>
          <a:p>
            <a:pPr marL="0" indent="0" algn="ctr">
              <a:buNone/>
            </a:pPr>
            <a:r>
              <a:rPr lang="en-US" sz="1000" dirty="0">
                <a:solidFill>
                  <a:srgbClr val="93A8BB"/>
                </a:solidFill>
                <a:latin typeface="Aptos" pitchFamily="34" charset="0"/>
                <a:ea typeface="Aptos" pitchFamily="34" charset="-122"/>
                <a:cs typeface="Aptos" pitchFamily="34" charset="-120"/>
              </a:rPr>
              <a:t>Example integration smoke test</a:t>
            </a:r>
            <a:endParaRPr lang="en-US" sz="1000" dirty="0"/>
          </a:p>
        </p:txBody>
      </p:sp>
      <p:sp>
        <p:nvSpPr>
          <p:cNvPr id="30" name="Shape 28"/>
          <p:cNvSpPr/>
          <p:nvPr/>
        </p:nvSpPr>
        <p:spPr>
          <a:xfrm>
            <a:off x="594360" y="4572000"/>
            <a:ext cx="10561320" cy="777240"/>
          </a:xfrm>
          <a:prstGeom prst="roundRect">
            <a:avLst>
              <a:gd name="adj" fmla="val 14118"/>
            </a:avLst>
          </a:prstGeom>
          <a:solidFill>
            <a:srgbClr val="0A192A"/>
          </a:solidFill>
          <a:ln w="12700">
            <a:solidFill>
              <a:srgbClr val="1B3853"/>
            </a:solidFill>
            <a:prstDash val="solid"/>
          </a:ln>
        </p:spPr>
      </p:sp>
      <p:sp>
        <p:nvSpPr>
          <p:cNvPr id="31" name="Text 29"/>
          <p:cNvSpPr/>
          <p:nvPr/>
        </p:nvSpPr>
        <p:spPr>
          <a:xfrm>
            <a:off x="841248" y="4709160"/>
            <a:ext cx="1554480" cy="201168"/>
          </a:xfrm>
          <a:prstGeom prst="rect">
            <a:avLst/>
          </a:prstGeom>
          <a:noFill/>
          <a:ln/>
        </p:spPr>
        <p:txBody>
          <a:bodyPr wrap="square" lIns="0" tIns="0" rIns="0" bIns="0" rtlCol="0" anchor="ctr">
            <a:normAutofit/>
          </a:bodyPr>
          <a:lstStyle/>
          <a:p>
            <a:pPr marL="0" indent="0">
              <a:buNone/>
            </a:pPr>
            <a:r>
              <a:rPr lang="en-US" sz="1000" b="1" dirty="0">
                <a:solidFill>
                  <a:srgbClr val="F6B85A"/>
                </a:solidFill>
                <a:latin typeface="Aptos" pitchFamily="34" charset="0"/>
                <a:ea typeface="Aptos" pitchFamily="34" charset="-122"/>
                <a:cs typeface="Aptos" pitchFamily="34" charset="-120"/>
              </a:rPr>
              <a:t>Recommendation example</a:t>
            </a:r>
            <a:endParaRPr lang="en-US" sz="1000" dirty="0"/>
          </a:p>
        </p:txBody>
      </p:sp>
      <p:sp>
        <p:nvSpPr>
          <p:cNvPr id="32" name="Text 30"/>
          <p:cNvSpPr/>
          <p:nvPr/>
        </p:nvSpPr>
        <p:spPr>
          <a:xfrm>
            <a:off x="2514600" y="4663440"/>
            <a:ext cx="8183880" cy="310896"/>
          </a:xfrm>
          <a:prstGeom prst="rect">
            <a:avLst/>
          </a:prstGeom>
          <a:noFill/>
          <a:ln/>
        </p:spPr>
        <p:txBody>
          <a:bodyPr wrap="square" lIns="0" tIns="0" rIns="0" bIns="0" rtlCol="0" anchor="ctr">
            <a:normAutofit/>
          </a:bodyPr>
          <a:lstStyle/>
          <a:p>
            <a:pPr marL="0" indent="0" algn="ctr">
              <a:buNone/>
            </a:pPr>
            <a:r>
              <a:rPr lang="en-US" sz="1400" b="1" dirty="0">
                <a:solidFill>
                  <a:srgbClr val="F2F7FB"/>
                </a:solidFill>
                <a:latin typeface="Aptos" pitchFamily="34" charset="0"/>
                <a:ea typeface="Aptos" pitchFamily="34" charset="-122"/>
                <a:cs typeface="Aptos" pitchFamily="34" charset="-120"/>
              </a:rPr>
              <a:t>“Maintain controlled expenses, emergency savings and regular investing.”</a:t>
            </a:r>
            <a:endParaRPr lang="en-US" sz="1400" dirty="0"/>
          </a:p>
        </p:txBody>
      </p:sp>
      <p:sp>
        <p:nvSpPr>
          <p:cNvPr id="33"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LIVE DEMO</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Personal Finance — From Input to Saved Insight</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Use prefilled values; keep the demo under 60 seconds.</a:t>
            </a:r>
            <a:endParaRPr lang="en-US" sz="1350" dirty="0"/>
          </a:p>
        </p:txBody>
      </p:sp>
      <p:sp>
        <p:nvSpPr>
          <p:cNvPr id="5" name="Shape 3"/>
          <p:cNvSpPr/>
          <p:nvPr/>
        </p:nvSpPr>
        <p:spPr>
          <a:xfrm>
            <a:off x="9555480" y="384048"/>
            <a:ext cx="2157984" cy="310896"/>
          </a:xfrm>
          <a:prstGeom prst="roundRect">
            <a:avLst>
              <a:gd name="adj" fmla="val 47059"/>
            </a:avLst>
          </a:prstGeom>
          <a:solidFill>
            <a:srgbClr val="6CA8FF">
              <a:alpha val="18000"/>
            </a:srgbClr>
          </a:solidFill>
          <a:ln w="12700">
            <a:solidFill>
              <a:srgbClr val="6CA8FF">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6CA8FF"/>
                </a:solidFill>
                <a:latin typeface="Aptos" pitchFamily="34" charset="0"/>
                <a:ea typeface="Aptos" pitchFamily="34" charset="-122"/>
                <a:cs typeface="Aptos" pitchFamily="34" charset="-120"/>
              </a:rPr>
              <a:t>AJEET KUMAR</a:t>
            </a:r>
            <a:endParaRPr lang="en-US" sz="950" dirty="0"/>
          </a:p>
        </p:txBody>
      </p:sp>
      <p:sp>
        <p:nvSpPr>
          <p:cNvPr id="7" name="Shape 5"/>
          <p:cNvSpPr/>
          <p:nvPr/>
        </p:nvSpPr>
        <p:spPr>
          <a:xfrm>
            <a:off x="658368" y="1920240"/>
            <a:ext cx="3154680" cy="1097280"/>
          </a:xfrm>
          <a:prstGeom prst="roundRect">
            <a:avLst>
              <a:gd name="adj" fmla="val 10000"/>
            </a:avLst>
          </a:prstGeom>
          <a:solidFill>
            <a:srgbClr val="0E2034"/>
          </a:solidFill>
          <a:ln w="12700">
            <a:solidFill>
              <a:srgbClr val="1B3853"/>
            </a:solidFill>
            <a:prstDash val="solid"/>
          </a:ln>
        </p:spPr>
      </p:sp>
      <p:sp>
        <p:nvSpPr>
          <p:cNvPr id="8" name="Text 6"/>
          <p:cNvSpPr/>
          <p:nvPr/>
        </p:nvSpPr>
        <p:spPr>
          <a:xfrm>
            <a:off x="822960" y="208483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01</a:t>
            </a:r>
            <a:endParaRPr lang="en-US" sz="1600" dirty="0"/>
          </a:p>
        </p:txBody>
      </p:sp>
      <p:sp>
        <p:nvSpPr>
          <p:cNvPr id="9" name="Text 7"/>
          <p:cNvSpPr/>
          <p:nvPr/>
        </p:nvSpPr>
        <p:spPr>
          <a:xfrm>
            <a:off x="1371600" y="212140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Open Personal Finance</a:t>
            </a:r>
            <a:endParaRPr lang="en-US" sz="1300" dirty="0"/>
          </a:p>
        </p:txBody>
      </p:sp>
      <p:sp>
        <p:nvSpPr>
          <p:cNvPr id="10" name="Shape 8"/>
          <p:cNvSpPr/>
          <p:nvPr/>
        </p:nvSpPr>
        <p:spPr>
          <a:xfrm>
            <a:off x="4315968" y="1920240"/>
            <a:ext cx="3154680" cy="1097280"/>
          </a:xfrm>
          <a:prstGeom prst="roundRect">
            <a:avLst>
              <a:gd name="adj" fmla="val 10000"/>
            </a:avLst>
          </a:prstGeom>
          <a:solidFill>
            <a:srgbClr val="0E2034"/>
          </a:solidFill>
          <a:ln w="12700">
            <a:solidFill>
              <a:srgbClr val="1B3853"/>
            </a:solidFill>
            <a:prstDash val="solid"/>
          </a:ln>
        </p:spPr>
      </p:sp>
      <p:sp>
        <p:nvSpPr>
          <p:cNvPr id="11" name="Text 9"/>
          <p:cNvSpPr/>
          <p:nvPr/>
        </p:nvSpPr>
        <p:spPr>
          <a:xfrm>
            <a:off x="4480560" y="208483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02</a:t>
            </a:r>
            <a:endParaRPr lang="en-US" sz="1600" dirty="0"/>
          </a:p>
        </p:txBody>
      </p:sp>
      <p:sp>
        <p:nvSpPr>
          <p:cNvPr id="12" name="Text 10"/>
          <p:cNvSpPr/>
          <p:nvPr/>
        </p:nvSpPr>
        <p:spPr>
          <a:xfrm>
            <a:off x="5029200" y="212140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Enter / verify sample values</a:t>
            </a:r>
            <a:endParaRPr lang="en-US" sz="1300" dirty="0"/>
          </a:p>
        </p:txBody>
      </p:sp>
      <p:sp>
        <p:nvSpPr>
          <p:cNvPr id="13" name="Shape 11"/>
          <p:cNvSpPr/>
          <p:nvPr/>
        </p:nvSpPr>
        <p:spPr>
          <a:xfrm>
            <a:off x="7973568" y="1920240"/>
            <a:ext cx="3154680" cy="1097280"/>
          </a:xfrm>
          <a:prstGeom prst="roundRect">
            <a:avLst>
              <a:gd name="adj" fmla="val 10000"/>
            </a:avLst>
          </a:prstGeom>
          <a:solidFill>
            <a:srgbClr val="0E2034"/>
          </a:solidFill>
          <a:ln w="12700">
            <a:solidFill>
              <a:srgbClr val="1B3853"/>
            </a:solidFill>
            <a:prstDash val="solid"/>
          </a:ln>
        </p:spPr>
      </p:sp>
      <p:sp>
        <p:nvSpPr>
          <p:cNvPr id="14" name="Text 12"/>
          <p:cNvSpPr/>
          <p:nvPr/>
        </p:nvSpPr>
        <p:spPr>
          <a:xfrm>
            <a:off x="8138160" y="208483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03</a:t>
            </a:r>
            <a:endParaRPr lang="en-US" sz="1600" dirty="0"/>
          </a:p>
        </p:txBody>
      </p:sp>
      <p:sp>
        <p:nvSpPr>
          <p:cNvPr id="15" name="Text 13"/>
          <p:cNvSpPr/>
          <p:nvPr/>
        </p:nvSpPr>
        <p:spPr>
          <a:xfrm>
            <a:off x="8686800" y="212140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Click Analyze</a:t>
            </a:r>
            <a:endParaRPr lang="en-US" sz="1300" dirty="0"/>
          </a:p>
        </p:txBody>
      </p:sp>
      <p:sp>
        <p:nvSpPr>
          <p:cNvPr id="16" name="Shape 14"/>
          <p:cNvSpPr/>
          <p:nvPr/>
        </p:nvSpPr>
        <p:spPr>
          <a:xfrm>
            <a:off x="658368" y="3429000"/>
            <a:ext cx="3154680" cy="1097280"/>
          </a:xfrm>
          <a:prstGeom prst="roundRect">
            <a:avLst>
              <a:gd name="adj" fmla="val 10000"/>
            </a:avLst>
          </a:prstGeom>
          <a:solidFill>
            <a:srgbClr val="0E2034"/>
          </a:solidFill>
          <a:ln w="12700">
            <a:solidFill>
              <a:srgbClr val="1B3853"/>
            </a:solidFill>
            <a:prstDash val="solid"/>
          </a:ln>
        </p:spPr>
      </p:sp>
      <p:sp>
        <p:nvSpPr>
          <p:cNvPr id="17" name="Text 15"/>
          <p:cNvSpPr/>
          <p:nvPr/>
        </p:nvSpPr>
        <p:spPr>
          <a:xfrm>
            <a:off x="822960" y="359359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04</a:t>
            </a:r>
            <a:endParaRPr lang="en-US" sz="1600" dirty="0"/>
          </a:p>
        </p:txBody>
      </p:sp>
      <p:sp>
        <p:nvSpPr>
          <p:cNvPr id="18" name="Text 16"/>
          <p:cNvSpPr/>
          <p:nvPr/>
        </p:nvSpPr>
        <p:spPr>
          <a:xfrm>
            <a:off x="1371600" y="363016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Explain score + health level</a:t>
            </a:r>
            <a:endParaRPr lang="en-US" sz="1300" dirty="0"/>
          </a:p>
        </p:txBody>
      </p:sp>
      <p:sp>
        <p:nvSpPr>
          <p:cNvPr id="19" name="Shape 17"/>
          <p:cNvSpPr/>
          <p:nvPr/>
        </p:nvSpPr>
        <p:spPr>
          <a:xfrm>
            <a:off x="4315968" y="3429000"/>
            <a:ext cx="3154680" cy="1097280"/>
          </a:xfrm>
          <a:prstGeom prst="roundRect">
            <a:avLst>
              <a:gd name="adj" fmla="val 10000"/>
            </a:avLst>
          </a:prstGeom>
          <a:solidFill>
            <a:srgbClr val="0E2034"/>
          </a:solidFill>
          <a:ln w="12700">
            <a:solidFill>
              <a:srgbClr val="1B3853"/>
            </a:solidFill>
            <a:prstDash val="solid"/>
          </a:ln>
        </p:spPr>
      </p:sp>
      <p:sp>
        <p:nvSpPr>
          <p:cNvPr id="20" name="Text 18"/>
          <p:cNvSpPr/>
          <p:nvPr/>
        </p:nvSpPr>
        <p:spPr>
          <a:xfrm>
            <a:off x="4480560" y="359359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05</a:t>
            </a:r>
            <a:endParaRPr lang="en-US" sz="1600" dirty="0"/>
          </a:p>
        </p:txBody>
      </p:sp>
      <p:sp>
        <p:nvSpPr>
          <p:cNvPr id="21" name="Text 19"/>
          <p:cNvSpPr/>
          <p:nvPr/>
        </p:nvSpPr>
        <p:spPr>
          <a:xfrm>
            <a:off x="5029200" y="363016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Show recommendations</a:t>
            </a:r>
            <a:endParaRPr lang="en-US" sz="1300" dirty="0"/>
          </a:p>
        </p:txBody>
      </p:sp>
      <p:sp>
        <p:nvSpPr>
          <p:cNvPr id="22" name="Shape 20"/>
          <p:cNvSpPr/>
          <p:nvPr/>
        </p:nvSpPr>
        <p:spPr>
          <a:xfrm>
            <a:off x="7973568" y="3429000"/>
            <a:ext cx="3154680" cy="1097280"/>
          </a:xfrm>
          <a:prstGeom prst="roundRect">
            <a:avLst>
              <a:gd name="adj" fmla="val 10000"/>
            </a:avLst>
          </a:prstGeom>
          <a:solidFill>
            <a:srgbClr val="0E2034"/>
          </a:solidFill>
          <a:ln w="12700">
            <a:solidFill>
              <a:srgbClr val="1B3853"/>
            </a:solidFill>
            <a:prstDash val="solid"/>
          </a:ln>
        </p:spPr>
      </p:sp>
      <p:sp>
        <p:nvSpPr>
          <p:cNvPr id="23" name="Text 21"/>
          <p:cNvSpPr/>
          <p:nvPr/>
        </p:nvSpPr>
        <p:spPr>
          <a:xfrm>
            <a:off x="8138160" y="3593592"/>
            <a:ext cx="475488" cy="384048"/>
          </a:xfrm>
          <a:prstGeom prst="rect">
            <a:avLst/>
          </a:prstGeom>
          <a:noFill/>
          <a:ln/>
        </p:spPr>
        <p:txBody>
          <a:bodyPr wrap="square" lIns="0" tIns="0" rIns="0" bIns="0" rtlCol="0" anchor="ctr">
            <a:normAutofit/>
          </a:bodyPr>
          <a:lstStyle/>
          <a:p>
            <a:pPr marL="0" indent="0" algn="ctr">
              <a:buNone/>
            </a:pPr>
            <a:r>
              <a:rPr lang="en-US" sz="1600" b="1" dirty="0">
                <a:solidFill>
                  <a:srgbClr val="6CA8FF"/>
                </a:solidFill>
                <a:latin typeface="Aptos" pitchFamily="34" charset="0"/>
                <a:ea typeface="Aptos" pitchFamily="34" charset="-122"/>
                <a:cs typeface="Aptos" pitchFamily="34" charset="-120"/>
              </a:rPr>
              <a:t>06</a:t>
            </a:r>
            <a:endParaRPr lang="en-US" sz="1600" dirty="0"/>
          </a:p>
        </p:txBody>
      </p:sp>
      <p:sp>
        <p:nvSpPr>
          <p:cNvPr id="24" name="Text 22"/>
          <p:cNvSpPr/>
          <p:nvPr/>
        </p:nvSpPr>
        <p:spPr>
          <a:xfrm>
            <a:off x="8686800" y="3630168"/>
            <a:ext cx="2240280" cy="438912"/>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Open History</a:t>
            </a:r>
            <a:endParaRPr lang="en-US" sz="1300" dirty="0"/>
          </a:p>
        </p:txBody>
      </p:sp>
      <p:sp>
        <p:nvSpPr>
          <p:cNvPr id="25" name="Shape 23"/>
          <p:cNvSpPr/>
          <p:nvPr/>
        </p:nvSpPr>
        <p:spPr>
          <a:xfrm>
            <a:off x="1280160" y="5166360"/>
            <a:ext cx="9601200" cy="502920"/>
          </a:xfrm>
          <a:prstGeom prst="roundRect">
            <a:avLst>
              <a:gd name="adj" fmla="val 21818"/>
            </a:avLst>
          </a:prstGeom>
          <a:solidFill>
            <a:srgbClr val="10283F"/>
          </a:solidFill>
          <a:ln w="12700">
            <a:solidFill>
              <a:srgbClr val="1B3853"/>
            </a:solidFill>
            <a:prstDash val="solid"/>
          </a:ln>
        </p:spPr>
      </p:sp>
      <p:sp>
        <p:nvSpPr>
          <p:cNvPr id="26" name="Text 24"/>
          <p:cNvSpPr/>
          <p:nvPr/>
        </p:nvSpPr>
        <p:spPr>
          <a:xfrm>
            <a:off x="1508760" y="5330952"/>
            <a:ext cx="9144000" cy="201168"/>
          </a:xfrm>
          <a:prstGeom prst="rect">
            <a:avLst/>
          </a:prstGeom>
          <a:noFill/>
          <a:ln/>
        </p:spPr>
        <p:txBody>
          <a:bodyPr wrap="square" lIns="0" tIns="0" rIns="0" bIns="0" rtlCol="0" anchor="ctr">
            <a:normAutofit/>
          </a:bodyPr>
          <a:lstStyle/>
          <a:p>
            <a:pPr marL="0" indent="0" algn="ctr">
              <a:buNone/>
            </a:pPr>
            <a:r>
              <a:rPr lang="en-US" sz="1250" b="1" dirty="0">
                <a:solidFill>
                  <a:srgbClr val="35D0BA"/>
                </a:solidFill>
                <a:latin typeface="Aptos" pitchFamily="34" charset="0"/>
                <a:ea typeface="Aptos" pitchFamily="34" charset="-122"/>
                <a:cs typeface="Aptos" pitchFamily="34" charset="-120"/>
              </a:rPr>
              <a:t>Transition → “Ab Credit Stress Machine Learning module Sonu explain karenge.”</a:t>
            </a:r>
            <a:endParaRPr lang="en-US" sz="1250" dirty="0"/>
          </a:p>
        </p:txBody>
      </p:sp>
      <p:sp>
        <p:nvSpPr>
          <p:cNvPr id="27"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MODULE 02</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Credit Stress — Logistic Regression Benchmark</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Leakage-safe classification for a financial-stress proxy target.</a:t>
            </a:r>
            <a:endParaRPr lang="en-US" sz="1350" dirty="0"/>
          </a:p>
        </p:txBody>
      </p:sp>
      <p:sp>
        <p:nvSpPr>
          <p:cNvPr id="5" name="Shape 3"/>
          <p:cNvSpPr/>
          <p:nvPr/>
        </p:nvSpPr>
        <p:spPr>
          <a:xfrm>
            <a:off x="9555480" y="384048"/>
            <a:ext cx="2157984" cy="310896"/>
          </a:xfrm>
          <a:prstGeom prst="roundRect">
            <a:avLst>
              <a:gd name="adj" fmla="val 47059"/>
            </a:avLst>
          </a:prstGeom>
          <a:solidFill>
            <a:srgbClr val="A78BFA">
              <a:alpha val="18000"/>
            </a:srgbClr>
          </a:solidFill>
          <a:ln w="12700">
            <a:solidFill>
              <a:srgbClr val="A78BF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A78BFA"/>
                </a:solidFill>
                <a:latin typeface="Aptos" pitchFamily="34" charset="0"/>
                <a:ea typeface="Aptos" pitchFamily="34" charset="-122"/>
                <a:cs typeface="Aptos" pitchFamily="34" charset="-120"/>
              </a:rPr>
              <a:t>SONU KUMAR</a:t>
            </a:r>
            <a:endParaRPr lang="en-US" sz="950" dirty="0"/>
          </a:p>
        </p:txBody>
      </p:sp>
      <p:sp>
        <p:nvSpPr>
          <p:cNvPr id="7" name="Shape 5"/>
          <p:cNvSpPr/>
          <p:nvPr/>
        </p:nvSpPr>
        <p:spPr>
          <a:xfrm>
            <a:off x="548640" y="1828800"/>
            <a:ext cx="2834640" cy="2834640"/>
          </a:xfrm>
          <a:prstGeom prst="roundRect">
            <a:avLst>
              <a:gd name="adj" fmla="val 3871"/>
            </a:avLst>
          </a:prstGeom>
          <a:solidFill>
            <a:srgbClr val="0E2034"/>
          </a:solidFill>
          <a:ln w="12700">
            <a:solidFill>
              <a:srgbClr val="1B3853"/>
            </a:solidFill>
            <a:prstDash val="solid"/>
          </a:ln>
        </p:spPr>
      </p:sp>
      <p:sp>
        <p:nvSpPr>
          <p:cNvPr id="8" name="Text 6"/>
          <p:cNvSpPr/>
          <p:nvPr/>
        </p:nvSpPr>
        <p:spPr>
          <a:xfrm>
            <a:off x="777240" y="2057400"/>
            <a:ext cx="2331720" cy="219456"/>
          </a:xfrm>
          <a:prstGeom prst="rect">
            <a:avLst/>
          </a:prstGeom>
          <a:noFill/>
          <a:ln/>
        </p:spPr>
        <p:txBody>
          <a:bodyPr wrap="square" lIns="0" tIns="0" rIns="0" bIns="0" rtlCol="0" anchor="ctr">
            <a:normAutofit/>
          </a:bodyPr>
          <a:lstStyle/>
          <a:p>
            <a:pPr marL="0" indent="0">
              <a:buNone/>
            </a:pPr>
            <a:r>
              <a:rPr lang="en-US" sz="1000" b="1" kern="0" spc="110" dirty="0">
                <a:solidFill>
                  <a:srgbClr val="A78BFA"/>
                </a:solidFill>
                <a:latin typeface="Aptos" pitchFamily="34" charset="0"/>
                <a:ea typeface="Aptos" pitchFamily="34" charset="-122"/>
                <a:cs typeface="Aptos" pitchFamily="34" charset="-120"/>
              </a:rPr>
              <a:t>STRICT PREDICTORS</a:t>
            </a:r>
            <a:endParaRPr lang="en-US" sz="1000" dirty="0"/>
          </a:p>
        </p:txBody>
      </p:sp>
      <p:sp>
        <p:nvSpPr>
          <p:cNvPr id="9" name="Shape 7"/>
          <p:cNvSpPr/>
          <p:nvPr/>
        </p:nvSpPr>
        <p:spPr>
          <a:xfrm>
            <a:off x="777240" y="2487168"/>
            <a:ext cx="2286000" cy="347472"/>
          </a:xfrm>
          <a:prstGeom prst="roundRect">
            <a:avLst>
              <a:gd name="adj" fmla="val 50000"/>
            </a:avLst>
          </a:prstGeom>
          <a:solidFill>
            <a:srgbClr val="6CA8FF">
              <a:alpha val="15000"/>
            </a:srgbClr>
          </a:solidFill>
          <a:ln w="12700">
            <a:solidFill>
              <a:srgbClr val="6CA8FF">
                <a:alpha val="30000"/>
              </a:srgbClr>
            </a:solidFill>
            <a:prstDash val="solid"/>
          </a:ln>
        </p:spPr>
      </p:sp>
      <p:sp>
        <p:nvSpPr>
          <p:cNvPr id="10" name="Text 8"/>
          <p:cNvSpPr/>
          <p:nvPr/>
        </p:nvSpPr>
        <p:spPr>
          <a:xfrm>
            <a:off x="832104" y="2505456"/>
            <a:ext cx="2176272" cy="292608"/>
          </a:xfrm>
          <a:prstGeom prst="rect">
            <a:avLst/>
          </a:prstGeom>
          <a:noFill/>
          <a:ln/>
        </p:spPr>
        <p:txBody>
          <a:bodyPr wrap="square" lIns="0" tIns="0" rIns="0" bIns="0" rtlCol="0" anchor="ctr">
            <a:normAutofit/>
          </a:bodyPr>
          <a:lstStyle/>
          <a:p>
            <a:pPr marL="0" indent="0" algn="ctr">
              <a:buNone/>
            </a:pPr>
            <a:r>
              <a:rPr lang="en-US" sz="940" b="1" dirty="0">
                <a:solidFill>
                  <a:srgbClr val="6CA8FF"/>
                </a:solidFill>
                <a:latin typeface="Aptos" pitchFamily="34" charset="0"/>
                <a:ea typeface="Aptos" pitchFamily="34" charset="-122"/>
                <a:cs typeface="Aptos" pitchFamily="34" charset="-120"/>
              </a:rPr>
              <a:t>Age</a:t>
            </a:r>
            <a:endParaRPr lang="en-US" sz="940" dirty="0"/>
          </a:p>
        </p:txBody>
      </p:sp>
      <p:sp>
        <p:nvSpPr>
          <p:cNvPr id="11" name="Shape 9"/>
          <p:cNvSpPr/>
          <p:nvPr/>
        </p:nvSpPr>
        <p:spPr>
          <a:xfrm>
            <a:off x="777240" y="2907792"/>
            <a:ext cx="2286000" cy="347472"/>
          </a:xfrm>
          <a:prstGeom prst="roundRect">
            <a:avLst>
              <a:gd name="adj" fmla="val 50000"/>
            </a:avLst>
          </a:prstGeom>
          <a:solidFill>
            <a:srgbClr val="35D0BA">
              <a:alpha val="15000"/>
            </a:srgbClr>
          </a:solidFill>
          <a:ln w="12700">
            <a:solidFill>
              <a:srgbClr val="35D0BA">
                <a:alpha val="30000"/>
              </a:srgbClr>
            </a:solidFill>
            <a:prstDash val="solid"/>
          </a:ln>
        </p:spPr>
      </p:sp>
      <p:sp>
        <p:nvSpPr>
          <p:cNvPr id="12" name="Text 10"/>
          <p:cNvSpPr/>
          <p:nvPr/>
        </p:nvSpPr>
        <p:spPr>
          <a:xfrm>
            <a:off x="832104" y="2926080"/>
            <a:ext cx="2176272" cy="292608"/>
          </a:xfrm>
          <a:prstGeom prst="rect">
            <a:avLst/>
          </a:prstGeom>
          <a:noFill/>
          <a:ln/>
        </p:spPr>
        <p:txBody>
          <a:bodyPr wrap="square" lIns="0" tIns="0" rIns="0" bIns="0" rtlCol="0" anchor="ctr">
            <a:normAutofit/>
          </a:bodyPr>
          <a:lstStyle/>
          <a:p>
            <a:pPr marL="0" indent="0" algn="ctr">
              <a:buNone/>
            </a:pPr>
            <a:r>
              <a:rPr lang="en-US" sz="940" b="1" dirty="0">
                <a:solidFill>
                  <a:srgbClr val="35D0BA"/>
                </a:solidFill>
                <a:latin typeface="Aptos" pitchFamily="34" charset="0"/>
                <a:ea typeface="Aptos" pitchFamily="34" charset="-122"/>
                <a:cs typeface="Aptos" pitchFamily="34" charset="-120"/>
              </a:rPr>
              <a:t>Dependents</a:t>
            </a:r>
            <a:endParaRPr lang="en-US" sz="940" dirty="0"/>
          </a:p>
        </p:txBody>
      </p:sp>
      <p:sp>
        <p:nvSpPr>
          <p:cNvPr id="13" name="Shape 11"/>
          <p:cNvSpPr/>
          <p:nvPr/>
        </p:nvSpPr>
        <p:spPr>
          <a:xfrm>
            <a:off x="777240" y="3328416"/>
            <a:ext cx="2286000" cy="347472"/>
          </a:xfrm>
          <a:prstGeom prst="roundRect">
            <a:avLst>
              <a:gd name="adj" fmla="val 50000"/>
            </a:avLst>
          </a:prstGeom>
          <a:solidFill>
            <a:srgbClr val="A78BFA">
              <a:alpha val="15000"/>
            </a:srgbClr>
          </a:solidFill>
          <a:ln w="12700">
            <a:solidFill>
              <a:srgbClr val="A78BFA">
                <a:alpha val="30000"/>
              </a:srgbClr>
            </a:solidFill>
            <a:prstDash val="solid"/>
          </a:ln>
        </p:spPr>
      </p:sp>
      <p:sp>
        <p:nvSpPr>
          <p:cNvPr id="14" name="Text 12"/>
          <p:cNvSpPr/>
          <p:nvPr/>
        </p:nvSpPr>
        <p:spPr>
          <a:xfrm>
            <a:off x="832104" y="3346704"/>
            <a:ext cx="2176272" cy="292608"/>
          </a:xfrm>
          <a:prstGeom prst="rect">
            <a:avLst/>
          </a:prstGeom>
          <a:noFill/>
          <a:ln/>
        </p:spPr>
        <p:txBody>
          <a:bodyPr wrap="square" lIns="0" tIns="0" rIns="0" bIns="0" rtlCol="0" anchor="ctr">
            <a:normAutofit/>
          </a:bodyPr>
          <a:lstStyle/>
          <a:p>
            <a:pPr marL="0" indent="0" algn="ctr">
              <a:buNone/>
            </a:pPr>
            <a:r>
              <a:rPr lang="en-US" sz="940" b="1" dirty="0">
                <a:solidFill>
                  <a:srgbClr val="A78BFA"/>
                </a:solidFill>
                <a:latin typeface="Aptos" pitchFamily="34" charset="0"/>
                <a:ea typeface="Aptos" pitchFamily="34" charset="-122"/>
                <a:cs typeface="Aptos" pitchFamily="34" charset="-120"/>
              </a:rPr>
              <a:t>Occupation</a:t>
            </a:r>
            <a:endParaRPr lang="en-US" sz="940" dirty="0"/>
          </a:p>
        </p:txBody>
      </p:sp>
      <p:sp>
        <p:nvSpPr>
          <p:cNvPr id="15" name="Shape 13"/>
          <p:cNvSpPr/>
          <p:nvPr/>
        </p:nvSpPr>
        <p:spPr>
          <a:xfrm>
            <a:off x="777240" y="3749040"/>
            <a:ext cx="2286000" cy="347472"/>
          </a:xfrm>
          <a:prstGeom prst="roundRect">
            <a:avLst>
              <a:gd name="adj" fmla="val 50000"/>
            </a:avLst>
          </a:prstGeom>
          <a:solidFill>
            <a:srgbClr val="F6B85A">
              <a:alpha val="15000"/>
            </a:srgbClr>
          </a:solidFill>
          <a:ln w="12700">
            <a:solidFill>
              <a:srgbClr val="F6B85A">
                <a:alpha val="30000"/>
              </a:srgbClr>
            </a:solidFill>
            <a:prstDash val="solid"/>
          </a:ln>
        </p:spPr>
      </p:sp>
      <p:sp>
        <p:nvSpPr>
          <p:cNvPr id="16" name="Text 14"/>
          <p:cNvSpPr/>
          <p:nvPr/>
        </p:nvSpPr>
        <p:spPr>
          <a:xfrm>
            <a:off x="832104" y="3767328"/>
            <a:ext cx="2176272" cy="292608"/>
          </a:xfrm>
          <a:prstGeom prst="rect">
            <a:avLst/>
          </a:prstGeom>
          <a:noFill/>
          <a:ln/>
        </p:spPr>
        <p:txBody>
          <a:bodyPr wrap="square" lIns="0" tIns="0" rIns="0" bIns="0" rtlCol="0" anchor="ctr">
            <a:normAutofit/>
          </a:bodyPr>
          <a:lstStyle/>
          <a:p>
            <a:pPr marL="0" indent="0" algn="ctr">
              <a:buNone/>
            </a:pPr>
            <a:r>
              <a:rPr lang="en-US" sz="940" b="1" dirty="0">
                <a:solidFill>
                  <a:srgbClr val="F6B85A"/>
                </a:solidFill>
                <a:latin typeface="Aptos" pitchFamily="34" charset="0"/>
                <a:ea typeface="Aptos" pitchFamily="34" charset="-122"/>
                <a:cs typeface="Aptos" pitchFamily="34" charset="-120"/>
              </a:rPr>
              <a:t>City Tier</a:t>
            </a:r>
            <a:endParaRPr lang="en-US" sz="940" dirty="0"/>
          </a:p>
        </p:txBody>
      </p:sp>
      <p:sp>
        <p:nvSpPr>
          <p:cNvPr id="17" name="Shape 15"/>
          <p:cNvSpPr/>
          <p:nvPr/>
        </p:nvSpPr>
        <p:spPr>
          <a:xfrm>
            <a:off x="777240" y="4169664"/>
            <a:ext cx="2286000" cy="347472"/>
          </a:xfrm>
          <a:prstGeom prst="roundRect">
            <a:avLst>
              <a:gd name="adj" fmla="val 50000"/>
            </a:avLst>
          </a:prstGeom>
          <a:solidFill>
            <a:srgbClr val="52D69C">
              <a:alpha val="15000"/>
            </a:srgbClr>
          </a:solidFill>
          <a:ln w="12700">
            <a:solidFill>
              <a:srgbClr val="52D69C">
                <a:alpha val="30000"/>
              </a:srgbClr>
            </a:solidFill>
            <a:prstDash val="solid"/>
          </a:ln>
        </p:spPr>
      </p:sp>
      <p:sp>
        <p:nvSpPr>
          <p:cNvPr id="18" name="Text 16"/>
          <p:cNvSpPr/>
          <p:nvPr/>
        </p:nvSpPr>
        <p:spPr>
          <a:xfrm>
            <a:off x="832104" y="4187952"/>
            <a:ext cx="2176272" cy="292608"/>
          </a:xfrm>
          <a:prstGeom prst="rect">
            <a:avLst/>
          </a:prstGeom>
          <a:noFill/>
          <a:ln/>
        </p:spPr>
        <p:txBody>
          <a:bodyPr wrap="square" lIns="0" tIns="0" rIns="0" bIns="0" rtlCol="0" anchor="ctr">
            <a:normAutofit/>
          </a:bodyPr>
          <a:lstStyle/>
          <a:p>
            <a:pPr marL="0" indent="0" algn="ctr">
              <a:buNone/>
            </a:pPr>
            <a:r>
              <a:rPr lang="en-US" sz="940" b="1" dirty="0">
                <a:solidFill>
                  <a:srgbClr val="52D69C"/>
                </a:solidFill>
                <a:latin typeface="Aptos" pitchFamily="34" charset="0"/>
                <a:ea typeface="Aptos" pitchFamily="34" charset="-122"/>
                <a:cs typeface="Aptos" pitchFamily="34" charset="-120"/>
              </a:rPr>
              <a:t>Desired Savings %</a:t>
            </a:r>
            <a:endParaRPr lang="en-US" sz="940" dirty="0"/>
          </a:p>
        </p:txBody>
      </p:sp>
      <p:sp>
        <p:nvSpPr>
          <p:cNvPr id="19" name="Shape 17"/>
          <p:cNvSpPr/>
          <p:nvPr/>
        </p:nvSpPr>
        <p:spPr>
          <a:xfrm>
            <a:off x="3611880" y="1828800"/>
            <a:ext cx="2880360" cy="2834640"/>
          </a:xfrm>
          <a:prstGeom prst="roundRect">
            <a:avLst>
              <a:gd name="adj" fmla="val 3871"/>
            </a:avLst>
          </a:prstGeom>
          <a:solidFill>
            <a:srgbClr val="10283F"/>
          </a:solidFill>
          <a:ln w="12700">
            <a:solidFill>
              <a:srgbClr val="1B3853"/>
            </a:solidFill>
            <a:prstDash val="solid"/>
          </a:ln>
        </p:spPr>
      </p:sp>
      <p:sp>
        <p:nvSpPr>
          <p:cNvPr id="20" name="Text 18"/>
          <p:cNvSpPr/>
          <p:nvPr/>
        </p:nvSpPr>
        <p:spPr>
          <a:xfrm>
            <a:off x="3840480" y="2057400"/>
            <a:ext cx="1508760" cy="219456"/>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WHY STRICT?</a:t>
            </a:r>
            <a:endParaRPr lang="en-US" sz="1000" dirty="0"/>
          </a:p>
        </p:txBody>
      </p:sp>
      <p:sp>
        <p:nvSpPr>
          <p:cNvPr id="21" name="Text 19"/>
          <p:cNvSpPr/>
          <p:nvPr/>
        </p:nvSpPr>
        <p:spPr>
          <a:xfrm>
            <a:off x="3840480" y="2487168"/>
            <a:ext cx="2423160" cy="1325880"/>
          </a:xfrm>
          <a:prstGeom prst="rect">
            <a:avLst/>
          </a:prstGeom>
          <a:noFill/>
          <a:ln/>
        </p:spPr>
        <p:txBody>
          <a:bodyPr wrap="square" lIns="0" tIns="0" rIns="0" bIns="0" rtlCol="0" anchor="t">
            <a:normAutofit/>
          </a:bodyPr>
          <a:lstStyle/>
          <a:p>
            <a:pPr marL="0" indent="0">
              <a:buNone/>
            </a:pPr>
            <a:r>
              <a:rPr lang="en-US" sz="1400" b="1" dirty="0">
                <a:solidFill>
                  <a:srgbClr val="F2F7FB"/>
                </a:solidFill>
                <a:latin typeface="Aptos" pitchFamily="34" charset="0"/>
                <a:ea typeface="Aptos" pitchFamily="34" charset="-122"/>
                <a:cs typeface="Aptos" pitchFamily="34" charset="-120"/>
              </a:rPr>
              <a:t>Income / expense variables directly construct the proxy target, so they are excluded to reduce leakage and avoid trivial label reconstruction.</a:t>
            </a:r>
            <a:endParaRPr lang="en-US" sz="1400" dirty="0"/>
          </a:p>
        </p:txBody>
      </p:sp>
      <p:sp>
        <p:nvSpPr>
          <p:cNvPr id="22" name="Shape 20"/>
          <p:cNvSpPr/>
          <p:nvPr/>
        </p:nvSpPr>
        <p:spPr>
          <a:xfrm>
            <a:off x="3794760" y="4041648"/>
            <a:ext cx="2514600" cy="310896"/>
          </a:xfrm>
          <a:prstGeom prst="roundRect">
            <a:avLst>
              <a:gd name="adj" fmla="val 47059"/>
            </a:avLst>
          </a:prstGeom>
          <a:solidFill>
            <a:srgbClr val="A78BFA">
              <a:alpha val="18000"/>
            </a:srgbClr>
          </a:solidFill>
          <a:ln w="12700">
            <a:solidFill>
              <a:srgbClr val="A78BFA">
                <a:alpha val="30000"/>
              </a:srgbClr>
            </a:solidFill>
            <a:prstDash val="solid"/>
          </a:ln>
        </p:spPr>
      </p:sp>
      <p:sp>
        <p:nvSpPr>
          <p:cNvPr id="23" name="Text 21"/>
          <p:cNvSpPr/>
          <p:nvPr/>
        </p:nvSpPr>
        <p:spPr>
          <a:xfrm>
            <a:off x="3867912" y="4059936"/>
            <a:ext cx="2368296" cy="274320"/>
          </a:xfrm>
          <a:prstGeom prst="rect">
            <a:avLst/>
          </a:prstGeom>
          <a:noFill/>
          <a:ln/>
        </p:spPr>
        <p:txBody>
          <a:bodyPr wrap="square" lIns="0" tIns="0" rIns="0" bIns="0" rtlCol="0" anchor="ctr">
            <a:normAutofit/>
          </a:bodyPr>
          <a:lstStyle/>
          <a:p>
            <a:pPr marL="0" indent="0" algn="ctr">
              <a:buNone/>
            </a:pPr>
            <a:r>
              <a:rPr lang="en-US" sz="950" b="1" dirty="0">
                <a:solidFill>
                  <a:srgbClr val="A78BFA"/>
                </a:solidFill>
                <a:latin typeface="Aptos" pitchFamily="34" charset="0"/>
                <a:ea typeface="Aptos" pitchFamily="34" charset="-122"/>
                <a:cs typeface="Aptos" pitchFamily="34" charset="-120"/>
              </a:rPr>
              <a:t>CHAMPION: LOGISTIC REGRESSION</a:t>
            </a:r>
            <a:endParaRPr lang="en-US" sz="950" dirty="0"/>
          </a:p>
        </p:txBody>
      </p:sp>
      <p:sp>
        <p:nvSpPr>
          <p:cNvPr id="24" name="Shape 22"/>
          <p:cNvSpPr/>
          <p:nvPr/>
        </p:nvSpPr>
        <p:spPr>
          <a:xfrm>
            <a:off x="6720840" y="1828800"/>
            <a:ext cx="4617720" cy="2834640"/>
          </a:xfrm>
          <a:prstGeom prst="roundRect">
            <a:avLst>
              <a:gd name="adj" fmla="val 3871"/>
            </a:avLst>
          </a:prstGeom>
          <a:solidFill>
            <a:srgbClr val="0E2034"/>
          </a:solidFill>
          <a:ln w="12700">
            <a:solidFill>
              <a:srgbClr val="1B3853"/>
            </a:solidFill>
            <a:prstDash val="solid"/>
          </a:ln>
        </p:spPr>
      </p:sp>
      <p:sp>
        <p:nvSpPr>
          <p:cNvPr id="25" name="Text 23"/>
          <p:cNvSpPr/>
          <p:nvPr/>
        </p:nvSpPr>
        <p:spPr>
          <a:xfrm>
            <a:off x="6995160" y="2057400"/>
            <a:ext cx="777240" cy="219456"/>
          </a:xfrm>
          <a:prstGeom prst="rect">
            <a:avLst/>
          </a:prstGeom>
          <a:noFill/>
          <a:ln/>
        </p:spPr>
        <p:txBody>
          <a:bodyPr wrap="square" lIns="0" tIns="0" rIns="0" bIns="0" rtlCol="0" anchor="ctr">
            <a:normAutofit/>
          </a:bodyPr>
          <a:lstStyle/>
          <a:p>
            <a:pPr marL="0" indent="0">
              <a:buNone/>
            </a:pPr>
            <a:r>
              <a:rPr lang="en-US" sz="1000" b="1" kern="0" spc="110" dirty="0">
                <a:solidFill>
                  <a:srgbClr val="F6B85A"/>
                </a:solidFill>
                <a:latin typeface="Aptos" pitchFamily="34" charset="0"/>
                <a:ea typeface="Aptos" pitchFamily="34" charset="-122"/>
                <a:cs typeface="Aptos" pitchFamily="34" charset="-120"/>
              </a:rPr>
              <a:t>TARGET</a:t>
            </a:r>
            <a:endParaRPr lang="en-US" sz="1000" dirty="0"/>
          </a:p>
        </p:txBody>
      </p:sp>
      <p:sp>
        <p:nvSpPr>
          <p:cNvPr id="26" name="Text 24"/>
          <p:cNvSpPr/>
          <p:nvPr/>
        </p:nvSpPr>
        <p:spPr>
          <a:xfrm>
            <a:off x="6995160" y="2487168"/>
            <a:ext cx="3886200" cy="329184"/>
          </a:xfrm>
          <a:prstGeom prst="rect">
            <a:avLst/>
          </a:prstGeom>
          <a:noFill/>
          <a:ln/>
        </p:spPr>
        <p:txBody>
          <a:bodyPr wrap="square" lIns="0" tIns="0" rIns="0" bIns="0" rtlCol="0" anchor="ctr">
            <a:normAutofit/>
          </a:bodyPr>
          <a:lstStyle/>
          <a:p>
            <a:pPr marL="0" indent="0">
              <a:buNone/>
            </a:pPr>
            <a:r>
              <a:rPr lang="en-US" sz="1800" b="1" dirty="0">
                <a:solidFill>
                  <a:srgbClr val="F2F7FB"/>
                </a:solidFill>
                <a:latin typeface="Aptos" pitchFamily="34" charset="0"/>
                <a:ea typeface="Aptos" pitchFamily="34" charset="-122"/>
                <a:cs typeface="Aptos" pitchFamily="34" charset="-120"/>
              </a:rPr>
              <a:t>financial_stress_flag</a:t>
            </a:r>
            <a:endParaRPr lang="en-US" sz="1800" dirty="0"/>
          </a:p>
        </p:txBody>
      </p:sp>
      <p:sp>
        <p:nvSpPr>
          <p:cNvPr id="27" name="Text 25"/>
          <p:cNvSpPr/>
          <p:nvPr/>
        </p:nvSpPr>
        <p:spPr>
          <a:xfrm>
            <a:off x="6995160" y="2999232"/>
            <a:ext cx="3840480" cy="914400"/>
          </a:xfrm>
          <a:prstGeom prst="rect">
            <a:avLst/>
          </a:prstGeom>
          <a:noFill/>
          <a:ln/>
        </p:spPr>
        <p:txBody>
          <a:bodyPr wrap="square" lIns="0" tIns="0" rIns="0" bIns="0" rtlCol="0" anchor="t">
            <a:normAutofit/>
          </a:bodyPr>
          <a:lstStyle/>
          <a:p>
            <a:pPr marL="0" indent="0">
              <a:buNone/>
            </a:pPr>
            <a:r>
              <a:rPr lang="en-US" sz="1400" dirty="0">
                <a:solidFill>
                  <a:srgbClr val="93A8BB"/>
                </a:solidFill>
                <a:latin typeface="Aptos" pitchFamily="34" charset="0"/>
                <a:ea typeface="Aptos" pitchFamily="34" charset="-122"/>
                <a:cs typeface="Aptos" pitchFamily="34" charset="-120"/>
              </a:rPr>
              <a:t>Rule-based financial-stress proxy — NOT observed credit default, delinquency, charge-off or missed payment.</a:t>
            </a:r>
            <a:endParaRPr lang="en-US" sz="1400" dirty="0"/>
          </a:p>
        </p:txBody>
      </p:sp>
      <p:sp>
        <p:nvSpPr>
          <p:cNvPr id="28" name="Shape 26"/>
          <p:cNvSpPr/>
          <p:nvPr/>
        </p:nvSpPr>
        <p:spPr>
          <a:xfrm>
            <a:off x="6995160" y="4096512"/>
            <a:ext cx="1691640" cy="310896"/>
          </a:xfrm>
          <a:prstGeom prst="roundRect">
            <a:avLst>
              <a:gd name="adj" fmla="val 47059"/>
            </a:avLst>
          </a:prstGeom>
          <a:solidFill>
            <a:srgbClr val="F6B85A">
              <a:alpha val="18000"/>
            </a:srgbClr>
          </a:solidFill>
          <a:ln w="12700">
            <a:solidFill>
              <a:srgbClr val="F6B85A">
                <a:alpha val="30000"/>
              </a:srgbClr>
            </a:solidFill>
            <a:prstDash val="solid"/>
          </a:ln>
        </p:spPr>
      </p:sp>
      <p:sp>
        <p:nvSpPr>
          <p:cNvPr id="29" name="Text 27"/>
          <p:cNvSpPr/>
          <p:nvPr/>
        </p:nvSpPr>
        <p:spPr>
          <a:xfrm>
            <a:off x="7068312" y="4114800"/>
            <a:ext cx="1545336" cy="274320"/>
          </a:xfrm>
          <a:prstGeom prst="rect">
            <a:avLst/>
          </a:prstGeom>
          <a:noFill/>
          <a:ln/>
        </p:spPr>
        <p:txBody>
          <a:bodyPr wrap="square" lIns="0" tIns="0" rIns="0" bIns="0" rtlCol="0" anchor="ctr">
            <a:normAutofit/>
          </a:bodyPr>
          <a:lstStyle/>
          <a:p>
            <a:pPr marL="0" indent="0" algn="ctr">
              <a:buNone/>
            </a:pPr>
            <a:r>
              <a:rPr lang="en-US" sz="950" b="1" dirty="0">
                <a:solidFill>
                  <a:srgbClr val="F6B85A"/>
                </a:solidFill>
                <a:latin typeface="Aptos" pitchFamily="34" charset="0"/>
                <a:ea typeface="Aptos" pitchFamily="34" charset="-122"/>
                <a:cs typeface="Aptos" pitchFamily="34" charset="-120"/>
              </a:rPr>
              <a:t>EXPERIMENTAL TARGET</a:t>
            </a:r>
            <a:endParaRPr lang="en-US" sz="950" dirty="0"/>
          </a:p>
        </p:txBody>
      </p:sp>
      <p:sp>
        <p:nvSpPr>
          <p:cNvPr id="30"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CREDIT STRESS</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Model Performance After STEP 7 Threshold Tuning</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Primary metric emphasis: ranking and minority-class detection.</a:t>
            </a:r>
            <a:endParaRPr lang="en-US" sz="1350" dirty="0"/>
          </a:p>
        </p:txBody>
      </p:sp>
      <p:sp>
        <p:nvSpPr>
          <p:cNvPr id="5" name="Shape 3"/>
          <p:cNvSpPr/>
          <p:nvPr/>
        </p:nvSpPr>
        <p:spPr>
          <a:xfrm>
            <a:off x="9555480" y="384048"/>
            <a:ext cx="2157984" cy="310896"/>
          </a:xfrm>
          <a:prstGeom prst="roundRect">
            <a:avLst>
              <a:gd name="adj" fmla="val 47059"/>
            </a:avLst>
          </a:prstGeom>
          <a:solidFill>
            <a:srgbClr val="A78BFA">
              <a:alpha val="18000"/>
            </a:srgbClr>
          </a:solidFill>
          <a:ln w="12700">
            <a:solidFill>
              <a:srgbClr val="A78BF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A78BFA"/>
                </a:solidFill>
                <a:latin typeface="Aptos" pitchFamily="34" charset="0"/>
                <a:ea typeface="Aptos" pitchFamily="34" charset="-122"/>
                <a:cs typeface="Aptos" pitchFamily="34" charset="-120"/>
              </a:rPr>
              <a:t>SONU KUMAR</a:t>
            </a:r>
            <a:endParaRPr lang="en-US" sz="950" dirty="0"/>
          </a:p>
        </p:txBody>
      </p:sp>
      <p:sp>
        <p:nvSpPr>
          <p:cNvPr id="7" name="Shape 5"/>
          <p:cNvSpPr/>
          <p:nvPr/>
        </p:nvSpPr>
        <p:spPr>
          <a:xfrm>
            <a:off x="502920" y="1828800"/>
            <a:ext cx="2103120" cy="960120"/>
          </a:xfrm>
          <a:prstGeom prst="roundRect">
            <a:avLst>
              <a:gd name="adj" fmla="val 11429"/>
            </a:avLst>
          </a:prstGeom>
          <a:solidFill>
            <a:srgbClr val="0E2034"/>
          </a:solidFill>
          <a:ln w="12700">
            <a:solidFill>
              <a:srgbClr val="1B3853"/>
            </a:solidFill>
            <a:prstDash val="solid"/>
          </a:ln>
        </p:spPr>
      </p:sp>
      <p:sp>
        <p:nvSpPr>
          <p:cNvPr id="8" name="Text 6"/>
          <p:cNvSpPr/>
          <p:nvPr/>
        </p:nvSpPr>
        <p:spPr>
          <a:xfrm>
            <a:off x="667512" y="1920240"/>
            <a:ext cx="17739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6CA8FF"/>
                </a:solidFill>
                <a:latin typeface="Aptos" pitchFamily="34" charset="0"/>
                <a:ea typeface="Aptos" pitchFamily="34" charset="-122"/>
                <a:cs typeface="Aptos" pitchFamily="34" charset="-120"/>
              </a:rPr>
              <a:t>0.854</a:t>
            </a:r>
            <a:endParaRPr lang="en-US" sz="2300" dirty="0"/>
          </a:p>
        </p:txBody>
      </p:sp>
      <p:sp>
        <p:nvSpPr>
          <p:cNvPr id="9" name="Text 7"/>
          <p:cNvSpPr/>
          <p:nvPr/>
        </p:nvSpPr>
        <p:spPr>
          <a:xfrm>
            <a:off x="667512" y="2286000"/>
            <a:ext cx="17739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ROC-AUC</a:t>
            </a:r>
            <a:endParaRPr lang="en-US" sz="1070" dirty="0"/>
          </a:p>
        </p:txBody>
      </p:sp>
      <p:sp>
        <p:nvSpPr>
          <p:cNvPr id="10" name="Text 8"/>
          <p:cNvSpPr/>
          <p:nvPr/>
        </p:nvSpPr>
        <p:spPr>
          <a:xfrm>
            <a:off x="667512" y="2505456"/>
            <a:ext cx="17739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Test ranking quality</a:t>
            </a:r>
            <a:endParaRPr lang="en-US" sz="870" dirty="0"/>
          </a:p>
        </p:txBody>
      </p:sp>
      <p:sp>
        <p:nvSpPr>
          <p:cNvPr id="11" name="Shape 9"/>
          <p:cNvSpPr/>
          <p:nvPr/>
        </p:nvSpPr>
        <p:spPr>
          <a:xfrm>
            <a:off x="2743200" y="1828800"/>
            <a:ext cx="2103120" cy="960120"/>
          </a:xfrm>
          <a:prstGeom prst="roundRect">
            <a:avLst>
              <a:gd name="adj" fmla="val 11429"/>
            </a:avLst>
          </a:prstGeom>
          <a:solidFill>
            <a:srgbClr val="0E2034"/>
          </a:solidFill>
          <a:ln w="12700">
            <a:solidFill>
              <a:srgbClr val="1B3853"/>
            </a:solidFill>
            <a:prstDash val="solid"/>
          </a:ln>
        </p:spPr>
      </p:sp>
      <p:sp>
        <p:nvSpPr>
          <p:cNvPr id="12" name="Text 10"/>
          <p:cNvSpPr/>
          <p:nvPr/>
        </p:nvSpPr>
        <p:spPr>
          <a:xfrm>
            <a:off x="2907792" y="1920240"/>
            <a:ext cx="17739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A78BFA"/>
                </a:solidFill>
                <a:latin typeface="Aptos" pitchFamily="34" charset="0"/>
                <a:ea typeface="Aptos" pitchFamily="34" charset="-122"/>
                <a:cs typeface="Aptos" pitchFamily="34" charset="-120"/>
              </a:rPr>
              <a:t>0.233</a:t>
            </a:r>
            <a:endParaRPr lang="en-US" sz="2300" dirty="0"/>
          </a:p>
        </p:txBody>
      </p:sp>
      <p:sp>
        <p:nvSpPr>
          <p:cNvPr id="13" name="Text 11"/>
          <p:cNvSpPr/>
          <p:nvPr/>
        </p:nvSpPr>
        <p:spPr>
          <a:xfrm>
            <a:off x="2907792" y="2286000"/>
            <a:ext cx="17739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PR-AUC</a:t>
            </a:r>
            <a:endParaRPr lang="en-US" sz="1070" dirty="0"/>
          </a:p>
        </p:txBody>
      </p:sp>
      <p:sp>
        <p:nvSpPr>
          <p:cNvPr id="14" name="Text 12"/>
          <p:cNvSpPr/>
          <p:nvPr/>
        </p:nvSpPr>
        <p:spPr>
          <a:xfrm>
            <a:off x="2907792" y="2505456"/>
            <a:ext cx="17739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vs ~0.069 prevalence</a:t>
            </a:r>
            <a:endParaRPr lang="en-US" sz="870" dirty="0"/>
          </a:p>
        </p:txBody>
      </p:sp>
      <p:sp>
        <p:nvSpPr>
          <p:cNvPr id="15" name="Shape 13"/>
          <p:cNvSpPr/>
          <p:nvPr/>
        </p:nvSpPr>
        <p:spPr>
          <a:xfrm>
            <a:off x="4983480" y="1828800"/>
            <a:ext cx="2103120" cy="960120"/>
          </a:xfrm>
          <a:prstGeom prst="roundRect">
            <a:avLst>
              <a:gd name="adj" fmla="val 11429"/>
            </a:avLst>
          </a:prstGeom>
          <a:solidFill>
            <a:srgbClr val="0E2034"/>
          </a:solidFill>
          <a:ln w="12700">
            <a:solidFill>
              <a:srgbClr val="1B3853"/>
            </a:solidFill>
            <a:prstDash val="solid"/>
          </a:ln>
        </p:spPr>
      </p:sp>
      <p:sp>
        <p:nvSpPr>
          <p:cNvPr id="16" name="Text 14"/>
          <p:cNvSpPr/>
          <p:nvPr/>
        </p:nvSpPr>
        <p:spPr>
          <a:xfrm>
            <a:off x="5148072" y="1920240"/>
            <a:ext cx="17739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35D0BA"/>
                </a:solidFill>
                <a:latin typeface="Aptos" pitchFamily="34" charset="0"/>
                <a:ea typeface="Aptos" pitchFamily="34" charset="-122"/>
                <a:cs typeface="Aptos" pitchFamily="34" charset="-120"/>
              </a:rPr>
              <a:t>82.2%</a:t>
            </a:r>
            <a:endParaRPr lang="en-US" sz="2300" dirty="0"/>
          </a:p>
        </p:txBody>
      </p:sp>
      <p:sp>
        <p:nvSpPr>
          <p:cNvPr id="17" name="Text 15"/>
          <p:cNvSpPr/>
          <p:nvPr/>
        </p:nvSpPr>
        <p:spPr>
          <a:xfrm>
            <a:off x="5148072" y="2286000"/>
            <a:ext cx="17739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Recall</a:t>
            </a:r>
            <a:endParaRPr lang="en-US" sz="1070" dirty="0"/>
          </a:p>
        </p:txBody>
      </p:sp>
      <p:sp>
        <p:nvSpPr>
          <p:cNvPr id="18" name="Text 16"/>
          <p:cNvSpPr/>
          <p:nvPr/>
        </p:nvSpPr>
        <p:spPr>
          <a:xfrm>
            <a:off x="5148072" y="2505456"/>
            <a:ext cx="17739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Tuned threshold</a:t>
            </a:r>
            <a:endParaRPr lang="en-US" sz="870" dirty="0"/>
          </a:p>
        </p:txBody>
      </p:sp>
      <p:sp>
        <p:nvSpPr>
          <p:cNvPr id="19" name="Shape 17"/>
          <p:cNvSpPr/>
          <p:nvPr/>
        </p:nvSpPr>
        <p:spPr>
          <a:xfrm>
            <a:off x="7223760" y="1828800"/>
            <a:ext cx="2103120" cy="960120"/>
          </a:xfrm>
          <a:prstGeom prst="roundRect">
            <a:avLst>
              <a:gd name="adj" fmla="val 11429"/>
            </a:avLst>
          </a:prstGeom>
          <a:solidFill>
            <a:srgbClr val="0E2034"/>
          </a:solidFill>
          <a:ln w="12700">
            <a:solidFill>
              <a:srgbClr val="1B3853"/>
            </a:solidFill>
            <a:prstDash val="solid"/>
          </a:ln>
        </p:spPr>
      </p:sp>
      <p:sp>
        <p:nvSpPr>
          <p:cNvPr id="20" name="Text 18"/>
          <p:cNvSpPr/>
          <p:nvPr/>
        </p:nvSpPr>
        <p:spPr>
          <a:xfrm>
            <a:off x="7388352" y="1920240"/>
            <a:ext cx="17739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F6B85A"/>
                </a:solidFill>
                <a:latin typeface="Aptos" pitchFamily="34" charset="0"/>
                <a:ea typeface="Aptos" pitchFamily="34" charset="-122"/>
                <a:cs typeface="Aptos" pitchFamily="34" charset="-120"/>
              </a:rPr>
              <a:t>25.1%</a:t>
            </a:r>
            <a:endParaRPr lang="en-US" sz="2300" dirty="0"/>
          </a:p>
        </p:txBody>
      </p:sp>
      <p:sp>
        <p:nvSpPr>
          <p:cNvPr id="21" name="Text 19"/>
          <p:cNvSpPr/>
          <p:nvPr/>
        </p:nvSpPr>
        <p:spPr>
          <a:xfrm>
            <a:off x="7388352" y="2286000"/>
            <a:ext cx="17739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Precision</a:t>
            </a:r>
            <a:endParaRPr lang="en-US" sz="1070" dirty="0"/>
          </a:p>
        </p:txBody>
      </p:sp>
      <p:sp>
        <p:nvSpPr>
          <p:cNvPr id="22" name="Text 20"/>
          <p:cNvSpPr/>
          <p:nvPr/>
        </p:nvSpPr>
        <p:spPr>
          <a:xfrm>
            <a:off x="7388352" y="2505456"/>
            <a:ext cx="17739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Tuned threshold</a:t>
            </a:r>
            <a:endParaRPr lang="en-US" sz="870" dirty="0"/>
          </a:p>
        </p:txBody>
      </p:sp>
      <p:sp>
        <p:nvSpPr>
          <p:cNvPr id="23" name="Shape 21"/>
          <p:cNvSpPr/>
          <p:nvPr/>
        </p:nvSpPr>
        <p:spPr>
          <a:xfrm>
            <a:off x="9464040" y="1828800"/>
            <a:ext cx="2103120" cy="960120"/>
          </a:xfrm>
          <a:prstGeom prst="roundRect">
            <a:avLst>
              <a:gd name="adj" fmla="val 11429"/>
            </a:avLst>
          </a:prstGeom>
          <a:solidFill>
            <a:srgbClr val="0E2034"/>
          </a:solidFill>
          <a:ln w="12700">
            <a:solidFill>
              <a:srgbClr val="1B3853"/>
            </a:solidFill>
            <a:prstDash val="solid"/>
          </a:ln>
        </p:spPr>
      </p:sp>
      <p:sp>
        <p:nvSpPr>
          <p:cNvPr id="24" name="Text 22"/>
          <p:cNvSpPr/>
          <p:nvPr/>
        </p:nvSpPr>
        <p:spPr>
          <a:xfrm>
            <a:off x="9628632" y="1920240"/>
            <a:ext cx="177393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52D69C"/>
                </a:solidFill>
                <a:latin typeface="Aptos" pitchFamily="34" charset="0"/>
                <a:ea typeface="Aptos" pitchFamily="34" charset="-122"/>
                <a:cs typeface="Aptos" pitchFamily="34" charset="-120"/>
              </a:rPr>
              <a:t>0.385</a:t>
            </a:r>
            <a:endParaRPr lang="en-US" sz="2300" dirty="0"/>
          </a:p>
        </p:txBody>
      </p:sp>
      <p:sp>
        <p:nvSpPr>
          <p:cNvPr id="25" name="Text 23"/>
          <p:cNvSpPr/>
          <p:nvPr/>
        </p:nvSpPr>
        <p:spPr>
          <a:xfrm>
            <a:off x="9628632" y="2286000"/>
            <a:ext cx="177393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F1</a:t>
            </a:r>
            <a:endParaRPr lang="en-US" sz="1070" dirty="0"/>
          </a:p>
        </p:txBody>
      </p:sp>
      <p:sp>
        <p:nvSpPr>
          <p:cNvPr id="26" name="Text 24"/>
          <p:cNvSpPr/>
          <p:nvPr/>
        </p:nvSpPr>
        <p:spPr>
          <a:xfrm>
            <a:off x="9628632" y="2505456"/>
            <a:ext cx="177393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Tuned threshold</a:t>
            </a:r>
            <a:endParaRPr lang="en-US" sz="870" dirty="0"/>
          </a:p>
        </p:txBody>
      </p:sp>
      <p:sp>
        <p:nvSpPr>
          <p:cNvPr id="27" name="Shape 25"/>
          <p:cNvSpPr/>
          <p:nvPr/>
        </p:nvSpPr>
        <p:spPr>
          <a:xfrm>
            <a:off x="685800" y="3246120"/>
            <a:ext cx="4937760" cy="1554480"/>
          </a:xfrm>
          <a:prstGeom prst="roundRect">
            <a:avLst>
              <a:gd name="adj" fmla="val 7059"/>
            </a:avLst>
          </a:prstGeom>
          <a:solidFill>
            <a:srgbClr val="10283F"/>
          </a:solidFill>
          <a:ln w="12700">
            <a:solidFill>
              <a:srgbClr val="1B3853"/>
            </a:solidFill>
            <a:prstDash val="solid"/>
          </a:ln>
        </p:spPr>
      </p:sp>
      <p:sp>
        <p:nvSpPr>
          <p:cNvPr id="28" name="Text 26"/>
          <p:cNvSpPr/>
          <p:nvPr/>
        </p:nvSpPr>
        <p:spPr>
          <a:xfrm>
            <a:off x="914400" y="3520440"/>
            <a:ext cx="1965960" cy="219456"/>
          </a:xfrm>
          <a:prstGeom prst="rect">
            <a:avLst/>
          </a:prstGeom>
          <a:noFill/>
          <a:ln/>
        </p:spPr>
        <p:txBody>
          <a:bodyPr wrap="square" lIns="0" tIns="0" rIns="0" bIns="0" rtlCol="0" anchor="ctr">
            <a:normAutofit/>
          </a:bodyPr>
          <a:lstStyle/>
          <a:p>
            <a:pPr marL="0" indent="0">
              <a:buNone/>
            </a:pPr>
            <a:r>
              <a:rPr lang="en-US" sz="1000" b="1" kern="0" spc="110" dirty="0">
                <a:solidFill>
                  <a:srgbClr val="A78BFA"/>
                </a:solidFill>
                <a:latin typeface="Aptos" pitchFamily="34" charset="0"/>
                <a:ea typeface="Aptos" pitchFamily="34" charset="-122"/>
                <a:cs typeface="Aptos" pitchFamily="34" charset="-120"/>
              </a:rPr>
              <a:t>TUNED THRESHOLD</a:t>
            </a:r>
            <a:endParaRPr lang="en-US" sz="1000" dirty="0"/>
          </a:p>
        </p:txBody>
      </p:sp>
      <p:sp>
        <p:nvSpPr>
          <p:cNvPr id="29" name="Text 27"/>
          <p:cNvSpPr/>
          <p:nvPr/>
        </p:nvSpPr>
        <p:spPr>
          <a:xfrm>
            <a:off x="960120" y="3867912"/>
            <a:ext cx="1417320" cy="475488"/>
          </a:xfrm>
          <a:prstGeom prst="rect">
            <a:avLst/>
          </a:prstGeom>
          <a:noFill/>
          <a:ln/>
        </p:spPr>
        <p:txBody>
          <a:bodyPr wrap="square" lIns="0" tIns="0" rIns="0" bIns="0" rtlCol="0" anchor="ctr">
            <a:normAutofit lnSpcReduction="10000"/>
          </a:bodyPr>
          <a:lstStyle/>
          <a:p>
            <a:pPr marL="0" indent="0">
              <a:buNone/>
            </a:pPr>
            <a:r>
              <a:rPr lang="en-US" sz="3200" b="1" dirty="0">
                <a:solidFill>
                  <a:srgbClr val="A78BFA"/>
                </a:solidFill>
                <a:latin typeface="Aptos" pitchFamily="34" charset="0"/>
                <a:ea typeface="Aptos" pitchFamily="34" charset="-122"/>
                <a:cs typeface="Aptos" pitchFamily="34" charset="-120"/>
              </a:rPr>
              <a:t>0.68</a:t>
            </a:r>
            <a:endParaRPr lang="en-US" sz="3200" dirty="0"/>
          </a:p>
        </p:txBody>
      </p:sp>
      <p:sp>
        <p:nvSpPr>
          <p:cNvPr id="30" name="Text 28"/>
          <p:cNvSpPr/>
          <p:nvPr/>
        </p:nvSpPr>
        <p:spPr>
          <a:xfrm>
            <a:off x="2331720" y="3730752"/>
            <a:ext cx="2834640" cy="658368"/>
          </a:xfrm>
          <a:prstGeom prst="rect">
            <a:avLst/>
          </a:prstGeom>
          <a:noFill/>
          <a:ln/>
        </p:spPr>
        <p:txBody>
          <a:bodyPr wrap="square" lIns="0" tIns="0" rIns="0" bIns="0" rtlCol="0" anchor="ctr">
            <a:normAutofit/>
          </a:bodyPr>
          <a:lstStyle/>
          <a:p>
            <a:pPr marL="0" indent="0">
              <a:buNone/>
            </a:pPr>
            <a:r>
              <a:rPr lang="en-US" sz="1320" b="1" dirty="0">
                <a:solidFill>
                  <a:srgbClr val="F2F7FB"/>
                </a:solidFill>
                <a:latin typeface="Aptos" pitchFamily="34" charset="0"/>
                <a:ea typeface="Aptos" pitchFamily="34" charset="-122"/>
                <a:cs typeface="Aptos" pitchFamily="34" charset="-120"/>
              </a:rPr>
              <a:t>Higher precision while recall remains above 80%.</a:t>
            </a:r>
            <a:endParaRPr lang="en-US" sz="1320" dirty="0"/>
          </a:p>
        </p:txBody>
      </p:sp>
      <p:sp>
        <p:nvSpPr>
          <p:cNvPr id="31" name="Shape 29"/>
          <p:cNvSpPr/>
          <p:nvPr/>
        </p:nvSpPr>
        <p:spPr>
          <a:xfrm>
            <a:off x="5897880" y="3246120"/>
            <a:ext cx="5166360" cy="1554480"/>
          </a:xfrm>
          <a:prstGeom prst="roundRect">
            <a:avLst>
              <a:gd name="adj" fmla="val 7059"/>
            </a:avLst>
          </a:prstGeom>
          <a:solidFill>
            <a:srgbClr val="0E2034"/>
          </a:solidFill>
          <a:ln w="12700">
            <a:solidFill>
              <a:srgbClr val="1B3853"/>
            </a:solidFill>
            <a:prstDash val="solid"/>
          </a:ln>
        </p:spPr>
      </p:sp>
      <p:sp>
        <p:nvSpPr>
          <p:cNvPr id="32" name="Text 30"/>
          <p:cNvSpPr/>
          <p:nvPr/>
        </p:nvSpPr>
        <p:spPr>
          <a:xfrm>
            <a:off x="6172200" y="3520440"/>
            <a:ext cx="1920240" cy="219456"/>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TOP-DECILE LIFT</a:t>
            </a:r>
            <a:endParaRPr lang="en-US" sz="1000" dirty="0"/>
          </a:p>
        </p:txBody>
      </p:sp>
      <p:sp>
        <p:nvSpPr>
          <p:cNvPr id="33" name="Text 31"/>
          <p:cNvSpPr/>
          <p:nvPr/>
        </p:nvSpPr>
        <p:spPr>
          <a:xfrm>
            <a:off x="6199632" y="3858768"/>
            <a:ext cx="1572768" cy="457200"/>
          </a:xfrm>
          <a:prstGeom prst="rect">
            <a:avLst/>
          </a:prstGeom>
          <a:noFill/>
          <a:ln/>
        </p:spPr>
        <p:txBody>
          <a:bodyPr wrap="square" lIns="0" tIns="0" rIns="0" bIns="0" rtlCol="0" anchor="ctr">
            <a:normAutofit/>
          </a:bodyPr>
          <a:lstStyle/>
          <a:p>
            <a:pPr marL="0" indent="0">
              <a:buNone/>
            </a:pPr>
            <a:r>
              <a:rPr lang="en-US" sz="2800" b="1" dirty="0">
                <a:solidFill>
                  <a:srgbClr val="35D0BA"/>
                </a:solidFill>
                <a:latin typeface="Aptos" pitchFamily="34" charset="0"/>
                <a:ea typeface="Aptos" pitchFamily="34" charset="-122"/>
                <a:cs typeface="Aptos" pitchFamily="34" charset="-120"/>
              </a:rPr>
              <a:t>3.82×</a:t>
            </a:r>
            <a:endParaRPr lang="en-US" sz="2800" dirty="0"/>
          </a:p>
        </p:txBody>
      </p:sp>
      <p:sp>
        <p:nvSpPr>
          <p:cNvPr id="34" name="Text 32"/>
          <p:cNvSpPr/>
          <p:nvPr/>
        </p:nvSpPr>
        <p:spPr>
          <a:xfrm>
            <a:off x="7699248" y="3675888"/>
            <a:ext cx="2971800" cy="777240"/>
          </a:xfrm>
          <a:prstGeom prst="rect">
            <a:avLst/>
          </a:prstGeom>
          <a:noFill/>
          <a:ln/>
        </p:spPr>
        <p:txBody>
          <a:bodyPr wrap="square" lIns="0" tIns="0" rIns="0" bIns="0" rtlCol="0" anchor="ctr">
            <a:normAutofit/>
          </a:bodyPr>
          <a:lstStyle/>
          <a:p>
            <a:pPr marL="0" indent="0">
              <a:buNone/>
            </a:pPr>
            <a:r>
              <a:rPr lang="en-US" sz="1220" dirty="0">
                <a:solidFill>
                  <a:srgbClr val="93A8BB"/>
                </a:solidFill>
                <a:latin typeface="Aptos" pitchFamily="34" charset="0"/>
                <a:ea typeface="Aptos" pitchFamily="34" charset="-122"/>
                <a:cs typeface="Aptos" pitchFamily="34" charset="-120"/>
              </a:rPr>
              <a:t>Highest-score decile concentrates substantially more stress-proxy cases than baseline.</a:t>
            </a:r>
            <a:endParaRPr lang="en-US" sz="1220" dirty="0"/>
          </a:p>
        </p:txBody>
      </p:sp>
      <p:sp>
        <p:nvSpPr>
          <p:cNvPr id="3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EXPLAINABILITY</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Why Logistic Regression Fits This Module</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Simple model, interpretable coefficients and a business-friendly threshold trade-off.</a:t>
            </a:r>
            <a:endParaRPr lang="en-US" sz="1350" dirty="0"/>
          </a:p>
        </p:txBody>
      </p:sp>
      <p:sp>
        <p:nvSpPr>
          <p:cNvPr id="5" name="Shape 3"/>
          <p:cNvSpPr/>
          <p:nvPr/>
        </p:nvSpPr>
        <p:spPr>
          <a:xfrm>
            <a:off x="9555480" y="384048"/>
            <a:ext cx="2157984" cy="310896"/>
          </a:xfrm>
          <a:prstGeom prst="roundRect">
            <a:avLst>
              <a:gd name="adj" fmla="val 47059"/>
            </a:avLst>
          </a:prstGeom>
          <a:solidFill>
            <a:srgbClr val="A78BFA">
              <a:alpha val="18000"/>
            </a:srgbClr>
          </a:solidFill>
          <a:ln w="12700">
            <a:solidFill>
              <a:srgbClr val="A78BF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A78BFA"/>
                </a:solidFill>
                <a:latin typeface="Aptos" pitchFamily="34" charset="0"/>
                <a:ea typeface="Aptos" pitchFamily="34" charset="-122"/>
                <a:cs typeface="Aptos" pitchFamily="34" charset="-120"/>
              </a:rPr>
              <a:t>SONU KUMAR</a:t>
            </a:r>
            <a:endParaRPr lang="en-US" sz="950" dirty="0"/>
          </a:p>
        </p:txBody>
      </p:sp>
      <p:sp>
        <p:nvSpPr>
          <p:cNvPr id="7" name="Shape 5"/>
          <p:cNvSpPr/>
          <p:nvPr/>
        </p:nvSpPr>
        <p:spPr>
          <a:xfrm>
            <a:off x="640080" y="1874520"/>
            <a:ext cx="5120640" cy="2514600"/>
          </a:xfrm>
          <a:prstGeom prst="roundRect">
            <a:avLst>
              <a:gd name="adj" fmla="val 4364"/>
            </a:avLst>
          </a:prstGeom>
          <a:solidFill>
            <a:srgbClr val="0E2034"/>
          </a:solidFill>
          <a:ln w="12700">
            <a:solidFill>
              <a:srgbClr val="1B3853"/>
            </a:solidFill>
            <a:prstDash val="solid"/>
          </a:ln>
        </p:spPr>
      </p:sp>
      <p:sp>
        <p:nvSpPr>
          <p:cNvPr id="8" name="Text 6"/>
          <p:cNvSpPr/>
          <p:nvPr/>
        </p:nvSpPr>
        <p:spPr>
          <a:xfrm>
            <a:off x="896112" y="2121408"/>
            <a:ext cx="2011680" cy="219456"/>
          </a:xfrm>
          <a:prstGeom prst="rect">
            <a:avLst/>
          </a:prstGeom>
          <a:noFill/>
          <a:ln/>
        </p:spPr>
        <p:txBody>
          <a:bodyPr wrap="square" lIns="0" tIns="0" rIns="0" bIns="0" rtlCol="0" anchor="ctr">
            <a:normAutofit/>
          </a:bodyPr>
          <a:lstStyle/>
          <a:p>
            <a:pPr marL="0" indent="0">
              <a:buNone/>
            </a:pPr>
            <a:r>
              <a:rPr lang="en-US" sz="1000" b="1" kern="0" spc="110" dirty="0">
                <a:solidFill>
                  <a:srgbClr val="A78BFA"/>
                </a:solidFill>
                <a:latin typeface="Aptos" pitchFamily="34" charset="0"/>
                <a:ea typeface="Aptos" pitchFamily="34" charset="-122"/>
                <a:cs typeface="Aptos" pitchFamily="34" charset="-120"/>
              </a:rPr>
              <a:t>COEFFICIENT LOGIC</a:t>
            </a:r>
            <a:endParaRPr lang="en-US" sz="1000" dirty="0"/>
          </a:p>
        </p:txBody>
      </p:sp>
      <p:sp>
        <p:nvSpPr>
          <p:cNvPr id="9" name="Text 7"/>
          <p:cNvSpPr/>
          <p:nvPr/>
        </p:nvSpPr>
        <p:spPr>
          <a:xfrm>
            <a:off x="914400" y="2633472"/>
            <a:ext cx="1965960" cy="228600"/>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Positive coefficient</a:t>
            </a:r>
            <a:endParaRPr lang="en-US" sz="1300" dirty="0"/>
          </a:p>
        </p:txBody>
      </p:sp>
      <p:sp>
        <p:nvSpPr>
          <p:cNvPr id="10" name="Shape 8"/>
          <p:cNvSpPr/>
          <p:nvPr/>
        </p:nvSpPr>
        <p:spPr>
          <a:xfrm>
            <a:off x="2971800" y="2743200"/>
            <a:ext cx="731520" cy="0"/>
          </a:xfrm>
          <a:prstGeom prst="line">
            <a:avLst/>
          </a:prstGeom>
          <a:noFill/>
          <a:ln w="25400">
            <a:solidFill>
              <a:srgbClr val="35D0BA"/>
            </a:solidFill>
            <a:prstDash val="solid"/>
            <a:headEnd type="none"/>
            <a:tailEnd type="triangle"/>
          </a:ln>
        </p:spPr>
      </p:sp>
      <p:sp>
        <p:nvSpPr>
          <p:cNvPr id="11" name="Text 9"/>
          <p:cNvSpPr/>
          <p:nvPr/>
        </p:nvSpPr>
        <p:spPr>
          <a:xfrm>
            <a:off x="3767328" y="2633472"/>
            <a:ext cx="1600200" cy="256032"/>
          </a:xfrm>
          <a:prstGeom prst="rect">
            <a:avLst/>
          </a:prstGeom>
          <a:noFill/>
          <a:ln/>
        </p:spPr>
        <p:txBody>
          <a:bodyPr wrap="square" lIns="0" tIns="0" rIns="0" bIns="0" rtlCol="0" anchor="ctr">
            <a:normAutofit/>
          </a:bodyPr>
          <a:lstStyle/>
          <a:p>
            <a:pPr marL="0" indent="0">
              <a:buNone/>
            </a:pPr>
            <a:r>
              <a:rPr lang="en-US" sz="1200" dirty="0">
                <a:solidFill>
                  <a:srgbClr val="35D0BA"/>
                </a:solidFill>
                <a:latin typeface="Aptos" pitchFamily="34" charset="0"/>
                <a:ea typeface="Aptos" pitchFamily="34" charset="-122"/>
                <a:cs typeface="Aptos" pitchFamily="34" charset="-120"/>
              </a:rPr>
              <a:t>increases stress score</a:t>
            </a:r>
            <a:endParaRPr lang="en-US" sz="1200" dirty="0"/>
          </a:p>
        </p:txBody>
      </p:sp>
      <p:sp>
        <p:nvSpPr>
          <p:cNvPr id="12" name="Text 10"/>
          <p:cNvSpPr/>
          <p:nvPr/>
        </p:nvSpPr>
        <p:spPr>
          <a:xfrm>
            <a:off x="914400" y="3200400"/>
            <a:ext cx="1965960" cy="228600"/>
          </a:xfrm>
          <a:prstGeom prst="rect">
            <a:avLst/>
          </a:prstGeom>
          <a:noFill/>
          <a:ln/>
        </p:spPr>
        <p:txBody>
          <a:bodyPr wrap="square" lIns="0" tIns="0" rIns="0" bIns="0" rtlCol="0" anchor="ctr">
            <a:normAutofit/>
          </a:bodyPr>
          <a:lstStyle/>
          <a:p>
            <a:pPr marL="0" indent="0">
              <a:buNone/>
            </a:pPr>
            <a:r>
              <a:rPr lang="en-US" sz="1300" b="1" dirty="0">
                <a:solidFill>
                  <a:srgbClr val="F2F7FB"/>
                </a:solidFill>
                <a:latin typeface="Aptos" pitchFamily="34" charset="0"/>
                <a:ea typeface="Aptos" pitchFamily="34" charset="-122"/>
                <a:cs typeface="Aptos" pitchFamily="34" charset="-120"/>
              </a:rPr>
              <a:t>Negative coefficient</a:t>
            </a:r>
            <a:endParaRPr lang="en-US" sz="1300" dirty="0"/>
          </a:p>
        </p:txBody>
      </p:sp>
      <p:sp>
        <p:nvSpPr>
          <p:cNvPr id="13" name="Shape 11"/>
          <p:cNvSpPr/>
          <p:nvPr/>
        </p:nvSpPr>
        <p:spPr>
          <a:xfrm>
            <a:off x="2971800" y="3310128"/>
            <a:ext cx="731520" cy="0"/>
          </a:xfrm>
          <a:prstGeom prst="line">
            <a:avLst/>
          </a:prstGeom>
          <a:noFill/>
          <a:ln w="25400">
            <a:solidFill>
              <a:srgbClr val="F6B85A"/>
            </a:solidFill>
            <a:prstDash val="solid"/>
            <a:headEnd type="none"/>
            <a:tailEnd type="triangle"/>
          </a:ln>
        </p:spPr>
      </p:sp>
      <p:sp>
        <p:nvSpPr>
          <p:cNvPr id="14" name="Text 12"/>
          <p:cNvSpPr/>
          <p:nvPr/>
        </p:nvSpPr>
        <p:spPr>
          <a:xfrm>
            <a:off x="3767328" y="3200400"/>
            <a:ext cx="1600200" cy="256032"/>
          </a:xfrm>
          <a:prstGeom prst="rect">
            <a:avLst/>
          </a:prstGeom>
          <a:noFill/>
          <a:ln/>
        </p:spPr>
        <p:txBody>
          <a:bodyPr wrap="square" lIns="0" tIns="0" rIns="0" bIns="0" rtlCol="0" anchor="ctr">
            <a:normAutofit/>
          </a:bodyPr>
          <a:lstStyle/>
          <a:p>
            <a:pPr marL="0" indent="0">
              <a:buNone/>
            </a:pPr>
            <a:r>
              <a:rPr lang="en-US" sz="1200" dirty="0">
                <a:solidFill>
                  <a:srgbClr val="F6B85A"/>
                </a:solidFill>
                <a:latin typeface="Aptos" pitchFamily="34" charset="0"/>
                <a:ea typeface="Aptos" pitchFamily="34" charset="-122"/>
                <a:cs typeface="Aptos" pitchFamily="34" charset="-120"/>
              </a:rPr>
              <a:t>decreases stress score</a:t>
            </a:r>
            <a:endParaRPr lang="en-US" sz="1200" dirty="0"/>
          </a:p>
        </p:txBody>
      </p:sp>
      <p:sp>
        <p:nvSpPr>
          <p:cNvPr id="15" name="Text 13"/>
          <p:cNvSpPr/>
          <p:nvPr/>
        </p:nvSpPr>
        <p:spPr>
          <a:xfrm>
            <a:off x="914400" y="3776472"/>
            <a:ext cx="4160520" cy="274320"/>
          </a:xfrm>
          <a:prstGeom prst="rect">
            <a:avLst/>
          </a:prstGeom>
          <a:noFill/>
          <a:ln/>
        </p:spPr>
        <p:txBody>
          <a:bodyPr wrap="square" lIns="0" tIns="0" rIns="0" bIns="0" rtlCol="0" anchor="ctr">
            <a:normAutofit/>
          </a:bodyPr>
          <a:lstStyle/>
          <a:p>
            <a:pPr marL="0" indent="0">
              <a:buNone/>
            </a:pPr>
            <a:r>
              <a:rPr lang="en-US" sz="1350" b="1" dirty="0">
                <a:solidFill>
                  <a:srgbClr val="6CA8FF"/>
                </a:solidFill>
                <a:latin typeface="Aptos" pitchFamily="34" charset="0"/>
                <a:ea typeface="Aptos" pitchFamily="34" charset="-122"/>
                <a:cs typeface="Aptos" pitchFamily="34" charset="-120"/>
              </a:rPr>
              <a:t>Odds Ratio = exp(coefficient)</a:t>
            </a:r>
            <a:endParaRPr lang="en-US" sz="1350" dirty="0"/>
          </a:p>
        </p:txBody>
      </p:sp>
      <p:sp>
        <p:nvSpPr>
          <p:cNvPr id="16" name="Shape 14"/>
          <p:cNvSpPr/>
          <p:nvPr/>
        </p:nvSpPr>
        <p:spPr>
          <a:xfrm>
            <a:off x="6080760" y="1874520"/>
            <a:ext cx="5303520" cy="2514600"/>
          </a:xfrm>
          <a:prstGeom prst="roundRect">
            <a:avLst>
              <a:gd name="adj" fmla="val 4364"/>
            </a:avLst>
          </a:prstGeom>
          <a:solidFill>
            <a:srgbClr val="10283F"/>
          </a:solidFill>
          <a:ln w="12700">
            <a:solidFill>
              <a:srgbClr val="1B3853"/>
            </a:solidFill>
            <a:prstDash val="solid"/>
          </a:ln>
        </p:spPr>
      </p:sp>
      <p:sp>
        <p:nvSpPr>
          <p:cNvPr id="17" name="Text 15"/>
          <p:cNvSpPr/>
          <p:nvPr/>
        </p:nvSpPr>
        <p:spPr>
          <a:xfrm>
            <a:off x="6355080" y="2121408"/>
            <a:ext cx="2240280" cy="219456"/>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THRESHOLD TRADE-OFF</a:t>
            </a:r>
            <a:endParaRPr lang="en-US" sz="1000" dirty="0"/>
          </a:p>
        </p:txBody>
      </p:sp>
      <p:sp>
        <p:nvSpPr>
          <p:cNvPr id="18" name="Shape 16"/>
          <p:cNvSpPr/>
          <p:nvPr/>
        </p:nvSpPr>
        <p:spPr>
          <a:xfrm>
            <a:off x="6583680" y="2761488"/>
            <a:ext cx="566928" cy="566928"/>
          </a:xfrm>
          <a:prstGeom prst="ellipse">
            <a:avLst/>
          </a:prstGeom>
          <a:solidFill>
            <a:srgbClr val="0A192A"/>
          </a:solidFill>
          <a:ln w="12700">
            <a:solidFill>
              <a:srgbClr val="1B3853"/>
            </a:solidFill>
            <a:prstDash val="solid"/>
          </a:ln>
        </p:spPr>
      </p:sp>
      <p:sp>
        <p:nvSpPr>
          <p:cNvPr id="19" name="Text 17"/>
          <p:cNvSpPr/>
          <p:nvPr/>
        </p:nvSpPr>
        <p:spPr>
          <a:xfrm>
            <a:off x="6537960" y="3419856"/>
            <a:ext cx="658368" cy="219456"/>
          </a:xfrm>
          <a:prstGeom prst="rect">
            <a:avLst/>
          </a:prstGeom>
          <a:noFill/>
          <a:ln/>
        </p:spPr>
        <p:txBody>
          <a:bodyPr wrap="square" lIns="0" tIns="0" rIns="0" bIns="0" rtlCol="0" anchor="ctr">
            <a:normAutofit/>
          </a:bodyPr>
          <a:lstStyle/>
          <a:p>
            <a:pPr marL="0" indent="0" algn="ctr">
              <a:buNone/>
            </a:pPr>
            <a:r>
              <a:rPr lang="en-US" sz="1050" dirty="0">
                <a:solidFill>
                  <a:srgbClr val="93A8BB"/>
                </a:solidFill>
                <a:latin typeface="Aptos" pitchFamily="34" charset="0"/>
                <a:ea typeface="Aptos" pitchFamily="34" charset="-122"/>
                <a:cs typeface="Aptos" pitchFamily="34" charset="-120"/>
              </a:rPr>
              <a:t>0.30</a:t>
            </a:r>
            <a:endParaRPr lang="en-US" sz="1050" dirty="0"/>
          </a:p>
        </p:txBody>
      </p:sp>
      <p:sp>
        <p:nvSpPr>
          <p:cNvPr id="20" name="Shape 18"/>
          <p:cNvSpPr/>
          <p:nvPr/>
        </p:nvSpPr>
        <p:spPr>
          <a:xfrm>
            <a:off x="7150608" y="3044952"/>
            <a:ext cx="667512" cy="0"/>
          </a:xfrm>
          <a:prstGeom prst="line">
            <a:avLst/>
          </a:prstGeom>
          <a:noFill/>
          <a:ln w="17780">
            <a:solidFill>
              <a:srgbClr val="93A8BB"/>
            </a:solidFill>
            <a:prstDash val="solid"/>
          </a:ln>
        </p:spPr>
      </p:sp>
      <p:sp>
        <p:nvSpPr>
          <p:cNvPr id="21" name="Shape 19"/>
          <p:cNvSpPr/>
          <p:nvPr/>
        </p:nvSpPr>
        <p:spPr>
          <a:xfrm>
            <a:off x="7818120" y="2761488"/>
            <a:ext cx="566928" cy="566928"/>
          </a:xfrm>
          <a:prstGeom prst="ellipse">
            <a:avLst/>
          </a:prstGeom>
          <a:solidFill>
            <a:srgbClr val="0A192A"/>
          </a:solidFill>
          <a:ln w="12700">
            <a:solidFill>
              <a:srgbClr val="1B3853"/>
            </a:solidFill>
            <a:prstDash val="solid"/>
          </a:ln>
        </p:spPr>
      </p:sp>
      <p:sp>
        <p:nvSpPr>
          <p:cNvPr id="22" name="Text 20"/>
          <p:cNvSpPr/>
          <p:nvPr/>
        </p:nvSpPr>
        <p:spPr>
          <a:xfrm>
            <a:off x="7772400" y="3419856"/>
            <a:ext cx="658368" cy="219456"/>
          </a:xfrm>
          <a:prstGeom prst="rect">
            <a:avLst/>
          </a:prstGeom>
          <a:noFill/>
          <a:ln/>
        </p:spPr>
        <p:txBody>
          <a:bodyPr wrap="square" lIns="0" tIns="0" rIns="0" bIns="0" rtlCol="0" anchor="ctr">
            <a:normAutofit/>
          </a:bodyPr>
          <a:lstStyle/>
          <a:p>
            <a:pPr marL="0" indent="0" algn="ctr">
              <a:buNone/>
            </a:pPr>
            <a:r>
              <a:rPr lang="en-US" sz="1050" dirty="0">
                <a:solidFill>
                  <a:srgbClr val="93A8BB"/>
                </a:solidFill>
                <a:latin typeface="Aptos" pitchFamily="34" charset="0"/>
                <a:ea typeface="Aptos" pitchFamily="34" charset="-122"/>
                <a:cs typeface="Aptos" pitchFamily="34" charset="-120"/>
              </a:rPr>
              <a:t>0.50</a:t>
            </a:r>
            <a:endParaRPr lang="en-US" sz="1050" dirty="0"/>
          </a:p>
        </p:txBody>
      </p:sp>
      <p:sp>
        <p:nvSpPr>
          <p:cNvPr id="23" name="Shape 21"/>
          <p:cNvSpPr/>
          <p:nvPr/>
        </p:nvSpPr>
        <p:spPr>
          <a:xfrm>
            <a:off x="8385048" y="3044952"/>
            <a:ext cx="667512" cy="0"/>
          </a:xfrm>
          <a:prstGeom prst="line">
            <a:avLst/>
          </a:prstGeom>
          <a:noFill/>
          <a:ln w="17780">
            <a:solidFill>
              <a:srgbClr val="93A8BB"/>
            </a:solidFill>
            <a:prstDash val="solid"/>
          </a:ln>
        </p:spPr>
      </p:sp>
      <p:sp>
        <p:nvSpPr>
          <p:cNvPr id="24" name="Shape 22"/>
          <p:cNvSpPr/>
          <p:nvPr/>
        </p:nvSpPr>
        <p:spPr>
          <a:xfrm>
            <a:off x="9052560" y="2761488"/>
            <a:ext cx="566928" cy="566928"/>
          </a:xfrm>
          <a:prstGeom prst="ellipse">
            <a:avLst/>
          </a:prstGeom>
          <a:solidFill>
            <a:srgbClr val="35D0BA"/>
          </a:solidFill>
          <a:ln w="12700">
            <a:solidFill>
              <a:srgbClr val="35D0BA"/>
            </a:solidFill>
            <a:prstDash val="solid"/>
          </a:ln>
        </p:spPr>
      </p:sp>
      <p:sp>
        <p:nvSpPr>
          <p:cNvPr id="25" name="Text 23"/>
          <p:cNvSpPr/>
          <p:nvPr/>
        </p:nvSpPr>
        <p:spPr>
          <a:xfrm>
            <a:off x="9006840" y="3419856"/>
            <a:ext cx="658368" cy="219456"/>
          </a:xfrm>
          <a:prstGeom prst="rect">
            <a:avLst/>
          </a:prstGeom>
          <a:noFill/>
          <a:ln/>
        </p:spPr>
        <p:txBody>
          <a:bodyPr wrap="square" lIns="0" tIns="0" rIns="0" bIns="0" rtlCol="0" anchor="ctr">
            <a:normAutofit/>
          </a:bodyPr>
          <a:lstStyle/>
          <a:p>
            <a:pPr marL="0" indent="0" algn="ctr">
              <a:buNone/>
            </a:pPr>
            <a:r>
              <a:rPr lang="en-US" sz="1050" b="1" dirty="0">
                <a:solidFill>
                  <a:srgbClr val="35D0BA"/>
                </a:solidFill>
                <a:latin typeface="Aptos" pitchFamily="34" charset="0"/>
                <a:ea typeface="Aptos" pitchFamily="34" charset="-122"/>
                <a:cs typeface="Aptos" pitchFamily="34" charset="-120"/>
              </a:rPr>
              <a:t>0.68</a:t>
            </a:r>
            <a:endParaRPr lang="en-US" sz="1050" dirty="0"/>
          </a:p>
        </p:txBody>
      </p:sp>
      <p:sp>
        <p:nvSpPr>
          <p:cNvPr id="26" name="Shape 24"/>
          <p:cNvSpPr/>
          <p:nvPr/>
        </p:nvSpPr>
        <p:spPr>
          <a:xfrm>
            <a:off x="9619488" y="3044952"/>
            <a:ext cx="667512" cy="0"/>
          </a:xfrm>
          <a:prstGeom prst="line">
            <a:avLst/>
          </a:prstGeom>
          <a:noFill/>
          <a:ln w="17780">
            <a:solidFill>
              <a:srgbClr val="93A8BB"/>
            </a:solidFill>
            <a:prstDash val="solid"/>
          </a:ln>
        </p:spPr>
      </p:sp>
      <p:sp>
        <p:nvSpPr>
          <p:cNvPr id="27" name="Shape 25"/>
          <p:cNvSpPr/>
          <p:nvPr/>
        </p:nvSpPr>
        <p:spPr>
          <a:xfrm>
            <a:off x="10287000" y="2761488"/>
            <a:ext cx="566928" cy="566928"/>
          </a:xfrm>
          <a:prstGeom prst="ellipse">
            <a:avLst/>
          </a:prstGeom>
          <a:solidFill>
            <a:srgbClr val="0A192A"/>
          </a:solidFill>
          <a:ln w="12700">
            <a:solidFill>
              <a:srgbClr val="1B3853"/>
            </a:solidFill>
            <a:prstDash val="solid"/>
          </a:ln>
        </p:spPr>
      </p:sp>
      <p:sp>
        <p:nvSpPr>
          <p:cNvPr id="28" name="Text 26"/>
          <p:cNvSpPr/>
          <p:nvPr/>
        </p:nvSpPr>
        <p:spPr>
          <a:xfrm>
            <a:off x="10241280" y="3419856"/>
            <a:ext cx="658368" cy="219456"/>
          </a:xfrm>
          <a:prstGeom prst="rect">
            <a:avLst/>
          </a:prstGeom>
          <a:noFill/>
          <a:ln/>
        </p:spPr>
        <p:txBody>
          <a:bodyPr wrap="square" lIns="0" tIns="0" rIns="0" bIns="0" rtlCol="0" anchor="ctr">
            <a:normAutofit/>
          </a:bodyPr>
          <a:lstStyle/>
          <a:p>
            <a:pPr marL="0" indent="0" algn="ctr">
              <a:buNone/>
            </a:pPr>
            <a:r>
              <a:rPr lang="en-US" sz="1050" dirty="0">
                <a:solidFill>
                  <a:srgbClr val="93A8BB"/>
                </a:solidFill>
                <a:latin typeface="Aptos" pitchFamily="34" charset="0"/>
                <a:ea typeface="Aptos" pitchFamily="34" charset="-122"/>
                <a:cs typeface="Aptos" pitchFamily="34" charset="-120"/>
              </a:rPr>
              <a:t>0.80</a:t>
            </a:r>
            <a:endParaRPr lang="en-US" sz="1050" dirty="0"/>
          </a:p>
        </p:txBody>
      </p:sp>
      <p:sp>
        <p:nvSpPr>
          <p:cNvPr id="29" name="Text 27"/>
          <p:cNvSpPr/>
          <p:nvPr/>
        </p:nvSpPr>
        <p:spPr>
          <a:xfrm>
            <a:off x="6419088" y="3822192"/>
            <a:ext cx="4526280" cy="329184"/>
          </a:xfrm>
          <a:prstGeom prst="rect">
            <a:avLst/>
          </a:prstGeom>
          <a:noFill/>
          <a:ln/>
        </p:spPr>
        <p:txBody>
          <a:bodyPr wrap="square" lIns="0" tIns="0" rIns="0" bIns="0" rtlCol="0" anchor="ctr">
            <a:normAutofit/>
          </a:bodyPr>
          <a:lstStyle/>
          <a:p>
            <a:pPr marL="0" indent="0" algn="ctr">
              <a:buNone/>
            </a:pPr>
            <a:r>
              <a:rPr lang="en-US" sz="1300" b="1" dirty="0">
                <a:solidFill>
                  <a:srgbClr val="F2F7FB"/>
                </a:solidFill>
                <a:latin typeface="Aptos" pitchFamily="34" charset="0"/>
                <a:ea typeface="Aptos" pitchFamily="34" charset="-122"/>
                <a:cs typeface="Aptos" pitchFamily="34" charset="-120"/>
              </a:rPr>
              <a:t>At 0.68 → Precision ↑ · Recall still &gt; 80% · F1 improves</a:t>
            </a:r>
            <a:endParaRPr lang="en-US" sz="1300" dirty="0"/>
          </a:p>
        </p:txBody>
      </p:sp>
      <p:sp>
        <p:nvSpPr>
          <p:cNvPr id="30" name="Shape 28"/>
          <p:cNvSpPr/>
          <p:nvPr/>
        </p:nvSpPr>
        <p:spPr>
          <a:xfrm>
            <a:off x="914400" y="4800600"/>
            <a:ext cx="10058400" cy="640080"/>
          </a:xfrm>
          <a:prstGeom prst="roundRect">
            <a:avLst>
              <a:gd name="adj" fmla="val 17143"/>
            </a:avLst>
          </a:prstGeom>
          <a:solidFill>
            <a:srgbClr val="0A192A"/>
          </a:solidFill>
          <a:ln w="12700">
            <a:solidFill>
              <a:srgbClr val="1B3853"/>
            </a:solidFill>
            <a:prstDash val="solid"/>
          </a:ln>
        </p:spPr>
      </p:sp>
      <p:sp>
        <p:nvSpPr>
          <p:cNvPr id="31" name="Text 29"/>
          <p:cNvSpPr/>
          <p:nvPr/>
        </p:nvSpPr>
        <p:spPr>
          <a:xfrm>
            <a:off x="1143000" y="5001768"/>
            <a:ext cx="9601200" cy="228600"/>
          </a:xfrm>
          <a:prstGeom prst="rect">
            <a:avLst/>
          </a:prstGeom>
          <a:noFill/>
          <a:ln/>
        </p:spPr>
        <p:txBody>
          <a:bodyPr wrap="square" lIns="0" tIns="0" rIns="0" bIns="0" rtlCol="0" anchor="ctr">
            <a:normAutofit/>
          </a:bodyPr>
          <a:lstStyle/>
          <a:p>
            <a:pPr marL="0" indent="0" algn="ctr">
              <a:buNone/>
            </a:pPr>
            <a:r>
              <a:rPr lang="en-US" sz="1240" b="1" dirty="0">
                <a:solidFill>
                  <a:srgbClr val="F6B85A"/>
                </a:solidFill>
                <a:latin typeface="Aptos" pitchFamily="34" charset="0"/>
                <a:ea typeface="Aptos" pitchFamily="34" charset="-122"/>
                <a:cs typeface="Aptos" pitchFamily="34" charset="-120"/>
              </a:rPr>
              <a:t>Important: association ≠ causation. This is a stress-proxy model, not an approval engine.</a:t>
            </a:r>
            <a:endParaRPr lang="en-US" sz="1240" dirty="0"/>
          </a:p>
        </p:txBody>
      </p:sp>
      <p:sp>
        <p:nvSpPr>
          <p:cNvPr id="32"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MODULE 03</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Loan Risk — Experimental Extra Trees Ranking</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Rare-event classification where accuracy alone would be misleading.</a:t>
            </a:r>
            <a:endParaRPr lang="en-US" sz="1350" dirty="0"/>
          </a:p>
        </p:txBody>
      </p:sp>
      <p:sp>
        <p:nvSpPr>
          <p:cNvPr id="5" name="Shape 3"/>
          <p:cNvSpPr/>
          <p:nvPr/>
        </p:nvSpPr>
        <p:spPr>
          <a:xfrm>
            <a:off x="9555480" y="384048"/>
            <a:ext cx="2157984" cy="310896"/>
          </a:xfrm>
          <a:prstGeom prst="roundRect">
            <a:avLst>
              <a:gd name="adj" fmla="val 47059"/>
            </a:avLst>
          </a:prstGeom>
          <a:solidFill>
            <a:srgbClr val="F6B85A">
              <a:alpha val="18000"/>
            </a:srgbClr>
          </a:solidFill>
          <a:ln w="12700">
            <a:solidFill>
              <a:srgbClr val="F6B85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F6B85A"/>
                </a:solidFill>
                <a:latin typeface="Aptos" pitchFamily="34" charset="0"/>
                <a:ea typeface="Aptos" pitchFamily="34" charset="-122"/>
                <a:cs typeface="Aptos" pitchFamily="34" charset="-120"/>
              </a:rPr>
              <a:t>PRANAV KR MISHRA</a:t>
            </a:r>
            <a:endParaRPr lang="en-US" sz="950" dirty="0"/>
          </a:p>
        </p:txBody>
      </p:sp>
      <p:sp>
        <p:nvSpPr>
          <p:cNvPr id="7" name="Shape 5"/>
          <p:cNvSpPr/>
          <p:nvPr/>
        </p:nvSpPr>
        <p:spPr>
          <a:xfrm>
            <a:off x="548640" y="1828800"/>
            <a:ext cx="2971800" cy="2834640"/>
          </a:xfrm>
          <a:prstGeom prst="roundRect">
            <a:avLst>
              <a:gd name="adj" fmla="val 3871"/>
            </a:avLst>
          </a:prstGeom>
          <a:solidFill>
            <a:srgbClr val="0E2034"/>
          </a:solidFill>
          <a:ln w="12700">
            <a:solidFill>
              <a:srgbClr val="1B3853"/>
            </a:solidFill>
            <a:prstDash val="solid"/>
          </a:ln>
        </p:spPr>
      </p:sp>
      <p:sp>
        <p:nvSpPr>
          <p:cNvPr id="8" name="Text 6"/>
          <p:cNvSpPr/>
          <p:nvPr/>
        </p:nvSpPr>
        <p:spPr>
          <a:xfrm>
            <a:off x="795528" y="2066544"/>
            <a:ext cx="2057400" cy="219456"/>
          </a:xfrm>
          <a:prstGeom prst="rect">
            <a:avLst/>
          </a:prstGeom>
          <a:noFill/>
          <a:ln/>
        </p:spPr>
        <p:txBody>
          <a:bodyPr wrap="square" lIns="0" tIns="0" rIns="0" bIns="0" rtlCol="0" anchor="ctr">
            <a:normAutofit/>
          </a:bodyPr>
          <a:lstStyle/>
          <a:p>
            <a:pPr marL="0" indent="0">
              <a:buNone/>
            </a:pPr>
            <a:r>
              <a:rPr lang="en-US" sz="1000" b="1" kern="0" spc="110" dirty="0">
                <a:solidFill>
                  <a:srgbClr val="F6B85A"/>
                </a:solidFill>
                <a:latin typeface="Aptos" pitchFamily="34" charset="0"/>
                <a:ea typeface="Aptos" pitchFamily="34" charset="-122"/>
                <a:cs typeface="Aptos" pitchFamily="34" charset="-120"/>
              </a:rPr>
              <a:t>WHY THIS IS HARD</a:t>
            </a:r>
            <a:endParaRPr lang="en-US" sz="1000" dirty="0"/>
          </a:p>
        </p:txBody>
      </p:sp>
      <p:sp>
        <p:nvSpPr>
          <p:cNvPr id="9" name="Text 7"/>
          <p:cNvSpPr/>
          <p:nvPr/>
        </p:nvSpPr>
        <p:spPr>
          <a:xfrm>
            <a:off x="795528" y="2542032"/>
            <a:ext cx="2487168" cy="1143000"/>
          </a:xfrm>
          <a:prstGeom prst="rect">
            <a:avLst/>
          </a:prstGeom>
          <a:noFill/>
          <a:ln/>
        </p:spPr>
        <p:txBody>
          <a:bodyPr wrap="square" lIns="0" tIns="0" rIns="0" bIns="0" rtlCol="0" anchor="t">
            <a:normAutofit/>
          </a:bodyPr>
          <a:lstStyle/>
          <a:p>
            <a:pPr marL="0" indent="0">
              <a:buNone/>
            </a:pPr>
            <a:r>
              <a:rPr lang="en-US" sz="1400" b="1" dirty="0">
                <a:solidFill>
                  <a:srgbClr val="F2F7FB"/>
                </a:solidFill>
                <a:latin typeface="Aptos" pitchFamily="34" charset="0"/>
                <a:ea typeface="Aptos" pitchFamily="34" charset="-122"/>
                <a:cs typeface="Aptos" pitchFamily="34" charset="-120"/>
              </a:rPr>
              <a:t>Positive risky cases are rare. A model can show high accuracy by predicting “safe” most of the time.</a:t>
            </a:r>
            <a:endParaRPr lang="en-US" sz="1400" dirty="0"/>
          </a:p>
        </p:txBody>
      </p:sp>
      <p:sp>
        <p:nvSpPr>
          <p:cNvPr id="10" name="Text 8"/>
          <p:cNvSpPr/>
          <p:nvPr/>
        </p:nvSpPr>
        <p:spPr>
          <a:xfrm>
            <a:off x="795528" y="3886200"/>
            <a:ext cx="2487168" cy="566928"/>
          </a:xfrm>
          <a:prstGeom prst="rect">
            <a:avLst/>
          </a:prstGeom>
          <a:noFill/>
          <a:ln/>
        </p:spPr>
        <p:txBody>
          <a:bodyPr wrap="square" lIns="0" tIns="0" rIns="0" bIns="0" rtlCol="0" anchor="ctr">
            <a:normAutofit/>
          </a:bodyPr>
          <a:lstStyle/>
          <a:p>
            <a:pPr marL="0" indent="0">
              <a:buNone/>
            </a:pPr>
            <a:r>
              <a:rPr lang="en-US" sz="1170" dirty="0">
                <a:solidFill>
                  <a:srgbClr val="93A8BB"/>
                </a:solidFill>
                <a:latin typeface="Aptos" pitchFamily="34" charset="0"/>
                <a:ea typeface="Aptos" pitchFamily="34" charset="-122"/>
                <a:cs typeface="Aptos" pitchFamily="34" charset="-120"/>
              </a:rPr>
              <a:t>So we focus on PR-AUC, ROC-AUC, Recall, F1 and MCC.</a:t>
            </a:r>
            <a:endParaRPr lang="en-US" sz="1170" dirty="0"/>
          </a:p>
        </p:txBody>
      </p:sp>
      <p:sp>
        <p:nvSpPr>
          <p:cNvPr id="11" name="Shape 9"/>
          <p:cNvSpPr/>
          <p:nvPr/>
        </p:nvSpPr>
        <p:spPr>
          <a:xfrm>
            <a:off x="3749040" y="1828800"/>
            <a:ext cx="2011680" cy="960120"/>
          </a:xfrm>
          <a:prstGeom prst="roundRect">
            <a:avLst>
              <a:gd name="adj" fmla="val 11429"/>
            </a:avLst>
          </a:prstGeom>
          <a:solidFill>
            <a:srgbClr val="0E2034"/>
          </a:solidFill>
          <a:ln w="12700">
            <a:solidFill>
              <a:srgbClr val="1B3853"/>
            </a:solidFill>
            <a:prstDash val="solid"/>
          </a:ln>
        </p:spPr>
      </p:sp>
      <p:sp>
        <p:nvSpPr>
          <p:cNvPr id="12" name="Text 10"/>
          <p:cNvSpPr/>
          <p:nvPr/>
        </p:nvSpPr>
        <p:spPr>
          <a:xfrm>
            <a:off x="3913632" y="1920240"/>
            <a:ext cx="168249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6CA8FF"/>
                </a:solidFill>
                <a:latin typeface="Aptos" pitchFamily="34" charset="0"/>
                <a:ea typeface="Aptos" pitchFamily="34" charset="-122"/>
                <a:cs typeface="Aptos" pitchFamily="34" charset="-120"/>
              </a:rPr>
              <a:t>0.6487</a:t>
            </a:r>
            <a:endParaRPr lang="en-US" sz="2300" dirty="0"/>
          </a:p>
        </p:txBody>
      </p:sp>
      <p:sp>
        <p:nvSpPr>
          <p:cNvPr id="13" name="Text 11"/>
          <p:cNvSpPr/>
          <p:nvPr/>
        </p:nvSpPr>
        <p:spPr>
          <a:xfrm>
            <a:off x="3913632" y="2286000"/>
            <a:ext cx="168249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ROC-AUC</a:t>
            </a:r>
            <a:endParaRPr lang="en-US" sz="1070" dirty="0"/>
          </a:p>
        </p:txBody>
      </p:sp>
      <p:sp>
        <p:nvSpPr>
          <p:cNvPr id="14" name="Text 12"/>
          <p:cNvSpPr/>
          <p:nvPr/>
        </p:nvSpPr>
        <p:spPr>
          <a:xfrm>
            <a:off x="3913632" y="2505456"/>
            <a:ext cx="168249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March holdout</a:t>
            </a:r>
            <a:endParaRPr lang="en-US" sz="870" dirty="0"/>
          </a:p>
        </p:txBody>
      </p:sp>
      <p:sp>
        <p:nvSpPr>
          <p:cNvPr id="15" name="Shape 13"/>
          <p:cNvSpPr/>
          <p:nvPr/>
        </p:nvSpPr>
        <p:spPr>
          <a:xfrm>
            <a:off x="5989320" y="1828800"/>
            <a:ext cx="2011680" cy="960120"/>
          </a:xfrm>
          <a:prstGeom prst="roundRect">
            <a:avLst>
              <a:gd name="adj" fmla="val 11429"/>
            </a:avLst>
          </a:prstGeom>
          <a:solidFill>
            <a:srgbClr val="0E2034"/>
          </a:solidFill>
          <a:ln w="12700">
            <a:solidFill>
              <a:srgbClr val="1B3853"/>
            </a:solidFill>
            <a:prstDash val="solid"/>
          </a:ln>
        </p:spPr>
      </p:sp>
      <p:sp>
        <p:nvSpPr>
          <p:cNvPr id="16" name="Text 14"/>
          <p:cNvSpPr/>
          <p:nvPr/>
        </p:nvSpPr>
        <p:spPr>
          <a:xfrm>
            <a:off x="6153912" y="1920240"/>
            <a:ext cx="168249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A78BFA"/>
                </a:solidFill>
                <a:latin typeface="Aptos" pitchFamily="34" charset="0"/>
                <a:ea typeface="Aptos" pitchFamily="34" charset="-122"/>
                <a:cs typeface="Aptos" pitchFamily="34" charset="-120"/>
              </a:rPr>
              <a:t>0.0326</a:t>
            </a:r>
            <a:endParaRPr lang="en-US" sz="2300" dirty="0"/>
          </a:p>
        </p:txBody>
      </p:sp>
      <p:sp>
        <p:nvSpPr>
          <p:cNvPr id="17" name="Text 15"/>
          <p:cNvSpPr/>
          <p:nvPr/>
        </p:nvSpPr>
        <p:spPr>
          <a:xfrm>
            <a:off x="6153912" y="2286000"/>
            <a:ext cx="168249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PR-AUC</a:t>
            </a:r>
            <a:endParaRPr lang="en-US" sz="1070" dirty="0"/>
          </a:p>
        </p:txBody>
      </p:sp>
      <p:sp>
        <p:nvSpPr>
          <p:cNvPr id="18" name="Text 16"/>
          <p:cNvSpPr/>
          <p:nvPr/>
        </p:nvSpPr>
        <p:spPr>
          <a:xfrm>
            <a:off x="6153912" y="2505456"/>
            <a:ext cx="168249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Rare-event ranking</a:t>
            </a:r>
            <a:endParaRPr lang="en-US" sz="870" dirty="0"/>
          </a:p>
        </p:txBody>
      </p:sp>
      <p:sp>
        <p:nvSpPr>
          <p:cNvPr id="19" name="Shape 17"/>
          <p:cNvSpPr/>
          <p:nvPr/>
        </p:nvSpPr>
        <p:spPr>
          <a:xfrm>
            <a:off x="8229600" y="1828800"/>
            <a:ext cx="2011680" cy="960120"/>
          </a:xfrm>
          <a:prstGeom prst="roundRect">
            <a:avLst>
              <a:gd name="adj" fmla="val 11429"/>
            </a:avLst>
          </a:prstGeom>
          <a:solidFill>
            <a:srgbClr val="0E2034"/>
          </a:solidFill>
          <a:ln w="12700">
            <a:solidFill>
              <a:srgbClr val="1B3853"/>
            </a:solidFill>
            <a:prstDash val="solid"/>
          </a:ln>
        </p:spPr>
      </p:sp>
      <p:sp>
        <p:nvSpPr>
          <p:cNvPr id="20" name="Text 18"/>
          <p:cNvSpPr/>
          <p:nvPr/>
        </p:nvSpPr>
        <p:spPr>
          <a:xfrm>
            <a:off x="8394192" y="1920240"/>
            <a:ext cx="1682496"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F6B85A"/>
                </a:solidFill>
                <a:latin typeface="Aptos" pitchFamily="34" charset="0"/>
                <a:ea typeface="Aptos" pitchFamily="34" charset="-122"/>
                <a:cs typeface="Aptos" pitchFamily="34" charset="-120"/>
              </a:rPr>
              <a:t>0.232</a:t>
            </a:r>
            <a:endParaRPr lang="en-US" sz="2300" dirty="0"/>
          </a:p>
        </p:txBody>
      </p:sp>
      <p:sp>
        <p:nvSpPr>
          <p:cNvPr id="21" name="Text 19"/>
          <p:cNvSpPr/>
          <p:nvPr/>
        </p:nvSpPr>
        <p:spPr>
          <a:xfrm>
            <a:off x="8394192" y="2286000"/>
            <a:ext cx="1682496" cy="201168"/>
          </a:xfrm>
          <a:prstGeom prst="rect">
            <a:avLst/>
          </a:prstGeom>
          <a:noFill/>
          <a:ln/>
        </p:spPr>
        <p:txBody>
          <a:bodyPr wrap="square" lIns="0" tIns="0" rIns="0" bIns="0" rtlCol="0" anchor="ctr">
            <a:normAutofit/>
          </a:bodyPr>
          <a:lstStyle/>
          <a:p>
            <a:pPr marL="0" indent="0">
              <a:buNone/>
            </a:pPr>
            <a:r>
              <a:rPr lang="en-US" sz="1070" b="1" dirty="0">
                <a:solidFill>
                  <a:srgbClr val="F2F7FB"/>
                </a:solidFill>
                <a:latin typeface="Aptos" pitchFamily="34" charset="0"/>
                <a:ea typeface="Aptos" pitchFamily="34" charset="-122"/>
                <a:cs typeface="Aptos" pitchFamily="34" charset="-120"/>
              </a:rPr>
              <a:t>Threshold</a:t>
            </a:r>
            <a:endParaRPr lang="en-US" sz="1070" dirty="0"/>
          </a:p>
        </p:txBody>
      </p:sp>
      <p:sp>
        <p:nvSpPr>
          <p:cNvPr id="22" name="Text 20"/>
          <p:cNvSpPr/>
          <p:nvPr/>
        </p:nvSpPr>
        <p:spPr>
          <a:xfrm>
            <a:off x="8394192" y="2505456"/>
            <a:ext cx="1682496" cy="164592"/>
          </a:xfrm>
          <a:prstGeom prst="rect">
            <a:avLst/>
          </a:prstGeom>
          <a:noFill/>
          <a:ln/>
        </p:spPr>
        <p:txBody>
          <a:bodyPr wrap="square" lIns="0" tIns="0" rIns="0" bIns="0" rtlCol="0" anchor="ctr">
            <a:normAutofit/>
          </a:bodyPr>
          <a:lstStyle/>
          <a:p>
            <a:pPr marL="0" indent="0">
              <a:buNone/>
            </a:pPr>
            <a:r>
              <a:rPr lang="en-US" sz="870" dirty="0">
                <a:solidFill>
                  <a:srgbClr val="93A8BB"/>
                </a:solidFill>
                <a:latin typeface="Aptos" pitchFamily="34" charset="0"/>
                <a:ea typeface="Aptos" pitchFamily="34" charset="-122"/>
                <a:cs typeface="Aptos" pitchFamily="34" charset="-120"/>
              </a:rPr>
              <a:t>STEP 7 tuned</a:t>
            </a:r>
            <a:endParaRPr lang="en-US" sz="870" dirty="0"/>
          </a:p>
        </p:txBody>
      </p:sp>
      <p:sp>
        <p:nvSpPr>
          <p:cNvPr id="23" name="Shape 21"/>
          <p:cNvSpPr/>
          <p:nvPr/>
        </p:nvSpPr>
        <p:spPr>
          <a:xfrm>
            <a:off x="3749040" y="3246120"/>
            <a:ext cx="6492240" cy="1417320"/>
          </a:xfrm>
          <a:prstGeom prst="roundRect">
            <a:avLst>
              <a:gd name="adj" fmla="val 7742"/>
            </a:avLst>
          </a:prstGeom>
          <a:solidFill>
            <a:srgbClr val="10283F"/>
          </a:solidFill>
          <a:ln w="12700">
            <a:solidFill>
              <a:srgbClr val="1B3853"/>
            </a:solidFill>
            <a:prstDash val="solid"/>
          </a:ln>
        </p:spPr>
      </p:sp>
      <p:sp>
        <p:nvSpPr>
          <p:cNvPr id="24" name="Shape 22"/>
          <p:cNvSpPr/>
          <p:nvPr/>
        </p:nvSpPr>
        <p:spPr>
          <a:xfrm>
            <a:off x="4023360" y="3493008"/>
            <a:ext cx="2148840" cy="310896"/>
          </a:xfrm>
          <a:prstGeom prst="roundRect">
            <a:avLst>
              <a:gd name="adj" fmla="val 47059"/>
            </a:avLst>
          </a:prstGeom>
          <a:solidFill>
            <a:srgbClr val="F6B85A">
              <a:alpha val="18000"/>
            </a:srgbClr>
          </a:solidFill>
          <a:ln w="12700">
            <a:solidFill>
              <a:srgbClr val="F6B85A">
                <a:alpha val="30000"/>
              </a:srgbClr>
            </a:solidFill>
            <a:prstDash val="solid"/>
          </a:ln>
        </p:spPr>
      </p:sp>
      <p:sp>
        <p:nvSpPr>
          <p:cNvPr id="25" name="Text 23"/>
          <p:cNvSpPr/>
          <p:nvPr/>
        </p:nvSpPr>
        <p:spPr>
          <a:xfrm>
            <a:off x="4096512" y="3511296"/>
            <a:ext cx="2002536" cy="274320"/>
          </a:xfrm>
          <a:prstGeom prst="rect">
            <a:avLst/>
          </a:prstGeom>
          <a:noFill/>
          <a:ln/>
        </p:spPr>
        <p:txBody>
          <a:bodyPr wrap="square" lIns="0" tIns="0" rIns="0" bIns="0" rtlCol="0" anchor="ctr">
            <a:normAutofit/>
          </a:bodyPr>
          <a:lstStyle/>
          <a:p>
            <a:pPr marL="0" indent="0" algn="ctr">
              <a:buNone/>
            </a:pPr>
            <a:r>
              <a:rPr lang="en-US" sz="950" b="1" dirty="0">
                <a:solidFill>
                  <a:srgbClr val="F6B85A"/>
                </a:solidFill>
                <a:latin typeface="Aptos" pitchFamily="34" charset="0"/>
                <a:ea typeface="Aptos" pitchFamily="34" charset="-122"/>
                <a:cs typeface="Aptos" pitchFamily="34" charset="-120"/>
              </a:rPr>
              <a:t>CHAMPION: EXTRA TREES</a:t>
            </a:r>
            <a:endParaRPr lang="en-US" sz="950" dirty="0"/>
          </a:p>
        </p:txBody>
      </p:sp>
      <p:sp>
        <p:nvSpPr>
          <p:cNvPr id="26" name="Text 24"/>
          <p:cNvSpPr/>
          <p:nvPr/>
        </p:nvSpPr>
        <p:spPr>
          <a:xfrm>
            <a:off x="4023360" y="3977640"/>
            <a:ext cx="2651760" cy="292608"/>
          </a:xfrm>
          <a:prstGeom prst="rect">
            <a:avLst/>
          </a:prstGeom>
          <a:noFill/>
          <a:ln/>
        </p:spPr>
        <p:txBody>
          <a:bodyPr wrap="square" lIns="0" tIns="0" rIns="0" bIns="0" rtlCol="0" anchor="ctr">
            <a:normAutofit fontScale="92500"/>
          </a:bodyPr>
          <a:lstStyle/>
          <a:p>
            <a:pPr marL="0" indent="0">
              <a:buNone/>
            </a:pPr>
            <a:r>
              <a:rPr lang="en-US" sz="1150" b="1" dirty="0">
                <a:solidFill>
                  <a:srgbClr val="F2F7FB"/>
                </a:solidFill>
                <a:latin typeface="Aptos" pitchFamily="34" charset="0"/>
                <a:ea typeface="Aptos" pitchFamily="34" charset="-122"/>
                <a:cs typeface="Aptos" pitchFamily="34" charset="-120"/>
              </a:rPr>
              <a:t>Historical application-time features only</a:t>
            </a:r>
            <a:endParaRPr lang="en-US" sz="1150" dirty="0"/>
          </a:p>
        </p:txBody>
      </p:sp>
      <p:sp>
        <p:nvSpPr>
          <p:cNvPr id="27" name="Text 25"/>
          <p:cNvSpPr/>
          <p:nvPr/>
        </p:nvSpPr>
        <p:spPr>
          <a:xfrm>
            <a:off x="6629400" y="3639312"/>
            <a:ext cx="3246120" cy="548640"/>
          </a:xfrm>
          <a:prstGeom prst="rect">
            <a:avLst/>
          </a:prstGeom>
          <a:noFill/>
          <a:ln/>
        </p:spPr>
        <p:txBody>
          <a:bodyPr wrap="square" lIns="0" tIns="0" rIns="0" bIns="0" rtlCol="0" anchor="ctr">
            <a:normAutofit/>
          </a:bodyPr>
          <a:lstStyle/>
          <a:p>
            <a:pPr marL="0" indent="0" algn="ctr">
              <a:buNone/>
            </a:pPr>
            <a:r>
              <a:rPr lang="en-US" sz="1350" b="1" dirty="0">
                <a:solidFill>
                  <a:srgbClr val="F6B85A"/>
                </a:solidFill>
                <a:latin typeface="Aptos" pitchFamily="34" charset="0"/>
                <a:ea typeface="Aptos" pitchFamily="34" charset="-122"/>
                <a:cs typeface="Aptos" pitchFamily="34" charset="-120"/>
              </a:rPr>
              <a:t>Experimental ranking signal — not a production lending decision.</a:t>
            </a:r>
            <a:endParaRPr lang="en-US" sz="1350" dirty="0"/>
          </a:p>
        </p:txBody>
      </p:sp>
      <p:sp>
        <p:nvSpPr>
          <p:cNvPr id="28"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LOAN RISK</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Safety, Input Validation &amp; Demo</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Weak rare-event performance is communicated honestly.</a:t>
            </a:r>
            <a:endParaRPr lang="en-US" sz="1350" dirty="0"/>
          </a:p>
        </p:txBody>
      </p:sp>
      <p:sp>
        <p:nvSpPr>
          <p:cNvPr id="5" name="Shape 3"/>
          <p:cNvSpPr/>
          <p:nvPr/>
        </p:nvSpPr>
        <p:spPr>
          <a:xfrm>
            <a:off x="9555480" y="384048"/>
            <a:ext cx="2157984" cy="310896"/>
          </a:xfrm>
          <a:prstGeom prst="roundRect">
            <a:avLst>
              <a:gd name="adj" fmla="val 47059"/>
            </a:avLst>
          </a:prstGeom>
          <a:solidFill>
            <a:srgbClr val="F6B85A">
              <a:alpha val="18000"/>
            </a:srgbClr>
          </a:solidFill>
          <a:ln w="12700">
            <a:solidFill>
              <a:srgbClr val="F6B85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F6B85A"/>
                </a:solidFill>
                <a:latin typeface="Aptos" pitchFamily="34" charset="0"/>
                <a:ea typeface="Aptos" pitchFamily="34" charset="-122"/>
                <a:cs typeface="Aptos" pitchFamily="34" charset="-120"/>
              </a:rPr>
              <a:t>PRANAV KR MISHRA</a:t>
            </a:r>
            <a:endParaRPr lang="en-US" sz="950" dirty="0"/>
          </a:p>
        </p:txBody>
      </p:sp>
      <p:sp>
        <p:nvSpPr>
          <p:cNvPr id="7" name="Shape 5"/>
          <p:cNvSpPr/>
          <p:nvPr/>
        </p:nvSpPr>
        <p:spPr>
          <a:xfrm>
            <a:off x="548640" y="1828800"/>
            <a:ext cx="3291840" cy="2240280"/>
          </a:xfrm>
          <a:prstGeom prst="roundRect">
            <a:avLst>
              <a:gd name="adj" fmla="val 4898"/>
            </a:avLst>
          </a:prstGeom>
          <a:solidFill>
            <a:srgbClr val="0E2034"/>
          </a:solidFill>
          <a:ln w="12700">
            <a:solidFill>
              <a:srgbClr val="1B3853"/>
            </a:solidFill>
            <a:prstDash val="solid"/>
          </a:ln>
        </p:spPr>
      </p:sp>
      <p:sp>
        <p:nvSpPr>
          <p:cNvPr id="8" name="Shape 6"/>
          <p:cNvSpPr/>
          <p:nvPr/>
        </p:nvSpPr>
        <p:spPr>
          <a:xfrm>
            <a:off x="713232" y="1993392"/>
            <a:ext cx="384048" cy="384048"/>
          </a:xfrm>
          <a:prstGeom prst="ellipse">
            <a:avLst/>
          </a:prstGeom>
          <a:solidFill>
            <a:srgbClr val="F6B85A">
              <a:alpha val="20000"/>
            </a:srgbClr>
          </a:solidFill>
          <a:ln w="12700">
            <a:solidFill>
              <a:srgbClr val="F6B85A">
                <a:alpha val="0"/>
              </a:srgbClr>
            </a:solidFill>
            <a:prstDash val="solid"/>
          </a:ln>
        </p:spPr>
      </p:sp>
      <p:sp>
        <p:nvSpPr>
          <p:cNvPr id="9" name="Text 7"/>
          <p:cNvSpPr/>
          <p:nvPr/>
        </p:nvSpPr>
        <p:spPr>
          <a:xfrm>
            <a:off x="713232" y="200253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F6B85A"/>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731520" y="2432304"/>
            <a:ext cx="292608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Rare positives</a:t>
            </a:r>
            <a:endParaRPr lang="en-US" sz="1500" dirty="0"/>
          </a:p>
        </p:txBody>
      </p:sp>
      <p:sp>
        <p:nvSpPr>
          <p:cNvPr id="11" name="Text 9"/>
          <p:cNvSpPr/>
          <p:nvPr/>
        </p:nvSpPr>
        <p:spPr>
          <a:xfrm>
            <a:off x="731520" y="2779776"/>
            <a:ext cx="2926080" cy="116128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Positive risky cases are scarce, so model quality is limited and highly sensitive to validation design.</a:t>
            </a:r>
            <a:endParaRPr lang="en-US" sz="1130" dirty="0"/>
          </a:p>
        </p:txBody>
      </p:sp>
      <p:sp>
        <p:nvSpPr>
          <p:cNvPr id="12" name="Shape 10"/>
          <p:cNvSpPr/>
          <p:nvPr/>
        </p:nvSpPr>
        <p:spPr>
          <a:xfrm>
            <a:off x="4160520" y="1828800"/>
            <a:ext cx="3291840" cy="2240280"/>
          </a:xfrm>
          <a:prstGeom prst="roundRect">
            <a:avLst>
              <a:gd name="adj" fmla="val 4898"/>
            </a:avLst>
          </a:prstGeom>
          <a:solidFill>
            <a:srgbClr val="0E2034"/>
          </a:solidFill>
          <a:ln w="12700">
            <a:solidFill>
              <a:srgbClr val="1B3853"/>
            </a:solidFill>
            <a:prstDash val="solid"/>
          </a:ln>
        </p:spPr>
      </p:sp>
      <p:sp>
        <p:nvSpPr>
          <p:cNvPr id="13" name="Shape 11"/>
          <p:cNvSpPr/>
          <p:nvPr/>
        </p:nvSpPr>
        <p:spPr>
          <a:xfrm>
            <a:off x="4325112" y="1993392"/>
            <a:ext cx="384048" cy="384048"/>
          </a:xfrm>
          <a:prstGeom prst="ellipse">
            <a:avLst/>
          </a:prstGeom>
          <a:solidFill>
            <a:srgbClr val="A78BFA">
              <a:alpha val="20000"/>
            </a:srgbClr>
          </a:solidFill>
          <a:ln w="12700">
            <a:solidFill>
              <a:srgbClr val="A78BFA">
                <a:alpha val="0"/>
              </a:srgbClr>
            </a:solidFill>
            <a:prstDash val="solid"/>
          </a:ln>
        </p:spPr>
      </p:sp>
      <p:sp>
        <p:nvSpPr>
          <p:cNvPr id="14" name="Text 12"/>
          <p:cNvSpPr/>
          <p:nvPr/>
        </p:nvSpPr>
        <p:spPr>
          <a:xfrm>
            <a:off x="4325112" y="200253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A78BFA"/>
                </a:solidFill>
                <a:latin typeface="Aptos" pitchFamily="34" charset="0"/>
                <a:ea typeface="Aptos" pitchFamily="34" charset="-122"/>
                <a:cs typeface="Aptos" pitchFamily="34" charset="-120"/>
              </a:rPr>
              <a:t>02</a:t>
            </a:r>
            <a:endParaRPr lang="en-US" sz="1100" dirty="0"/>
          </a:p>
        </p:txBody>
      </p:sp>
      <p:sp>
        <p:nvSpPr>
          <p:cNvPr id="15" name="Text 13"/>
          <p:cNvSpPr/>
          <p:nvPr/>
        </p:nvSpPr>
        <p:spPr>
          <a:xfrm>
            <a:off x="4343400" y="2432304"/>
            <a:ext cx="292608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Limited maturity</a:t>
            </a:r>
            <a:endParaRPr lang="en-US" sz="1500" dirty="0"/>
          </a:p>
        </p:txBody>
      </p:sp>
      <p:sp>
        <p:nvSpPr>
          <p:cNvPr id="16" name="Text 14"/>
          <p:cNvSpPr/>
          <p:nvPr/>
        </p:nvSpPr>
        <p:spPr>
          <a:xfrm>
            <a:off x="4343400" y="2779776"/>
            <a:ext cx="2926080" cy="116128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Historical observation window is limited, especially for “Current” loans.</a:t>
            </a:r>
            <a:endParaRPr lang="en-US" sz="1130" dirty="0"/>
          </a:p>
        </p:txBody>
      </p:sp>
      <p:sp>
        <p:nvSpPr>
          <p:cNvPr id="17" name="Shape 15"/>
          <p:cNvSpPr/>
          <p:nvPr/>
        </p:nvSpPr>
        <p:spPr>
          <a:xfrm>
            <a:off x="7772400" y="1828800"/>
            <a:ext cx="3291840" cy="2240280"/>
          </a:xfrm>
          <a:prstGeom prst="roundRect">
            <a:avLst>
              <a:gd name="adj" fmla="val 4898"/>
            </a:avLst>
          </a:prstGeom>
          <a:solidFill>
            <a:srgbClr val="0E2034"/>
          </a:solidFill>
          <a:ln w="12700">
            <a:solidFill>
              <a:srgbClr val="1B3853"/>
            </a:solidFill>
            <a:prstDash val="solid"/>
          </a:ln>
        </p:spPr>
      </p:sp>
      <p:sp>
        <p:nvSpPr>
          <p:cNvPr id="18" name="Shape 16"/>
          <p:cNvSpPr/>
          <p:nvPr/>
        </p:nvSpPr>
        <p:spPr>
          <a:xfrm>
            <a:off x="7936992" y="1993392"/>
            <a:ext cx="384048" cy="384048"/>
          </a:xfrm>
          <a:prstGeom prst="ellipse">
            <a:avLst/>
          </a:prstGeom>
          <a:solidFill>
            <a:srgbClr val="35D0BA">
              <a:alpha val="20000"/>
            </a:srgbClr>
          </a:solidFill>
          <a:ln w="12700">
            <a:solidFill>
              <a:srgbClr val="35D0BA">
                <a:alpha val="0"/>
              </a:srgbClr>
            </a:solidFill>
            <a:prstDash val="solid"/>
          </a:ln>
        </p:spPr>
      </p:sp>
      <p:sp>
        <p:nvSpPr>
          <p:cNvPr id="19" name="Text 17"/>
          <p:cNvSpPr/>
          <p:nvPr/>
        </p:nvSpPr>
        <p:spPr>
          <a:xfrm>
            <a:off x="7936992" y="2002536"/>
            <a:ext cx="384048" cy="347472"/>
          </a:xfrm>
          <a:prstGeom prst="rect">
            <a:avLst/>
          </a:prstGeom>
          <a:noFill/>
          <a:ln/>
        </p:spPr>
        <p:txBody>
          <a:bodyPr wrap="square" lIns="0" tIns="0" rIns="0" bIns="0" rtlCol="0" anchor="ctr">
            <a:normAutofit/>
          </a:bodyPr>
          <a:lstStyle/>
          <a:p>
            <a:pPr marL="0" indent="0" algn="ctr">
              <a:buNone/>
            </a:pPr>
            <a:r>
              <a:rPr lang="en-US" sz="1100" b="1" dirty="0">
                <a:solidFill>
                  <a:srgbClr val="35D0BA"/>
                </a:solidFill>
                <a:latin typeface="Aptos" pitchFamily="34" charset="0"/>
                <a:ea typeface="Aptos" pitchFamily="34" charset="-122"/>
                <a:cs typeface="Aptos" pitchFamily="34" charset="-120"/>
              </a:rPr>
              <a:t>03</a:t>
            </a:r>
            <a:endParaRPr lang="en-US" sz="1100" dirty="0"/>
          </a:p>
        </p:txBody>
      </p:sp>
      <p:sp>
        <p:nvSpPr>
          <p:cNvPr id="20" name="Text 18"/>
          <p:cNvSpPr/>
          <p:nvPr/>
        </p:nvSpPr>
        <p:spPr>
          <a:xfrm>
            <a:off x="7955280" y="2432304"/>
            <a:ext cx="292608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Complete input required</a:t>
            </a:r>
            <a:endParaRPr lang="en-US" sz="1500" dirty="0"/>
          </a:p>
        </p:txBody>
      </p:sp>
      <p:sp>
        <p:nvSpPr>
          <p:cNvPr id="21" name="Text 19"/>
          <p:cNvSpPr/>
          <p:nvPr/>
        </p:nvSpPr>
        <p:spPr>
          <a:xfrm>
            <a:off x="7955280" y="2779776"/>
            <a:ext cx="2926080" cy="1161288"/>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API rejects incomplete application-time feature vectors instead of silently inventing values.</a:t>
            </a:r>
            <a:endParaRPr lang="en-US" sz="1130" dirty="0"/>
          </a:p>
        </p:txBody>
      </p:sp>
      <p:sp>
        <p:nvSpPr>
          <p:cNvPr id="22" name="Shape 20"/>
          <p:cNvSpPr/>
          <p:nvPr/>
        </p:nvSpPr>
        <p:spPr>
          <a:xfrm>
            <a:off x="822960" y="4526280"/>
            <a:ext cx="10012680" cy="731520"/>
          </a:xfrm>
          <a:prstGeom prst="roundRect">
            <a:avLst>
              <a:gd name="adj" fmla="val 15000"/>
            </a:avLst>
          </a:prstGeom>
          <a:solidFill>
            <a:srgbClr val="10283F"/>
          </a:solidFill>
          <a:ln w="12700">
            <a:solidFill>
              <a:srgbClr val="1B3853"/>
            </a:solidFill>
            <a:prstDash val="solid"/>
          </a:ln>
        </p:spPr>
      </p:sp>
      <p:sp>
        <p:nvSpPr>
          <p:cNvPr id="23" name="Text 21"/>
          <p:cNvSpPr/>
          <p:nvPr/>
        </p:nvSpPr>
        <p:spPr>
          <a:xfrm>
            <a:off x="1051560" y="4736592"/>
            <a:ext cx="1051560" cy="201168"/>
          </a:xfrm>
          <a:prstGeom prst="rect">
            <a:avLst/>
          </a:prstGeom>
          <a:noFill/>
          <a:ln/>
        </p:spPr>
        <p:txBody>
          <a:bodyPr wrap="square" lIns="0" tIns="0" rIns="0" bIns="0" rtlCol="0" anchor="ctr">
            <a:normAutofit/>
          </a:bodyPr>
          <a:lstStyle/>
          <a:p>
            <a:pPr marL="0" indent="0">
              <a:buNone/>
            </a:pPr>
            <a:r>
              <a:rPr lang="en-US" sz="1000" b="1" kern="0" spc="120" dirty="0">
                <a:solidFill>
                  <a:srgbClr val="F6B85A"/>
                </a:solidFill>
                <a:latin typeface="Aptos" pitchFamily="34" charset="0"/>
                <a:ea typeface="Aptos" pitchFamily="34" charset="-122"/>
                <a:cs typeface="Aptos" pitchFamily="34" charset="-120"/>
              </a:rPr>
              <a:t>DEMO FLOW</a:t>
            </a:r>
            <a:endParaRPr lang="en-US" sz="1000" dirty="0"/>
          </a:p>
        </p:txBody>
      </p:sp>
      <p:sp>
        <p:nvSpPr>
          <p:cNvPr id="24" name="Text 22"/>
          <p:cNvSpPr/>
          <p:nvPr/>
        </p:nvSpPr>
        <p:spPr>
          <a:xfrm>
            <a:off x="2286000" y="4681728"/>
            <a:ext cx="8138160" cy="292608"/>
          </a:xfrm>
          <a:prstGeom prst="rect">
            <a:avLst/>
          </a:prstGeom>
          <a:noFill/>
          <a:ln/>
        </p:spPr>
        <p:txBody>
          <a:bodyPr wrap="square" lIns="0" tIns="0" rIns="0" bIns="0" rtlCol="0" anchor="ctr">
            <a:normAutofit/>
          </a:bodyPr>
          <a:lstStyle/>
          <a:p>
            <a:pPr marL="0" indent="0" algn="ctr">
              <a:buNone/>
            </a:pPr>
            <a:r>
              <a:rPr lang="en-US" sz="1300" b="1" dirty="0">
                <a:solidFill>
                  <a:srgbClr val="F2F7FB"/>
                </a:solidFill>
                <a:latin typeface="Aptos" pitchFamily="34" charset="0"/>
                <a:ea typeface="Aptos" pitchFamily="34" charset="-122"/>
                <a:cs typeface="Aptos" pitchFamily="34" charset="-120"/>
              </a:rPr>
              <a:t>Load sample → Run score → Explain threshold → Show warning → Emphasize “experimental ranking only”</a:t>
            </a:r>
            <a:endParaRPr lang="en-US" sz="130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FULL APPLICATION</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FinanceAI is More Than a Notebook</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Authentication, persistence, APIs and user experience are part of the final deliverable.</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66928" y="1874520"/>
            <a:ext cx="3337560" cy="1325880"/>
          </a:xfrm>
          <a:prstGeom prst="roundRect">
            <a:avLst>
              <a:gd name="adj" fmla="val 8276"/>
            </a:avLst>
          </a:prstGeom>
          <a:solidFill>
            <a:srgbClr val="0E2034"/>
          </a:solidFill>
          <a:ln w="12700">
            <a:solidFill>
              <a:srgbClr val="1B3853"/>
            </a:solidFill>
            <a:prstDash val="solid"/>
          </a:ln>
        </p:spPr>
      </p:sp>
      <p:sp>
        <p:nvSpPr>
          <p:cNvPr id="8" name="Text 6"/>
          <p:cNvSpPr/>
          <p:nvPr/>
        </p:nvSpPr>
        <p:spPr>
          <a:xfrm>
            <a:off x="74980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Auth</a:t>
            </a:r>
            <a:endParaRPr lang="en-US" sz="1500" dirty="0"/>
          </a:p>
        </p:txBody>
      </p:sp>
      <p:sp>
        <p:nvSpPr>
          <p:cNvPr id="9" name="Text 7"/>
          <p:cNvSpPr/>
          <p:nvPr/>
        </p:nvSpPr>
        <p:spPr>
          <a:xfrm>
            <a:off x="749808" y="24048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Register · Login · Logout · Password change</a:t>
            </a:r>
            <a:endParaRPr lang="en-US" sz="1130" dirty="0"/>
          </a:p>
        </p:txBody>
      </p:sp>
      <p:sp>
        <p:nvSpPr>
          <p:cNvPr id="10" name="Shape 8"/>
          <p:cNvSpPr/>
          <p:nvPr/>
        </p:nvSpPr>
        <p:spPr>
          <a:xfrm>
            <a:off x="4270248" y="1874520"/>
            <a:ext cx="3337560" cy="1325880"/>
          </a:xfrm>
          <a:prstGeom prst="roundRect">
            <a:avLst>
              <a:gd name="adj" fmla="val 8276"/>
            </a:avLst>
          </a:prstGeom>
          <a:solidFill>
            <a:srgbClr val="0E2034"/>
          </a:solidFill>
          <a:ln w="12700">
            <a:solidFill>
              <a:srgbClr val="1B3853"/>
            </a:solidFill>
            <a:prstDash val="solid"/>
          </a:ln>
        </p:spPr>
      </p:sp>
      <p:sp>
        <p:nvSpPr>
          <p:cNvPr id="11" name="Text 9"/>
          <p:cNvSpPr/>
          <p:nvPr/>
        </p:nvSpPr>
        <p:spPr>
          <a:xfrm>
            <a:off x="445312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Security</a:t>
            </a:r>
            <a:endParaRPr lang="en-US" sz="1500" dirty="0"/>
          </a:p>
        </p:txBody>
      </p:sp>
      <p:sp>
        <p:nvSpPr>
          <p:cNvPr id="12" name="Text 10"/>
          <p:cNvSpPr/>
          <p:nvPr/>
        </p:nvSpPr>
        <p:spPr>
          <a:xfrm>
            <a:off x="4453128" y="24048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Password hashing · CSRF · basic rate limiting</a:t>
            </a:r>
            <a:endParaRPr lang="en-US" sz="1130" dirty="0"/>
          </a:p>
        </p:txBody>
      </p:sp>
      <p:sp>
        <p:nvSpPr>
          <p:cNvPr id="13" name="Shape 11"/>
          <p:cNvSpPr/>
          <p:nvPr/>
        </p:nvSpPr>
        <p:spPr>
          <a:xfrm>
            <a:off x="7973568" y="1874520"/>
            <a:ext cx="3337560" cy="1325880"/>
          </a:xfrm>
          <a:prstGeom prst="roundRect">
            <a:avLst>
              <a:gd name="adj" fmla="val 8276"/>
            </a:avLst>
          </a:prstGeom>
          <a:solidFill>
            <a:srgbClr val="0E2034"/>
          </a:solidFill>
          <a:ln w="12700">
            <a:solidFill>
              <a:srgbClr val="1B3853"/>
            </a:solidFill>
            <a:prstDash val="solid"/>
          </a:ln>
        </p:spPr>
      </p:sp>
      <p:sp>
        <p:nvSpPr>
          <p:cNvPr id="14" name="Text 12"/>
          <p:cNvSpPr/>
          <p:nvPr/>
        </p:nvSpPr>
        <p:spPr>
          <a:xfrm>
            <a:off x="815644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History</a:t>
            </a:r>
            <a:endParaRPr lang="en-US" sz="1500" dirty="0"/>
          </a:p>
        </p:txBody>
      </p:sp>
      <p:sp>
        <p:nvSpPr>
          <p:cNvPr id="15" name="Text 13"/>
          <p:cNvSpPr/>
          <p:nvPr/>
        </p:nvSpPr>
        <p:spPr>
          <a:xfrm>
            <a:off x="8156448" y="24048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Per-user saved analyses + CSV export</a:t>
            </a:r>
            <a:endParaRPr lang="en-US" sz="1130" dirty="0"/>
          </a:p>
        </p:txBody>
      </p:sp>
      <p:sp>
        <p:nvSpPr>
          <p:cNvPr id="16" name="Shape 14"/>
          <p:cNvSpPr/>
          <p:nvPr/>
        </p:nvSpPr>
        <p:spPr>
          <a:xfrm>
            <a:off x="566928" y="3474720"/>
            <a:ext cx="3337560" cy="1325880"/>
          </a:xfrm>
          <a:prstGeom prst="roundRect">
            <a:avLst>
              <a:gd name="adj" fmla="val 8276"/>
            </a:avLst>
          </a:prstGeom>
          <a:solidFill>
            <a:srgbClr val="0E2034"/>
          </a:solidFill>
          <a:ln w="12700">
            <a:solidFill>
              <a:srgbClr val="1B3853"/>
            </a:solidFill>
            <a:prstDash val="solid"/>
          </a:ln>
        </p:spPr>
      </p:sp>
      <p:sp>
        <p:nvSpPr>
          <p:cNvPr id="17" name="Text 15"/>
          <p:cNvSpPr/>
          <p:nvPr/>
        </p:nvSpPr>
        <p:spPr>
          <a:xfrm>
            <a:off x="749808" y="36393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Assistant</a:t>
            </a:r>
            <a:endParaRPr lang="en-US" sz="1500" dirty="0"/>
          </a:p>
        </p:txBody>
      </p:sp>
      <p:sp>
        <p:nvSpPr>
          <p:cNvPr id="18" name="Text 16"/>
          <p:cNvSpPr/>
          <p:nvPr/>
        </p:nvSpPr>
        <p:spPr>
          <a:xfrm>
            <a:off x="749808" y="40050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Offline educational explanation of latest PF result</a:t>
            </a:r>
            <a:endParaRPr lang="en-US" sz="1130" dirty="0"/>
          </a:p>
        </p:txBody>
      </p:sp>
      <p:sp>
        <p:nvSpPr>
          <p:cNvPr id="19" name="Shape 17"/>
          <p:cNvSpPr/>
          <p:nvPr/>
        </p:nvSpPr>
        <p:spPr>
          <a:xfrm>
            <a:off x="4270248" y="3474720"/>
            <a:ext cx="3337560" cy="1325880"/>
          </a:xfrm>
          <a:prstGeom prst="roundRect">
            <a:avLst>
              <a:gd name="adj" fmla="val 8276"/>
            </a:avLst>
          </a:prstGeom>
          <a:solidFill>
            <a:srgbClr val="0E2034"/>
          </a:solidFill>
          <a:ln w="12700">
            <a:solidFill>
              <a:srgbClr val="1B3853"/>
            </a:solidFill>
            <a:prstDash val="solid"/>
          </a:ln>
        </p:spPr>
      </p:sp>
      <p:sp>
        <p:nvSpPr>
          <p:cNvPr id="20" name="Text 18"/>
          <p:cNvSpPr/>
          <p:nvPr/>
        </p:nvSpPr>
        <p:spPr>
          <a:xfrm>
            <a:off x="4453128" y="36393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Database</a:t>
            </a:r>
            <a:endParaRPr lang="en-US" sz="1500" dirty="0"/>
          </a:p>
        </p:txBody>
      </p:sp>
      <p:sp>
        <p:nvSpPr>
          <p:cNvPr id="21" name="Text 19"/>
          <p:cNvSpPr/>
          <p:nvPr/>
        </p:nvSpPr>
        <p:spPr>
          <a:xfrm>
            <a:off x="4453128" y="40050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SQLite by default · MySQL/XAMPP optional</a:t>
            </a:r>
            <a:endParaRPr lang="en-US" sz="1130" dirty="0"/>
          </a:p>
        </p:txBody>
      </p:sp>
      <p:sp>
        <p:nvSpPr>
          <p:cNvPr id="22" name="Shape 20"/>
          <p:cNvSpPr/>
          <p:nvPr/>
        </p:nvSpPr>
        <p:spPr>
          <a:xfrm>
            <a:off x="7973568" y="3474720"/>
            <a:ext cx="3337560" cy="1325880"/>
          </a:xfrm>
          <a:prstGeom prst="roundRect">
            <a:avLst>
              <a:gd name="adj" fmla="val 8276"/>
            </a:avLst>
          </a:prstGeom>
          <a:solidFill>
            <a:srgbClr val="0E2034"/>
          </a:solidFill>
          <a:ln w="12700">
            <a:solidFill>
              <a:srgbClr val="1B3853"/>
            </a:solidFill>
            <a:prstDash val="solid"/>
          </a:ln>
        </p:spPr>
      </p:sp>
      <p:sp>
        <p:nvSpPr>
          <p:cNvPr id="23" name="Text 21"/>
          <p:cNvSpPr/>
          <p:nvPr/>
        </p:nvSpPr>
        <p:spPr>
          <a:xfrm>
            <a:off x="8156448" y="36393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APIs</a:t>
            </a:r>
            <a:endParaRPr lang="en-US" sz="1500" dirty="0"/>
          </a:p>
        </p:txBody>
      </p:sp>
      <p:sp>
        <p:nvSpPr>
          <p:cNvPr id="24" name="Text 22"/>
          <p:cNvSpPr/>
          <p:nvPr/>
        </p:nvSpPr>
        <p:spPr>
          <a:xfrm>
            <a:off x="8156448" y="4005072"/>
            <a:ext cx="2971800" cy="66751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Status · Personal Finance · Credit Stress · Loan Risk</a:t>
            </a:r>
            <a:endParaRPr lang="en-US" sz="1130" dirty="0"/>
          </a:p>
        </p:txBody>
      </p:sp>
      <p:sp>
        <p:nvSpPr>
          <p:cNvPr id="25" name="Shape 23"/>
          <p:cNvSpPr/>
          <p:nvPr/>
        </p:nvSpPr>
        <p:spPr>
          <a:xfrm>
            <a:off x="822960" y="5257800"/>
            <a:ext cx="10469880" cy="457200"/>
          </a:xfrm>
          <a:prstGeom prst="roundRect">
            <a:avLst>
              <a:gd name="adj" fmla="val 24000"/>
            </a:avLst>
          </a:prstGeom>
          <a:solidFill>
            <a:srgbClr val="0A192A"/>
          </a:solidFill>
          <a:ln w="12700">
            <a:solidFill>
              <a:srgbClr val="1B3853"/>
            </a:solidFill>
            <a:prstDash val="solid"/>
          </a:ln>
        </p:spPr>
      </p:sp>
      <p:sp>
        <p:nvSpPr>
          <p:cNvPr id="26" name="Text 24"/>
          <p:cNvSpPr/>
          <p:nvPr/>
        </p:nvSpPr>
        <p:spPr>
          <a:xfrm>
            <a:off x="1051560" y="5385816"/>
            <a:ext cx="10012680" cy="201168"/>
          </a:xfrm>
          <a:prstGeom prst="rect">
            <a:avLst/>
          </a:prstGeom>
          <a:noFill/>
          <a:ln/>
        </p:spPr>
        <p:txBody>
          <a:bodyPr wrap="square" lIns="0" tIns="0" rIns="0" bIns="0" rtlCol="0" anchor="ctr">
            <a:normAutofit/>
          </a:bodyPr>
          <a:lstStyle/>
          <a:p>
            <a:pPr marL="0" indent="0" algn="ctr">
              <a:buNone/>
            </a:pPr>
            <a:r>
              <a:rPr lang="en-US" sz="1240" b="1" dirty="0">
                <a:solidFill>
                  <a:srgbClr val="35D0BA"/>
                </a:solidFill>
                <a:latin typeface="Aptos" pitchFamily="34" charset="0"/>
                <a:ea typeface="Aptos" pitchFamily="34" charset="-122"/>
                <a:cs typeface="Aptos" pitchFamily="34" charset="-120"/>
              </a:rPr>
              <a:t>Full Stack Development + Data Analytics + Machine Learning + Database + Security + Explainability</a:t>
            </a:r>
            <a:endParaRPr lang="en-US" sz="1240" dirty="0"/>
          </a:p>
        </p:txBody>
      </p:sp>
      <p:sp>
        <p:nvSpPr>
          <p:cNvPr id="27"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BACKEND</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Database, Security &amp; APIs</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A portfolio-grade backend that can run instantly on SQLite or optionally on MySQL.</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66928" y="1828800"/>
            <a:ext cx="3337560" cy="2971800"/>
          </a:xfrm>
          <a:prstGeom prst="roundRect">
            <a:avLst>
              <a:gd name="adj" fmla="val 3692"/>
            </a:avLst>
          </a:prstGeom>
          <a:solidFill>
            <a:srgbClr val="0E2034"/>
          </a:solidFill>
          <a:ln w="12700">
            <a:solidFill>
              <a:srgbClr val="1B3853"/>
            </a:solidFill>
            <a:prstDash val="solid"/>
          </a:ln>
        </p:spPr>
      </p:sp>
      <p:sp>
        <p:nvSpPr>
          <p:cNvPr id="8" name="Text 6"/>
          <p:cNvSpPr/>
          <p:nvPr/>
        </p:nvSpPr>
        <p:spPr>
          <a:xfrm>
            <a:off x="749808" y="199339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Database</a:t>
            </a:r>
            <a:endParaRPr lang="en-US" sz="1500" dirty="0"/>
          </a:p>
        </p:txBody>
      </p:sp>
      <p:sp>
        <p:nvSpPr>
          <p:cNvPr id="9" name="Text 7"/>
          <p:cNvSpPr/>
          <p:nvPr/>
        </p:nvSpPr>
        <p:spPr>
          <a:xfrm>
            <a:off x="749808" y="2359152"/>
            <a:ext cx="2971800" cy="231343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SQLite — zero-setup demo</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MySQL / XAMPP — optional backend</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Users + analysis history</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Per-user persistence</a:t>
            </a:r>
            <a:endParaRPr lang="en-US" sz="1130" dirty="0"/>
          </a:p>
        </p:txBody>
      </p:sp>
      <p:sp>
        <p:nvSpPr>
          <p:cNvPr id="10" name="Shape 8"/>
          <p:cNvSpPr/>
          <p:nvPr/>
        </p:nvSpPr>
        <p:spPr>
          <a:xfrm>
            <a:off x="4096512" y="1828800"/>
            <a:ext cx="3337560" cy="2971800"/>
          </a:xfrm>
          <a:prstGeom prst="roundRect">
            <a:avLst>
              <a:gd name="adj" fmla="val 3692"/>
            </a:avLst>
          </a:prstGeom>
          <a:solidFill>
            <a:srgbClr val="0E2034"/>
          </a:solidFill>
          <a:ln w="12700">
            <a:solidFill>
              <a:srgbClr val="1B3853"/>
            </a:solidFill>
            <a:prstDash val="solid"/>
          </a:ln>
        </p:spPr>
      </p:sp>
      <p:sp>
        <p:nvSpPr>
          <p:cNvPr id="11" name="Text 9"/>
          <p:cNvSpPr/>
          <p:nvPr/>
        </p:nvSpPr>
        <p:spPr>
          <a:xfrm>
            <a:off x="4279392" y="199339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Security</a:t>
            </a:r>
            <a:endParaRPr lang="en-US" sz="1500" dirty="0"/>
          </a:p>
        </p:txBody>
      </p:sp>
      <p:sp>
        <p:nvSpPr>
          <p:cNvPr id="12" name="Text 10"/>
          <p:cNvSpPr/>
          <p:nvPr/>
        </p:nvSpPr>
        <p:spPr>
          <a:xfrm>
            <a:off x="4279392" y="2359152"/>
            <a:ext cx="2971800" cy="231343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Password hashing</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CSRF protection</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Session authentication</a:t>
            </a:r>
            <a:endParaRPr lang="en-US" sz="1130" dirty="0"/>
          </a:p>
          <a:p>
            <a:pPr marL="0" indent="0">
              <a:buNone/>
            </a:pPr>
            <a:r>
              <a:rPr lang="en-US" sz="1130" dirty="0">
                <a:solidFill>
                  <a:srgbClr val="93A8BB"/>
                </a:solidFill>
                <a:latin typeface="Aptos" pitchFamily="34" charset="0"/>
                <a:ea typeface="Aptos" pitchFamily="34" charset="-122"/>
                <a:cs typeface="Aptos" pitchFamily="34" charset="-120"/>
              </a:rPr>
              <a:t>Basic login rate limiting</a:t>
            </a:r>
            <a:endParaRPr lang="en-US" sz="1130" dirty="0"/>
          </a:p>
        </p:txBody>
      </p:sp>
      <p:sp>
        <p:nvSpPr>
          <p:cNvPr id="13" name="Shape 11"/>
          <p:cNvSpPr/>
          <p:nvPr/>
        </p:nvSpPr>
        <p:spPr>
          <a:xfrm>
            <a:off x="7635240" y="1828800"/>
            <a:ext cx="3657600" cy="2971800"/>
          </a:xfrm>
          <a:prstGeom prst="roundRect">
            <a:avLst>
              <a:gd name="adj" fmla="val 3692"/>
            </a:avLst>
          </a:prstGeom>
          <a:solidFill>
            <a:srgbClr val="10283F"/>
          </a:solidFill>
          <a:ln w="12700">
            <a:solidFill>
              <a:srgbClr val="1B3853"/>
            </a:solidFill>
            <a:prstDash val="solid"/>
          </a:ln>
        </p:spPr>
      </p:sp>
      <p:sp>
        <p:nvSpPr>
          <p:cNvPr id="14" name="Text 12"/>
          <p:cNvSpPr/>
          <p:nvPr/>
        </p:nvSpPr>
        <p:spPr>
          <a:xfrm>
            <a:off x="7882128" y="2057400"/>
            <a:ext cx="731520" cy="219456"/>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API</a:t>
            </a:r>
            <a:endParaRPr lang="en-US" sz="1000" dirty="0"/>
          </a:p>
        </p:txBody>
      </p:sp>
      <p:sp>
        <p:nvSpPr>
          <p:cNvPr id="15" name="Text 13"/>
          <p:cNvSpPr/>
          <p:nvPr/>
        </p:nvSpPr>
        <p:spPr>
          <a:xfrm>
            <a:off x="7882128" y="2487168"/>
            <a:ext cx="3108960" cy="256032"/>
          </a:xfrm>
          <a:prstGeom prst="rect">
            <a:avLst/>
          </a:prstGeom>
          <a:noFill/>
          <a:ln/>
        </p:spPr>
        <p:txBody>
          <a:bodyPr wrap="square" lIns="0" tIns="0" rIns="0" bIns="0" rtlCol="0" anchor="ctr">
            <a:normAutofit/>
          </a:bodyPr>
          <a:lstStyle/>
          <a:p>
            <a:pPr marL="0" indent="0">
              <a:buNone/>
            </a:pPr>
            <a:r>
              <a:rPr lang="en-US" sz="1020" b="1" dirty="0">
                <a:solidFill>
                  <a:srgbClr val="35D0BA"/>
                </a:solidFill>
                <a:latin typeface="Courier New" pitchFamily="34" charset="0"/>
                <a:ea typeface="Courier New" pitchFamily="34" charset="-122"/>
                <a:cs typeface="Courier New" pitchFamily="34" charset="-120"/>
              </a:rPr>
              <a:t>GET /api/v1/status</a:t>
            </a:r>
            <a:endParaRPr lang="en-US" sz="1020" dirty="0"/>
          </a:p>
        </p:txBody>
      </p:sp>
      <p:sp>
        <p:nvSpPr>
          <p:cNvPr id="16" name="Text 14"/>
          <p:cNvSpPr/>
          <p:nvPr/>
        </p:nvSpPr>
        <p:spPr>
          <a:xfrm>
            <a:off x="7882128" y="2907792"/>
            <a:ext cx="3108960" cy="256032"/>
          </a:xfrm>
          <a:prstGeom prst="rect">
            <a:avLst/>
          </a:prstGeom>
          <a:noFill/>
          <a:ln/>
        </p:spPr>
        <p:txBody>
          <a:bodyPr wrap="square" lIns="0" tIns="0" rIns="0" bIns="0" rtlCol="0" anchor="ctr">
            <a:normAutofit/>
          </a:bodyPr>
          <a:lstStyle/>
          <a:p>
            <a:pPr marL="0" indent="0">
              <a:buNone/>
            </a:pPr>
            <a:r>
              <a:rPr lang="en-US" sz="1020" b="1" dirty="0">
                <a:solidFill>
                  <a:srgbClr val="F2F7FB"/>
                </a:solidFill>
                <a:latin typeface="Courier New" pitchFamily="34" charset="0"/>
                <a:ea typeface="Courier New" pitchFamily="34" charset="-122"/>
                <a:cs typeface="Courier New" pitchFamily="34" charset="-120"/>
              </a:rPr>
              <a:t>POST /api/v1/personal-finance</a:t>
            </a:r>
            <a:endParaRPr lang="en-US" sz="1020" dirty="0"/>
          </a:p>
        </p:txBody>
      </p:sp>
      <p:sp>
        <p:nvSpPr>
          <p:cNvPr id="17" name="Text 15"/>
          <p:cNvSpPr/>
          <p:nvPr/>
        </p:nvSpPr>
        <p:spPr>
          <a:xfrm>
            <a:off x="7882128" y="3328416"/>
            <a:ext cx="3108960" cy="256032"/>
          </a:xfrm>
          <a:prstGeom prst="rect">
            <a:avLst/>
          </a:prstGeom>
          <a:noFill/>
          <a:ln/>
        </p:spPr>
        <p:txBody>
          <a:bodyPr wrap="square" lIns="0" tIns="0" rIns="0" bIns="0" rtlCol="0" anchor="ctr">
            <a:normAutofit/>
          </a:bodyPr>
          <a:lstStyle/>
          <a:p>
            <a:pPr marL="0" indent="0">
              <a:buNone/>
            </a:pPr>
            <a:r>
              <a:rPr lang="en-US" sz="1020" b="1" dirty="0">
                <a:solidFill>
                  <a:srgbClr val="F2F7FB"/>
                </a:solidFill>
                <a:latin typeface="Courier New" pitchFamily="34" charset="0"/>
                <a:ea typeface="Courier New" pitchFamily="34" charset="-122"/>
                <a:cs typeface="Courier New" pitchFamily="34" charset="-120"/>
              </a:rPr>
              <a:t>POST /api/v1/credit-stress</a:t>
            </a:r>
            <a:endParaRPr lang="en-US" sz="1020" dirty="0"/>
          </a:p>
        </p:txBody>
      </p:sp>
      <p:sp>
        <p:nvSpPr>
          <p:cNvPr id="18" name="Text 16"/>
          <p:cNvSpPr/>
          <p:nvPr/>
        </p:nvSpPr>
        <p:spPr>
          <a:xfrm>
            <a:off x="7882128" y="3749040"/>
            <a:ext cx="3108960" cy="256032"/>
          </a:xfrm>
          <a:prstGeom prst="rect">
            <a:avLst/>
          </a:prstGeom>
          <a:noFill/>
          <a:ln/>
        </p:spPr>
        <p:txBody>
          <a:bodyPr wrap="square" lIns="0" tIns="0" rIns="0" bIns="0" rtlCol="0" anchor="ctr">
            <a:normAutofit/>
          </a:bodyPr>
          <a:lstStyle/>
          <a:p>
            <a:pPr marL="0" indent="0">
              <a:buNone/>
            </a:pPr>
            <a:r>
              <a:rPr lang="en-US" sz="1020" b="1" dirty="0">
                <a:solidFill>
                  <a:srgbClr val="F2F7FB"/>
                </a:solidFill>
                <a:latin typeface="Courier New" pitchFamily="34" charset="0"/>
                <a:ea typeface="Courier New" pitchFamily="34" charset="-122"/>
                <a:cs typeface="Courier New" pitchFamily="34" charset="-120"/>
              </a:rPr>
              <a:t>POST /api/v1/loan-risk</a:t>
            </a:r>
            <a:endParaRPr lang="en-US" sz="1020" dirty="0"/>
          </a:p>
        </p:txBody>
      </p:sp>
      <p:sp>
        <p:nvSpPr>
          <p:cNvPr id="19" name="Text 17"/>
          <p:cNvSpPr/>
          <p:nvPr/>
        </p:nvSpPr>
        <p:spPr>
          <a:xfrm>
            <a:off x="7882128" y="4169664"/>
            <a:ext cx="3108960" cy="256032"/>
          </a:xfrm>
          <a:prstGeom prst="rect">
            <a:avLst/>
          </a:prstGeom>
          <a:noFill/>
          <a:ln/>
        </p:spPr>
        <p:txBody>
          <a:bodyPr wrap="square" lIns="0" tIns="0" rIns="0" bIns="0" rtlCol="0" anchor="ctr">
            <a:normAutofit/>
          </a:bodyPr>
          <a:lstStyle/>
          <a:p>
            <a:pPr marL="0" indent="0">
              <a:buNone/>
            </a:pPr>
            <a:r>
              <a:rPr lang="en-US" sz="1020" b="1" dirty="0">
                <a:solidFill>
                  <a:srgbClr val="F2F7FB"/>
                </a:solidFill>
                <a:latin typeface="Courier New" pitchFamily="34" charset="0"/>
                <a:ea typeface="Courier New" pitchFamily="34" charset="-122"/>
                <a:cs typeface="Courier New" pitchFamily="34" charset="-120"/>
              </a:rPr>
              <a:t>GET /api/v1/history</a:t>
            </a:r>
            <a:endParaRPr lang="en-US" sz="102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USER EXPERIENCE</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End-to-End User Journey</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From registration to saved insight in six simple steps.</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48640" y="2194560"/>
            <a:ext cx="749808" cy="749808"/>
          </a:xfrm>
          <a:prstGeom prst="ellipse">
            <a:avLst/>
          </a:prstGeom>
          <a:solidFill>
            <a:srgbClr val="35D0BA">
              <a:alpha val="25000"/>
            </a:srgbClr>
          </a:solidFill>
          <a:ln w="12700">
            <a:solidFill>
              <a:srgbClr val="35D0BA">
                <a:alpha val="0"/>
              </a:srgbClr>
            </a:solidFill>
            <a:prstDash val="solid"/>
          </a:ln>
        </p:spPr>
      </p:sp>
      <p:sp>
        <p:nvSpPr>
          <p:cNvPr id="8" name="Text 6"/>
          <p:cNvSpPr/>
          <p:nvPr/>
        </p:nvSpPr>
        <p:spPr>
          <a:xfrm>
            <a:off x="548640"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35D0BA"/>
                </a:solidFill>
                <a:latin typeface="Aptos" pitchFamily="34" charset="0"/>
                <a:ea typeface="Aptos" pitchFamily="34" charset="-122"/>
                <a:cs typeface="Aptos" pitchFamily="34" charset="-120"/>
              </a:rPr>
              <a:t>01</a:t>
            </a:r>
            <a:endParaRPr lang="en-US" sz="1200" dirty="0"/>
          </a:p>
        </p:txBody>
      </p:sp>
      <p:sp>
        <p:nvSpPr>
          <p:cNvPr id="9" name="Text 7"/>
          <p:cNvSpPr/>
          <p:nvPr/>
        </p:nvSpPr>
        <p:spPr>
          <a:xfrm>
            <a:off x="228600"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Register / Login</a:t>
            </a:r>
            <a:endParaRPr lang="en-US" sz="1150" dirty="0"/>
          </a:p>
        </p:txBody>
      </p:sp>
      <p:sp>
        <p:nvSpPr>
          <p:cNvPr id="10" name="Shape 8"/>
          <p:cNvSpPr/>
          <p:nvPr/>
        </p:nvSpPr>
        <p:spPr>
          <a:xfrm>
            <a:off x="1316736" y="2569464"/>
            <a:ext cx="740664" cy="0"/>
          </a:xfrm>
          <a:prstGeom prst="line">
            <a:avLst/>
          </a:prstGeom>
          <a:noFill/>
          <a:ln w="25400">
            <a:solidFill>
              <a:srgbClr val="93A8BB"/>
            </a:solidFill>
            <a:prstDash val="solid"/>
            <a:headEnd type="none"/>
            <a:tailEnd type="triangle"/>
          </a:ln>
        </p:spPr>
      </p:sp>
      <p:sp>
        <p:nvSpPr>
          <p:cNvPr id="11" name="Shape 9"/>
          <p:cNvSpPr/>
          <p:nvPr/>
        </p:nvSpPr>
        <p:spPr>
          <a:xfrm>
            <a:off x="2450592" y="2194560"/>
            <a:ext cx="749808" cy="749808"/>
          </a:xfrm>
          <a:prstGeom prst="ellipse">
            <a:avLst/>
          </a:prstGeom>
          <a:solidFill>
            <a:srgbClr val="35D0BA">
              <a:alpha val="25000"/>
            </a:srgbClr>
          </a:solidFill>
          <a:ln w="12700">
            <a:solidFill>
              <a:srgbClr val="35D0BA">
                <a:alpha val="0"/>
              </a:srgbClr>
            </a:solidFill>
            <a:prstDash val="solid"/>
          </a:ln>
        </p:spPr>
      </p:sp>
      <p:sp>
        <p:nvSpPr>
          <p:cNvPr id="12" name="Text 10"/>
          <p:cNvSpPr/>
          <p:nvPr/>
        </p:nvSpPr>
        <p:spPr>
          <a:xfrm>
            <a:off x="2450592"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35D0BA"/>
                </a:solidFill>
                <a:latin typeface="Aptos" pitchFamily="34" charset="0"/>
                <a:ea typeface="Aptos" pitchFamily="34" charset="-122"/>
                <a:cs typeface="Aptos" pitchFamily="34" charset="-120"/>
              </a:rPr>
              <a:t>02</a:t>
            </a:r>
            <a:endParaRPr lang="en-US" sz="1200" dirty="0"/>
          </a:p>
        </p:txBody>
      </p:sp>
      <p:sp>
        <p:nvSpPr>
          <p:cNvPr id="13" name="Text 11"/>
          <p:cNvSpPr/>
          <p:nvPr/>
        </p:nvSpPr>
        <p:spPr>
          <a:xfrm>
            <a:off x="2130552"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Open Dashboard</a:t>
            </a:r>
            <a:endParaRPr lang="en-US" sz="1150" dirty="0"/>
          </a:p>
        </p:txBody>
      </p:sp>
      <p:sp>
        <p:nvSpPr>
          <p:cNvPr id="14" name="Shape 12"/>
          <p:cNvSpPr/>
          <p:nvPr/>
        </p:nvSpPr>
        <p:spPr>
          <a:xfrm>
            <a:off x="3218688" y="2569464"/>
            <a:ext cx="740664" cy="0"/>
          </a:xfrm>
          <a:prstGeom prst="line">
            <a:avLst/>
          </a:prstGeom>
          <a:noFill/>
          <a:ln w="25400">
            <a:solidFill>
              <a:srgbClr val="93A8BB"/>
            </a:solidFill>
            <a:prstDash val="solid"/>
            <a:headEnd type="none"/>
            <a:tailEnd type="triangle"/>
          </a:ln>
        </p:spPr>
      </p:sp>
      <p:sp>
        <p:nvSpPr>
          <p:cNvPr id="15" name="Shape 13"/>
          <p:cNvSpPr/>
          <p:nvPr/>
        </p:nvSpPr>
        <p:spPr>
          <a:xfrm>
            <a:off x="4352544" y="2194560"/>
            <a:ext cx="749808" cy="749808"/>
          </a:xfrm>
          <a:prstGeom prst="ellipse">
            <a:avLst/>
          </a:prstGeom>
          <a:solidFill>
            <a:srgbClr val="6CA8FF">
              <a:alpha val="25000"/>
            </a:srgbClr>
          </a:solidFill>
          <a:ln w="12700">
            <a:solidFill>
              <a:srgbClr val="6CA8FF">
                <a:alpha val="0"/>
              </a:srgbClr>
            </a:solidFill>
            <a:prstDash val="solid"/>
          </a:ln>
        </p:spPr>
      </p:sp>
      <p:sp>
        <p:nvSpPr>
          <p:cNvPr id="16" name="Text 14"/>
          <p:cNvSpPr/>
          <p:nvPr/>
        </p:nvSpPr>
        <p:spPr>
          <a:xfrm>
            <a:off x="4352544"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6CA8FF"/>
                </a:solidFill>
                <a:latin typeface="Aptos" pitchFamily="34" charset="0"/>
                <a:ea typeface="Aptos" pitchFamily="34" charset="-122"/>
                <a:cs typeface="Aptos" pitchFamily="34" charset="-120"/>
              </a:rPr>
              <a:t>03</a:t>
            </a:r>
            <a:endParaRPr lang="en-US" sz="1200" dirty="0"/>
          </a:p>
        </p:txBody>
      </p:sp>
      <p:sp>
        <p:nvSpPr>
          <p:cNvPr id="17" name="Text 15"/>
          <p:cNvSpPr/>
          <p:nvPr/>
        </p:nvSpPr>
        <p:spPr>
          <a:xfrm>
            <a:off x="4032504"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Run Analysis</a:t>
            </a:r>
            <a:endParaRPr lang="en-US" sz="1150" dirty="0"/>
          </a:p>
        </p:txBody>
      </p:sp>
      <p:sp>
        <p:nvSpPr>
          <p:cNvPr id="18" name="Shape 16"/>
          <p:cNvSpPr/>
          <p:nvPr/>
        </p:nvSpPr>
        <p:spPr>
          <a:xfrm>
            <a:off x="5120640" y="2569464"/>
            <a:ext cx="740664" cy="0"/>
          </a:xfrm>
          <a:prstGeom prst="line">
            <a:avLst/>
          </a:prstGeom>
          <a:noFill/>
          <a:ln w="25400">
            <a:solidFill>
              <a:srgbClr val="93A8BB"/>
            </a:solidFill>
            <a:prstDash val="solid"/>
            <a:headEnd type="none"/>
            <a:tailEnd type="triangle"/>
          </a:ln>
        </p:spPr>
      </p:sp>
      <p:sp>
        <p:nvSpPr>
          <p:cNvPr id="19" name="Shape 17"/>
          <p:cNvSpPr/>
          <p:nvPr/>
        </p:nvSpPr>
        <p:spPr>
          <a:xfrm>
            <a:off x="6254496" y="2194560"/>
            <a:ext cx="749808" cy="749808"/>
          </a:xfrm>
          <a:prstGeom prst="ellipse">
            <a:avLst/>
          </a:prstGeom>
          <a:solidFill>
            <a:srgbClr val="6CA8FF">
              <a:alpha val="25000"/>
            </a:srgbClr>
          </a:solidFill>
          <a:ln w="12700">
            <a:solidFill>
              <a:srgbClr val="6CA8FF">
                <a:alpha val="0"/>
              </a:srgbClr>
            </a:solidFill>
            <a:prstDash val="solid"/>
          </a:ln>
        </p:spPr>
      </p:sp>
      <p:sp>
        <p:nvSpPr>
          <p:cNvPr id="20" name="Text 18"/>
          <p:cNvSpPr/>
          <p:nvPr/>
        </p:nvSpPr>
        <p:spPr>
          <a:xfrm>
            <a:off x="6254496"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6CA8FF"/>
                </a:solidFill>
                <a:latin typeface="Aptos" pitchFamily="34" charset="0"/>
                <a:ea typeface="Aptos" pitchFamily="34" charset="-122"/>
                <a:cs typeface="Aptos" pitchFamily="34" charset="-120"/>
              </a:rPr>
              <a:t>04</a:t>
            </a:r>
            <a:endParaRPr lang="en-US" sz="1200" dirty="0"/>
          </a:p>
        </p:txBody>
      </p:sp>
      <p:sp>
        <p:nvSpPr>
          <p:cNvPr id="21" name="Text 19"/>
          <p:cNvSpPr/>
          <p:nvPr/>
        </p:nvSpPr>
        <p:spPr>
          <a:xfrm>
            <a:off x="5934456"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View Result</a:t>
            </a:r>
            <a:endParaRPr lang="en-US" sz="1150" dirty="0"/>
          </a:p>
        </p:txBody>
      </p:sp>
      <p:sp>
        <p:nvSpPr>
          <p:cNvPr id="22" name="Shape 20"/>
          <p:cNvSpPr/>
          <p:nvPr/>
        </p:nvSpPr>
        <p:spPr>
          <a:xfrm>
            <a:off x="7022592" y="2569464"/>
            <a:ext cx="740664" cy="0"/>
          </a:xfrm>
          <a:prstGeom prst="line">
            <a:avLst/>
          </a:prstGeom>
          <a:noFill/>
          <a:ln w="25400">
            <a:solidFill>
              <a:srgbClr val="93A8BB"/>
            </a:solidFill>
            <a:prstDash val="solid"/>
            <a:headEnd type="none"/>
            <a:tailEnd type="triangle"/>
          </a:ln>
        </p:spPr>
      </p:sp>
      <p:sp>
        <p:nvSpPr>
          <p:cNvPr id="23" name="Shape 21"/>
          <p:cNvSpPr/>
          <p:nvPr/>
        </p:nvSpPr>
        <p:spPr>
          <a:xfrm>
            <a:off x="8156448" y="2194560"/>
            <a:ext cx="749808" cy="749808"/>
          </a:xfrm>
          <a:prstGeom prst="ellipse">
            <a:avLst/>
          </a:prstGeom>
          <a:solidFill>
            <a:srgbClr val="A78BFA">
              <a:alpha val="25000"/>
            </a:srgbClr>
          </a:solidFill>
          <a:ln w="12700">
            <a:solidFill>
              <a:srgbClr val="A78BFA">
                <a:alpha val="0"/>
              </a:srgbClr>
            </a:solidFill>
            <a:prstDash val="solid"/>
          </a:ln>
        </p:spPr>
      </p:sp>
      <p:sp>
        <p:nvSpPr>
          <p:cNvPr id="24" name="Text 22"/>
          <p:cNvSpPr/>
          <p:nvPr/>
        </p:nvSpPr>
        <p:spPr>
          <a:xfrm>
            <a:off x="8156448"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A78BFA"/>
                </a:solidFill>
                <a:latin typeface="Aptos" pitchFamily="34" charset="0"/>
                <a:ea typeface="Aptos" pitchFamily="34" charset="-122"/>
                <a:cs typeface="Aptos" pitchFamily="34" charset="-120"/>
              </a:rPr>
              <a:t>05</a:t>
            </a:r>
            <a:endParaRPr lang="en-US" sz="1200" dirty="0"/>
          </a:p>
        </p:txBody>
      </p:sp>
      <p:sp>
        <p:nvSpPr>
          <p:cNvPr id="25" name="Text 23"/>
          <p:cNvSpPr/>
          <p:nvPr/>
        </p:nvSpPr>
        <p:spPr>
          <a:xfrm>
            <a:off x="7836408"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Save to History</a:t>
            </a:r>
            <a:endParaRPr lang="en-US" sz="1150" dirty="0"/>
          </a:p>
        </p:txBody>
      </p:sp>
      <p:sp>
        <p:nvSpPr>
          <p:cNvPr id="26" name="Shape 24"/>
          <p:cNvSpPr/>
          <p:nvPr/>
        </p:nvSpPr>
        <p:spPr>
          <a:xfrm>
            <a:off x="8924544" y="2569464"/>
            <a:ext cx="740664" cy="0"/>
          </a:xfrm>
          <a:prstGeom prst="line">
            <a:avLst/>
          </a:prstGeom>
          <a:noFill/>
          <a:ln w="25400">
            <a:solidFill>
              <a:srgbClr val="93A8BB"/>
            </a:solidFill>
            <a:prstDash val="solid"/>
            <a:headEnd type="none"/>
            <a:tailEnd type="triangle"/>
          </a:ln>
        </p:spPr>
      </p:sp>
      <p:sp>
        <p:nvSpPr>
          <p:cNvPr id="27" name="Shape 25"/>
          <p:cNvSpPr/>
          <p:nvPr/>
        </p:nvSpPr>
        <p:spPr>
          <a:xfrm>
            <a:off x="10058400" y="2194560"/>
            <a:ext cx="749808" cy="749808"/>
          </a:xfrm>
          <a:prstGeom prst="ellipse">
            <a:avLst/>
          </a:prstGeom>
          <a:solidFill>
            <a:srgbClr val="A78BFA">
              <a:alpha val="25000"/>
            </a:srgbClr>
          </a:solidFill>
          <a:ln w="12700">
            <a:solidFill>
              <a:srgbClr val="A78BFA">
                <a:alpha val="0"/>
              </a:srgbClr>
            </a:solidFill>
            <a:prstDash val="solid"/>
          </a:ln>
        </p:spPr>
      </p:sp>
      <p:sp>
        <p:nvSpPr>
          <p:cNvPr id="28" name="Text 26"/>
          <p:cNvSpPr/>
          <p:nvPr/>
        </p:nvSpPr>
        <p:spPr>
          <a:xfrm>
            <a:off x="10058400" y="2395728"/>
            <a:ext cx="749808" cy="237744"/>
          </a:xfrm>
          <a:prstGeom prst="rect">
            <a:avLst/>
          </a:prstGeom>
          <a:noFill/>
          <a:ln/>
        </p:spPr>
        <p:txBody>
          <a:bodyPr wrap="square" lIns="0" tIns="0" rIns="0" bIns="0" rtlCol="0" anchor="ctr">
            <a:normAutofit/>
          </a:bodyPr>
          <a:lstStyle/>
          <a:p>
            <a:pPr marL="0" indent="0" algn="ctr">
              <a:buNone/>
            </a:pPr>
            <a:r>
              <a:rPr lang="en-US" sz="1200" b="1" dirty="0">
                <a:solidFill>
                  <a:srgbClr val="A78BFA"/>
                </a:solidFill>
                <a:latin typeface="Aptos" pitchFamily="34" charset="0"/>
                <a:ea typeface="Aptos" pitchFamily="34" charset="-122"/>
                <a:cs typeface="Aptos" pitchFamily="34" charset="-120"/>
              </a:rPr>
              <a:t>06</a:t>
            </a:r>
            <a:endParaRPr lang="en-US" sz="1200" dirty="0"/>
          </a:p>
        </p:txBody>
      </p:sp>
      <p:sp>
        <p:nvSpPr>
          <p:cNvPr id="29" name="Text 27"/>
          <p:cNvSpPr/>
          <p:nvPr/>
        </p:nvSpPr>
        <p:spPr>
          <a:xfrm>
            <a:off x="9738360" y="3145536"/>
            <a:ext cx="1417320" cy="420624"/>
          </a:xfrm>
          <a:prstGeom prst="rect">
            <a:avLst/>
          </a:prstGeom>
          <a:noFill/>
          <a:ln/>
        </p:spPr>
        <p:txBody>
          <a:bodyPr wrap="square" lIns="0" tIns="0" rIns="0" bIns="0" rtlCol="0" anchor="ctr">
            <a:normAutofit/>
          </a:bodyPr>
          <a:lstStyle/>
          <a:p>
            <a:pPr marL="0" indent="0" algn="ctr">
              <a:buNone/>
            </a:pPr>
            <a:r>
              <a:rPr lang="en-US" sz="1150" b="1" dirty="0">
                <a:solidFill>
                  <a:srgbClr val="F2F7FB"/>
                </a:solidFill>
                <a:latin typeface="Aptos" pitchFamily="34" charset="0"/>
                <a:ea typeface="Aptos" pitchFamily="34" charset="-122"/>
                <a:cs typeface="Aptos" pitchFamily="34" charset="-120"/>
              </a:rPr>
              <a:t>Ask Assistant</a:t>
            </a:r>
            <a:endParaRPr lang="en-US" sz="1150" dirty="0"/>
          </a:p>
        </p:txBody>
      </p:sp>
      <p:sp>
        <p:nvSpPr>
          <p:cNvPr id="30" name="Shape 28"/>
          <p:cNvSpPr/>
          <p:nvPr/>
        </p:nvSpPr>
        <p:spPr>
          <a:xfrm>
            <a:off x="960120" y="4160520"/>
            <a:ext cx="10241280" cy="1143000"/>
          </a:xfrm>
          <a:prstGeom prst="roundRect">
            <a:avLst>
              <a:gd name="adj" fmla="val 9600"/>
            </a:avLst>
          </a:prstGeom>
          <a:solidFill>
            <a:srgbClr val="10283F"/>
          </a:solidFill>
          <a:ln w="12700">
            <a:solidFill>
              <a:srgbClr val="1B3853"/>
            </a:solidFill>
            <a:prstDash val="solid"/>
          </a:ln>
        </p:spPr>
      </p:sp>
      <p:sp>
        <p:nvSpPr>
          <p:cNvPr id="31" name="Text 29"/>
          <p:cNvSpPr/>
          <p:nvPr/>
        </p:nvSpPr>
        <p:spPr>
          <a:xfrm>
            <a:off x="1234440" y="4370832"/>
            <a:ext cx="1600200" cy="201168"/>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TEAM DEMO ORDER</a:t>
            </a:r>
            <a:endParaRPr lang="en-US" sz="1000" dirty="0"/>
          </a:p>
        </p:txBody>
      </p:sp>
      <p:sp>
        <p:nvSpPr>
          <p:cNvPr id="32" name="Text 30"/>
          <p:cNvSpPr/>
          <p:nvPr/>
        </p:nvSpPr>
        <p:spPr>
          <a:xfrm>
            <a:off x="3063240" y="4325112"/>
            <a:ext cx="5577840" cy="310896"/>
          </a:xfrm>
          <a:prstGeom prst="rect">
            <a:avLst/>
          </a:prstGeom>
          <a:noFill/>
          <a:ln/>
        </p:spPr>
        <p:txBody>
          <a:bodyPr wrap="square" lIns="0" tIns="0" rIns="0" bIns="0" rtlCol="0" anchor="ctr">
            <a:normAutofit/>
          </a:bodyPr>
          <a:lstStyle/>
          <a:p>
            <a:pPr marL="0" indent="0" algn="ctr">
              <a:buNone/>
            </a:pPr>
            <a:r>
              <a:rPr lang="en-US" sz="1800" b="1" dirty="0">
                <a:solidFill>
                  <a:srgbClr val="F2F7FB"/>
                </a:solidFill>
                <a:latin typeface="Aptos" pitchFamily="34" charset="0"/>
                <a:ea typeface="Aptos" pitchFamily="34" charset="-122"/>
                <a:cs typeface="Aptos" pitchFamily="34" charset="-120"/>
              </a:rPr>
              <a:t>Ajit  →  Ajeet  →  Sonu  →  Pranav  →  Ajit</a:t>
            </a:r>
            <a:endParaRPr lang="en-US" sz="1800" dirty="0"/>
          </a:p>
        </p:txBody>
      </p:sp>
      <p:sp>
        <p:nvSpPr>
          <p:cNvPr id="33" name="Text 31"/>
          <p:cNvSpPr/>
          <p:nvPr/>
        </p:nvSpPr>
        <p:spPr>
          <a:xfrm>
            <a:off x="1828800" y="4828032"/>
            <a:ext cx="8503920" cy="219456"/>
          </a:xfrm>
          <a:prstGeom prst="rect">
            <a:avLst/>
          </a:prstGeom>
          <a:noFill/>
          <a:ln/>
        </p:spPr>
        <p:txBody>
          <a:bodyPr wrap="square" lIns="0" tIns="0" rIns="0" bIns="0" rtlCol="0" anchor="ctr">
            <a:normAutofit/>
          </a:bodyPr>
          <a:lstStyle/>
          <a:p>
            <a:pPr marL="0" indent="0" algn="ctr">
              <a:buNone/>
            </a:pPr>
            <a:r>
              <a:rPr lang="en-US" sz="1050" dirty="0">
                <a:solidFill>
                  <a:srgbClr val="93A8BB"/>
                </a:solidFill>
                <a:latin typeface="Aptos" pitchFamily="34" charset="0"/>
                <a:ea typeface="Aptos" pitchFamily="34" charset="-122"/>
                <a:cs typeface="Aptos" pitchFamily="34" charset="-120"/>
              </a:rPr>
              <a:t>Intro/Auth   ·   Personal Finance   ·   Credit Stress   ·   Loan Risk   ·   APIs/Conclusion</a:t>
            </a:r>
            <a:endParaRPr lang="en-US" sz="1050" dirty="0"/>
          </a:p>
        </p:txBody>
      </p:sp>
      <p:sp>
        <p:nvSpPr>
          <p:cNvPr id="34"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RESPONSIBLE USE</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What FinanceAI Does — and Does Not Do</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Model limitations are part of the product, not hidden footnotes.</a:t>
            </a:r>
            <a:endParaRPr lang="en-US" sz="1350" dirty="0"/>
          </a:p>
        </p:txBody>
      </p:sp>
      <p:sp>
        <p:nvSpPr>
          <p:cNvPr id="5" name="Shape 3"/>
          <p:cNvSpPr/>
          <p:nvPr/>
        </p:nvSpPr>
        <p:spPr>
          <a:xfrm>
            <a:off x="9555480" y="384048"/>
            <a:ext cx="2157984" cy="310896"/>
          </a:xfrm>
          <a:prstGeom prst="roundRect">
            <a:avLst>
              <a:gd name="adj" fmla="val 47059"/>
            </a:avLst>
          </a:prstGeom>
          <a:solidFill>
            <a:srgbClr val="FFD978">
              <a:alpha val="18000"/>
            </a:srgbClr>
          </a:solidFill>
          <a:ln w="12700">
            <a:solidFill>
              <a:srgbClr val="FFD978">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FFD978"/>
                </a:solidFill>
                <a:latin typeface="Aptos" pitchFamily="34" charset="0"/>
                <a:ea typeface="Aptos" pitchFamily="34" charset="-122"/>
                <a:cs typeface="Aptos" pitchFamily="34" charset="-120"/>
              </a:rPr>
              <a:t>PRANAV + AJIT</a:t>
            </a:r>
            <a:endParaRPr lang="en-US" sz="950" dirty="0"/>
          </a:p>
        </p:txBody>
      </p:sp>
      <p:sp>
        <p:nvSpPr>
          <p:cNvPr id="7" name="Shape 5"/>
          <p:cNvSpPr/>
          <p:nvPr/>
        </p:nvSpPr>
        <p:spPr>
          <a:xfrm>
            <a:off x="594360" y="1828800"/>
            <a:ext cx="5257800" cy="3063240"/>
          </a:xfrm>
          <a:prstGeom prst="roundRect">
            <a:avLst>
              <a:gd name="adj" fmla="val 3582"/>
            </a:avLst>
          </a:prstGeom>
          <a:solidFill>
            <a:srgbClr val="0E2034"/>
          </a:solidFill>
          <a:ln w="12700">
            <a:solidFill>
              <a:srgbClr val="1B3853"/>
            </a:solidFill>
            <a:prstDash val="solid"/>
          </a:ln>
        </p:spPr>
      </p:sp>
      <p:sp>
        <p:nvSpPr>
          <p:cNvPr id="8" name="Text 6"/>
          <p:cNvSpPr/>
          <p:nvPr/>
        </p:nvSpPr>
        <p:spPr>
          <a:xfrm>
            <a:off x="868680" y="2121408"/>
            <a:ext cx="1920240" cy="228600"/>
          </a:xfrm>
          <a:prstGeom prst="rect">
            <a:avLst/>
          </a:prstGeom>
          <a:noFill/>
          <a:ln/>
        </p:spPr>
        <p:txBody>
          <a:bodyPr wrap="square" lIns="0" tIns="0" rIns="0" bIns="0" rtlCol="0" anchor="ctr">
            <a:normAutofit/>
          </a:bodyPr>
          <a:lstStyle/>
          <a:p>
            <a:pPr marL="0" indent="0">
              <a:buNone/>
            </a:pPr>
            <a:r>
              <a:rPr lang="en-US" sz="1200" b="1" kern="0" spc="120" dirty="0">
                <a:solidFill>
                  <a:srgbClr val="52D69C"/>
                </a:solidFill>
                <a:latin typeface="Aptos" pitchFamily="34" charset="0"/>
                <a:ea typeface="Aptos" pitchFamily="34" charset="-122"/>
                <a:cs typeface="Aptos" pitchFamily="34" charset="-120"/>
              </a:rPr>
              <a:t>FINANCEAI DOES</a:t>
            </a:r>
            <a:endParaRPr lang="en-US" sz="1200" dirty="0"/>
          </a:p>
        </p:txBody>
      </p:sp>
      <p:sp>
        <p:nvSpPr>
          <p:cNvPr id="9" name="Text 7"/>
          <p:cNvSpPr/>
          <p:nvPr/>
        </p:nvSpPr>
        <p:spPr>
          <a:xfrm>
            <a:off x="896112" y="2651760"/>
            <a:ext cx="274320" cy="274320"/>
          </a:xfrm>
          <a:prstGeom prst="rect">
            <a:avLst/>
          </a:prstGeom>
          <a:noFill/>
          <a:ln/>
        </p:spPr>
        <p:txBody>
          <a:bodyPr wrap="square" lIns="0" tIns="0" rIns="0" bIns="0" rtlCol="0" anchor="ctr">
            <a:normAutofit/>
          </a:bodyPr>
          <a:lstStyle/>
          <a:p>
            <a:pPr marL="0" indent="0">
              <a:buNone/>
            </a:pPr>
            <a:r>
              <a:rPr lang="en-US" sz="1400" b="1" dirty="0">
                <a:solidFill>
                  <a:srgbClr val="52D69C"/>
                </a:solidFill>
                <a:latin typeface="Aptos" pitchFamily="34" charset="0"/>
                <a:ea typeface="Aptos" pitchFamily="34" charset="-122"/>
                <a:cs typeface="Aptos" pitchFamily="34" charset="-120"/>
              </a:rPr>
              <a:t>✓</a:t>
            </a:r>
            <a:endParaRPr lang="en-US" sz="1400" dirty="0"/>
          </a:p>
        </p:txBody>
      </p:sp>
      <p:sp>
        <p:nvSpPr>
          <p:cNvPr id="10" name="Text 8"/>
          <p:cNvSpPr/>
          <p:nvPr/>
        </p:nvSpPr>
        <p:spPr>
          <a:xfrm>
            <a:off x="1261872" y="2633472"/>
            <a:ext cx="420624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Explain personal financial health</a:t>
            </a:r>
            <a:endParaRPr lang="en-US" sz="1250" dirty="0"/>
          </a:p>
        </p:txBody>
      </p:sp>
      <p:sp>
        <p:nvSpPr>
          <p:cNvPr id="11" name="Text 9"/>
          <p:cNvSpPr/>
          <p:nvPr/>
        </p:nvSpPr>
        <p:spPr>
          <a:xfrm>
            <a:off x="896112" y="3145536"/>
            <a:ext cx="274320" cy="274320"/>
          </a:xfrm>
          <a:prstGeom prst="rect">
            <a:avLst/>
          </a:prstGeom>
          <a:noFill/>
          <a:ln/>
        </p:spPr>
        <p:txBody>
          <a:bodyPr wrap="square" lIns="0" tIns="0" rIns="0" bIns="0" rtlCol="0" anchor="ctr">
            <a:normAutofit/>
          </a:bodyPr>
          <a:lstStyle/>
          <a:p>
            <a:pPr marL="0" indent="0">
              <a:buNone/>
            </a:pPr>
            <a:r>
              <a:rPr lang="en-US" sz="1400" b="1" dirty="0">
                <a:solidFill>
                  <a:srgbClr val="52D69C"/>
                </a:solidFill>
                <a:latin typeface="Aptos" pitchFamily="34" charset="0"/>
                <a:ea typeface="Aptos" pitchFamily="34" charset="-122"/>
                <a:cs typeface="Aptos" pitchFamily="34" charset="-120"/>
              </a:rPr>
              <a:t>✓</a:t>
            </a:r>
            <a:endParaRPr lang="en-US" sz="1400" dirty="0"/>
          </a:p>
        </p:txBody>
      </p:sp>
      <p:sp>
        <p:nvSpPr>
          <p:cNvPr id="12" name="Text 10"/>
          <p:cNvSpPr/>
          <p:nvPr/>
        </p:nvSpPr>
        <p:spPr>
          <a:xfrm>
            <a:off x="1261872" y="3127248"/>
            <a:ext cx="420624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Generate educational recommendations</a:t>
            </a:r>
            <a:endParaRPr lang="en-US" sz="1250" dirty="0"/>
          </a:p>
        </p:txBody>
      </p:sp>
      <p:sp>
        <p:nvSpPr>
          <p:cNvPr id="13" name="Text 11"/>
          <p:cNvSpPr/>
          <p:nvPr/>
        </p:nvSpPr>
        <p:spPr>
          <a:xfrm>
            <a:off x="896112" y="3639312"/>
            <a:ext cx="274320" cy="274320"/>
          </a:xfrm>
          <a:prstGeom prst="rect">
            <a:avLst/>
          </a:prstGeom>
          <a:noFill/>
          <a:ln/>
        </p:spPr>
        <p:txBody>
          <a:bodyPr wrap="square" lIns="0" tIns="0" rIns="0" bIns="0" rtlCol="0" anchor="ctr">
            <a:normAutofit/>
          </a:bodyPr>
          <a:lstStyle/>
          <a:p>
            <a:pPr marL="0" indent="0">
              <a:buNone/>
            </a:pPr>
            <a:r>
              <a:rPr lang="en-US" sz="1400" b="1" dirty="0">
                <a:solidFill>
                  <a:srgbClr val="52D69C"/>
                </a:solidFill>
                <a:latin typeface="Aptos" pitchFamily="34" charset="0"/>
                <a:ea typeface="Aptos" pitchFamily="34" charset="-122"/>
                <a:cs typeface="Aptos" pitchFamily="34" charset="-120"/>
              </a:rPr>
              <a:t>✓</a:t>
            </a:r>
            <a:endParaRPr lang="en-US" sz="1400" dirty="0"/>
          </a:p>
        </p:txBody>
      </p:sp>
      <p:sp>
        <p:nvSpPr>
          <p:cNvPr id="14" name="Text 12"/>
          <p:cNvSpPr/>
          <p:nvPr/>
        </p:nvSpPr>
        <p:spPr>
          <a:xfrm>
            <a:off x="1261872" y="3621024"/>
            <a:ext cx="420624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Demonstrate ML risk ranking responsibly</a:t>
            </a:r>
            <a:endParaRPr lang="en-US" sz="1250" dirty="0"/>
          </a:p>
        </p:txBody>
      </p:sp>
      <p:sp>
        <p:nvSpPr>
          <p:cNvPr id="15" name="Text 13"/>
          <p:cNvSpPr/>
          <p:nvPr/>
        </p:nvSpPr>
        <p:spPr>
          <a:xfrm>
            <a:off x="896112" y="4133088"/>
            <a:ext cx="274320" cy="274320"/>
          </a:xfrm>
          <a:prstGeom prst="rect">
            <a:avLst/>
          </a:prstGeom>
          <a:noFill/>
          <a:ln/>
        </p:spPr>
        <p:txBody>
          <a:bodyPr wrap="square" lIns="0" tIns="0" rIns="0" bIns="0" rtlCol="0" anchor="ctr">
            <a:normAutofit/>
          </a:bodyPr>
          <a:lstStyle/>
          <a:p>
            <a:pPr marL="0" indent="0">
              <a:buNone/>
            </a:pPr>
            <a:r>
              <a:rPr lang="en-US" sz="1400" b="1" dirty="0">
                <a:solidFill>
                  <a:srgbClr val="52D69C"/>
                </a:solidFill>
                <a:latin typeface="Aptos" pitchFamily="34" charset="0"/>
                <a:ea typeface="Aptos" pitchFamily="34" charset="-122"/>
                <a:cs typeface="Aptos" pitchFamily="34" charset="-120"/>
              </a:rPr>
              <a:t>✓</a:t>
            </a:r>
            <a:endParaRPr lang="en-US" sz="1400" dirty="0"/>
          </a:p>
        </p:txBody>
      </p:sp>
      <p:sp>
        <p:nvSpPr>
          <p:cNvPr id="16" name="Text 14"/>
          <p:cNvSpPr/>
          <p:nvPr/>
        </p:nvSpPr>
        <p:spPr>
          <a:xfrm>
            <a:off x="1261872" y="4114800"/>
            <a:ext cx="420624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Show thresholds, metrics and limitations</a:t>
            </a:r>
            <a:endParaRPr lang="en-US" sz="1250" dirty="0"/>
          </a:p>
        </p:txBody>
      </p:sp>
      <p:sp>
        <p:nvSpPr>
          <p:cNvPr id="17" name="Shape 15"/>
          <p:cNvSpPr/>
          <p:nvPr/>
        </p:nvSpPr>
        <p:spPr>
          <a:xfrm>
            <a:off x="6309360" y="1828800"/>
            <a:ext cx="5257800" cy="3063240"/>
          </a:xfrm>
          <a:prstGeom prst="roundRect">
            <a:avLst>
              <a:gd name="adj" fmla="val 3582"/>
            </a:avLst>
          </a:prstGeom>
          <a:solidFill>
            <a:srgbClr val="10283F"/>
          </a:solidFill>
          <a:ln w="12700">
            <a:solidFill>
              <a:srgbClr val="1B3853"/>
            </a:solidFill>
            <a:prstDash val="solid"/>
          </a:ln>
        </p:spPr>
      </p:sp>
      <p:sp>
        <p:nvSpPr>
          <p:cNvPr id="18" name="Text 16"/>
          <p:cNvSpPr/>
          <p:nvPr/>
        </p:nvSpPr>
        <p:spPr>
          <a:xfrm>
            <a:off x="6583680" y="2121408"/>
            <a:ext cx="2377440" cy="228600"/>
          </a:xfrm>
          <a:prstGeom prst="rect">
            <a:avLst/>
          </a:prstGeom>
          <a:noFill/>
          <a:ln/>
        </p:spPr>
        <p:txBody>
          <a:bodyPr wrap="square" lIns="0" tIns="0" rIns="0" bIns="0" rtlCol="0" anchor="ctr">
            <a:normAutofit/>
          </a:bodyPr>
          <a:lstStyle/>
          <a:p>
            <a:pPr marL="0" indent="0">
              <a:buNone/>
            </a:pPr>
            <a:r>
              <a:rPr lang="en-US" sz="1200" b="1" kern="0" spc="120" dirty="0">
                <a:solidFill>
                  <a:srgbClr val="FF7D87"/>
                </a:solidFill>
                <a:latin typeface="Aptos" pitchFamily="34" charset="0"/>
                <a:ea typeface="Aptos" pitchFamily="34" charset="-122"/>
                <a:cs typeface="Aptos" pitchFamily="34" charset="-120"/>
              </a:rPr>
              <a:t>FINANCEAI DOES NOT</a:t>
            </a:r>
            <a:endParaRPr lang="en-US" sz="1200" dirty="0"/>
          </a:p>
        </p:txBody>
      </p:sp>
      <p:sp>
        <p:nvSpPr>
          <p:cNvPr id="19" name="Text 17"/>
          <p:cNvSpPr/>
          <p:nvPr/>
        </p:nvSpPr>
        <p:spPr>
          <a:xfrm>
            <a:off x="6583680" y="2651760"/>
            <a:ext cx="274320" cy="274320"/>
          </a:xfrm>
          <a:prstGeom prst="rect">
            <a:avLst/>
          </a:prstGeom>
          <a:noFill/>
          <a:ln/>
        </p:spPr>
        <p:txBody>
          <a:bodyPr wrap="square" lIns="0" tIns="0" rIns="0" bIns="0" rtlCol="0" anchor="ctr">
            <a:normAutofit/>
          </a:bodyPr>
          <a:lstStyle/>
          <a:p>
            <a:pPr marL="0" indent="0">
              <a:buNone/>
            </a:pPr>
            <a:r>
              <a:rPr lang="en-US" sz="1500" b="1" dirty="0">
                <a:solidFill>
                  <a:srgbClr val="FF7D87"/>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6967728" y="2633472"/>
            <a:ext cx="416052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Approve / reject credit cards</a:t>
            </a:r>
            <a:endParaRPr lang="en-US" sz="1250" dirty="0"/>
          </a:p>
        </p:txBody>
      </p:sp>
      <p:sp>
        <p:nvSpPr>
          <p:cNvPr id="21" name="Text 19"/>
          <p:cNvSpPr/>
          <p:nvPr/>
        </p:nvSpPr>
        <p:spPr>
          <a:xfrm>
            <a:off x="6583680" y="3145536"/>
            <a:ext cx="274320" cy="274320"/>
          </a:xfrm>
          <a:prstGeom prst="rect">
            <a:avLst/>
          </a:prstGeom>
          <a:noFill/>
          <a:ln/>
        </p:spPr>
        <p:txBody>
          <a:bodyPr wrap="square" lIns="0" tIns="0" rIns="0" bIns="0" rtlCol="0" anchor="ctr">
            <a:normAutofit/>
          </a:bodyPr>
          <a:lstStyle/>
          <a:p>
            <a:pPr marL="0" indent="0">
              <a:buNone/>
            </a:pPr>
            <a:r>
              <a:rPr lang="en-US" sz="1500" b="1" dirty="0">
                <a:solidFill>
                  <a:srgbClr val="FF7D87"/>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6967728" y="3127248"/>
            <a:ext cx="416052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Approve / reject loans</a:t>
            </a:r>
            <a:endParaRPr lang="en-US" sz="1250" dirty="0"/>
          </a:p>
        </p:txBody>
      </p:sp>
      <p:sp>
        <p:nvSpPr>
          <p:cNvPr id="23" name="Text 21"/>
          <p:cNvSpPr/>
          <p:nvPr/>
        </p:nvSpPr>
        <p:spPr>
          <a:xfrm>
            <a:off x="6583680" y="3639312"/>
            <a:ext cx="274320" cy="274320"/>
          </a:xfrm>
          <a:prstGeom prst="rect">
            <a:avLst/>
          </a:prstGeom>
          <a:noFill/>
          <a:ln/>
        </p:spPr>
        <p:txBody>
          <a:bodyPr wrap="square" lIns="0" tIns="0" rIns="0" bIns="0" rtlCol="0" anchor="ctr">
            <a:normAutofit/>
          </a:bodyPr>
          <a:lstStyle/>
          <a:p>
            <a:pPr marL="0" indent="0">
              <a:buNone/>
            </a:pPr>
            <a:r>
              <a:rPr lang="en-US" sz="1500" b="1" dirty="0">
                <a:solidFill>
                  <a:srgbClr val="FF7D87"/>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6967728" y="3621024"/>
            <a:ext cx="416052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Claim proxy labels are real defaults</a:t>
            </a:r>
            <a:endParaRPr lang="en-US" sz="1250" dirty="0"/>
          </a:p>
        </p:txBody>
      </p:sp>
      <p:sp>
        <p:nvSpPr>
          <p:cNvPr id="25" name="Text 23"/>
          <p:cNvSpPr/>
          <p:nvPr/>
        </p:nvSpPr>
        <p:spPr>
          <a:xfrm>
            <a:off x="6583680" y="4133088"/>
            <a:ext cx="274320" cy="274320"/>
          </a:xfrm>
          <a:prstGeom prst="rect">
            <a:avLst/>
          </a:prstGeom>
          <a:noFill/>
          <a:ln/>
        </p:spPr>
        <p:txBody>
          <a:bodyPr wrap="square" lIns="0" tIns="0" rIns="0" bIns="0" rtlCol="0" anchor="ctr">
            <a:normAutofit/>
          </a:bodyPr>
          <a:lstStyle/>
          <a:p>
            <a:pPr marL="0" indent="0">
              <a:buNone/>
            </a:pPr>
            <a:r>
              <a:rPr lang="en-US" sz="1500" b="1" dirty="0">
                <a:solidFill>
                  <a:srgbClr val="FF7D87"/>
                </a:solidFill>
                <a:latin typeface="Aptos" pitchFamily="34" charset="0"/>
                <a:ea typeface="Aptos" pitchFamily="34" charset="-122"/>
                <a:cs typeface="Aptos" pitchFamily="34" charset="-120"/>
              </a:rPr>
              <a:t>×</a:t>
            </a:r>
            <a:endParaRPr lang="en-US" sz="1500" dirty="0"/>
          </a:p>
        </p:txBody>
      </p:sp>
      <p:sp>
        <p:nvSpPr>
          <p:cNvPr id="26" name="Text 24"/>
          <p:cNvSpPr/>
          <p:nvPr/>
        </p:nvSpPr>
        <p:spPr>
          <a:xfrm>
            <a:off x="6967728" y="4114800"/>
            <a:ext cx="4160520" cy="310896"/>
          </a:xfrm>
          <a:prstGeom prst="rect">
            <a:avLst/>
          </a:prstGeom>
          <a:noFill/>
          <a:ln/>
        </p:spPr>
        <p:txBody>
          <a:bodyPr wrap="square" lIns="0" tIns="0" rIns="0" bIns="0" rtlCol="0" anchor="ctr">
            <a:normAutofit/>
          </a:bodyPr>
          <a:lstStyle/>
          <a:p>
            <a:pPr marL="0" indent="0">
              <a:buNone/>
            </a:pPr>
            <a:r>
              <a:rPr lang="en-US" sz="1250" b="1" dirty="0">
                <a:solidFill>
                  <a:srgbClr val="F2F7FB"/>
                </a:solidFill>
                <a:latin typeface="Aptos" pitchFamily="34" charset="0"/>
                <a:ea typeface="Aptos" pitchFamily="34" charset="-122"/>
                <a:cs typeface="Aptos" pitchFamily="34" charset="-120"/>
              </a:rPr>
              <a:t>Provide professional financial advice</a:t>
            </a:r>
            <a:endParaRPr lang="en-US" sz="1250" dirty="0"/>
          </a:p>
        </p:txBody>
      </p:sp>
      <p:sp>
        <p:nvSpPr>
          <p:cNvPr id="27" name="Shape 25"/>
          <p:cNvSpPr/>
          <p:nvPr/>
        </p:nvSpPr>
        <p:spPr>
          <a:xfrm>
            <a:off x="1005840" y="5166360"/>
            <a:ext cx="10104120" cy="475488"/>
          </a:xfrm>
          <a:prstGeom prst="roundRect">
            <a:avLst>
              <a:gd name="adj" fmla="val 23077"/>
            </a:avLst>
          </a:prstGeom>
          <a:solidFill>
            <a:srgbClr val="0A192A"/>
          </a:solidFill>
          <a:ln w="12700">
            <a:solidFill>
              <a:srgbClr val="1B3853"/>
            </a:solidFill>
            <a:prstDash val="solid"/>
          </a:ln>
        </p:spPr>
      </p:sp>
      <p:sp>
        <p:nvSpPr>
          <p:cNvPr id="28" name="Text 26"/>
          <p:cNvSpPr/>
          <p:nvPr/>
        </p:nvSpPr>
        <p:spPr>
          <a:xfrm>
            <a:off x="1280160" y="5312664"/>
            <a:ext cx="9555480" cy="201168"/>
          </a:xfrm>
          <a:prstGeom prst="rect">
            <a:avLst/>
          </a:prstGeom>
          <a:noFill/>
          <a:ln/>
        </p:spPr>
        <p:txBody>
          <a:bodyPr wrap="square" lIns="0" tIns="0" rIns="0" bIns="0" rtlCol="0" anchor="ctr">
            <a:normAutofit/>
          </a:bodyPr>
          <a:lstStyle/>
          <a:p>
            <a:pPr marL="0" indent="0" algn="ctr">
              <a:buNone/>
            </a:pPr>
            <a:r>
              <a:rPr lang="en-US" sz="1300" b="1" dirty="0">
                <a:solidFill>
                  <a:srgbClr val="FFD978"/>
                </a:solidFill>
                <a:latin typeface="Aptos" pitchFamily="34" charset="0"/>
                <a:ea typeface="Aptos" pitchFamily="34" charset="-122"/>
                <a:cs typeface="Aptos" pitchFamily="34" charset="-120"/>
              </a:rPr>
              <a:t>Responsible analytics = useful output + honest boundaries</a:t>
            </a:r>
            <a:endParaRPr lang="en-US" sz="1300" dirty="0"/>
          </a:p>
        </p:txBody>
      </p:sp>
      <p:sp>
        <p:nvSpPr>
          <p:cNvPr id="29"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75488" y="384048"/>
            <a:ext cx="4663440" cy="237744"/>
          </a:xfrm>
          <a:prstGeom prst="rect">
            <a:avLst/>
          </a:prstGeom>
          <a:noFill/>
          <a:ln/>
        </p:spPr>
        <p:txBody>
          <a:bodyPr wrap="square" lIns="0" tIns="0" rIns="0" bIns="0" rtlCol="0" anchor="ctr">
            <a:normAutofit/>
          </a:bodyPr>
          <a:lstStyle/>
          <a:p>
            <a:pPr marL="0" indent="0">
              <a:buNone/>
            </a:pPr>
            <a:r>
              <a:rPr lang="en-US" sz="1000" b="1" kern="0" spc="200" dirty="0">
                <a:solidFill>
                  <a:srgbClr val="35D0BA"/>
                </a:solidFill>
                <a:latin typeface="Aptos" pitchFamily="34" charset="0"/>
                <a:ea typeface="Aptos" pitchFamily="34" charset="-122"/>
                <a:cs typeface="Aptos" pitchFamily="34" charset="-120"/>
              </a:rPr>
              <a:t>FUTURE SCOPE</a:t>
            </a:r>
            <a:endParaRPr lang="en-US" sz="1000" dirty="0"/>
          </a:p>
        </p:txBody>
      </p:sp>
      <p:sp>
        <p:nvSpPr>
          <p:cNvPr id="3" name="Text 1"/>
          <p:cNvSpPr/>
          <p:nvPr/>
        </p:nvSpPr>
        <p:spPr>
          <a:xfrm>
            <a:off x="475488" y="758952"/>
            <a:ext cx="9875520" cy="548640"/>
          </a:xfrm>
          <a:prstGeom prst="rect">
            <a:avLst/>
          </a:prstGeom>
          <a:noFill/>
          <a:ln/>
        </p:spPr>
        <p:txBody>
          <a:bodyPr wrap="square" lIns="0" tIns="0" rIns="0" bIns="0" rtlCol="0" anchor="ctr">
            <a:normAutofit/>
          </a:bodyPr>
          <a:lstStyle/>
          <a:p>
            <a:pPr marL="0" indent="0">
              <a:buNone/>
            </a:pPr>
            <a:r>
              <a:rPr lang="en-US" sz="3000" b="1" dirty="0">
                <a:solidFill>
                  <a:srgbClr val="F2F7FB"/>
                </a:solidFill>
                <a:latin typeface="Aptos Display" pitchFamily="34" charset="0"/>
                <a:ea typeface="Aptos Display" pitchFamily="34" charset="-122"/>
                <a:cs typeface="Aptos Display" pitchFamily="34" charset="-120"/>
              </a:rPr>
              <a:t>Where FinanceAI Can Go Next</a:t>
            </a:r>
            <a:endParaRPr lang="en-US" sz="3000" dirty="0"/>
          </a:p>
        </p:txBody>
      </p:sp>
      <p:sp>
        <p:nvSpPr>
          <p:cNvPr id="4" name="Text 2"/>
          <p:cNvSpPr/>
          <p:nvPr/>
        </p:nvSpPr>
        <p:spPr>
          <a:xfrm>
            <a:off x="475488" y="1335024"/>
            <a:ext cx="9966960" cy="438912"/>
          </a:xfrm>
          <a:prstGeom prst="rect">
            <a:avLst/>
          </a:prstGeom>
          <a:noFill/>
          <a:ln/>
        </p:spPr>
        <p:txBody>
          <a:bodyPr wrap="square" lIns="0" tIns="0" rIns="0" bIns="0" rtlCol="0" anchor="ctr">
            <a:normAutofit/>
          </a:bodyPr>
          <a:lstStyle/>
          <a:p>
            <a:pPr marL="0" indent="0">
              <a:buNone/>
            </a:pPr>
            <a:r>
              <a:rPr lang="en-US" sz="1350" dirty="0">
                <a:solidFill>
                  <a:srgbClr val="93A8BB"/>
                </a:solidFill>
                <a:latin typeface="Aptos" pitchFamily="34" charset="0"/>
                <a:ea typeface="Aptos" pitchFamily="34" charset="-122"/>
                <a:cs typeface="Aptos" pitchFamily="34" charset="-120"/>
              </a:rPr>
              <a:t>From a strong academic prototype to a richer financial intelligence platform.</a:t>
            </a:r>
            <a:endParaRPr lang="en-US" sz="1350" dirty="0"/>
          </a:p>
        </p:txBody>
      </p:sp>
      <p:sp>
        <p:nvSpPr>
          <p:cNvPr id="5" name="Shape 3"/>
          <p:cNvSpPr/>
          <p:nvPr/>
        </p:nvSpPr>
        <p:spPr>
          <a:xfrm>
            <a:off x="9555480" y="384048"/>
            <a:ext cx="2157984"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6" name="Text 4"/>
          <p:cNvSpPr/>
          <p:nvPr/>
        </p:nvSpPr>
        <p:spPr>
          <a:xfrm>
            <a:off x="9628632" y="402336"/>
            <a:ext cx="2011680"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AJIT KUMAR</a:t>
            </a:r>
            <a:endParaRPr lang="en-US" sz="950" dirty="0"/>
          </a:p>
        </p:txBody>
      </p:sp>
      <p:sp>
        <p:nvSpPr>
          <p:cNvPr id="7" name="Shape 5"/>
          <p:cNvSpPr/>
          <p:nvPr/>
        </p:nvSpPr>
        <p:spPr>
          <a:xfrm>
            <a:off x="566928" y="1874520"/>
            <a:ext cx="3337560" cy="1188720"/>
          </a:xfrm>
          <a:prstGeom prst="roundRect">
            <a:avLst>
              <a:gd name="adj" fmla="val 9231"/>
            </a:avLst>
          </a:prstGeom>
          <a:solidFill>
            <a:srgbClr val="0E2034"/>
          </a:solidFill>
          <a:ln w="12700">
            <a:solidFill>
              <a:srgbClr val="1B3853"/>
            </a:solidFill>
            <a:prstDash val="solid"/>
          </a:ln>
        </p:spPr>
      </p:sp>
      <p:sp>
        <p:nvSpPr>
          <p:cNvPr id="8" name="Text 6"/>
          <p:cNvSpPr/>
          <p:nvPr/>
        </p:nvSpPr>
        <p:spPr>
          <a:xfrm>
            <a:off x="74980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Real Transactions</a:t>
            </a:r>
            <a:endParaRPr lang="en-US" sz="1500" dirty="0"/>
          </a:p>
        </p:txBody>
      </p:sp>
      <p:sp>
        <p:nvSpPr>
          <p:cNvPr id="9" name="Text 7"/>
          <p:cNvSpPr/>
          <p:nvPr/>
        </p:nvSpPr>
        <p:spPr>
          <a:xfrm>
            <a:off x="749808" y="240487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Bank / UPI transaction ingestion</a:t>
            </a:r>
            <a:endParaRPr lang="en-US" sz="1130" dirty="0"/>
          </a:p>
        </p:txBody>
      </p:sp>
      <p:sp>
        <p:nvSpPr>
          <p:cNvPr id="10" name="Shape 8"/>
          <p:cNvSpPr/>
          <p:nvPr/>
        </p:nvSpPr>
        <p:spPr>
          <a:xfrm>
            <a:off x="4270248" y="1874520"/>
            <a:ext cx="3337560" cy="1188720"/>
          </a:xfrm>
          <a:prstGeom prst="roundRect">
            <a:avLst>
              <a:gd name="adj" fmla="val 9231"/>
            </a:avLst>
          </a:prstGeom>
          <a:solidFill>
            <a:srgbClr val="0E2034"/>
          </a:solidFill>
          <a:ln w="12700">
            <a:solidFill>
              <a:srgbClr val="1B3853"/>
            </a:solidFill>
            <a:prstDash val="solid"/>
          </a:ln>
        </p:spPr>
      </p:sp>
      <p:sp>
        <p:nvSpPr>
          <p:cNvPr id="11" name="Text 9"/>
          <p:cNvSpPr/>
          <p:nvPr/>
        </p:nvSpPr>
        <p:spPr>
          <a:xfrm>
            <a:off x="445312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Real Default Labels</a:t>
            </a:r>
            <a:endParaRPr lang="en-US" sz="1500" dirty="0"/>
          </a:p>
        </p:txBody>
      </p:sp>
      <p:sp>
        <p:nvSpPr>
          <p:cNvPr id="12" name="Text 10"/>
          <p:cNvSpPr/>
          <p:nvPr/>
        </p:nvSpPr>
        <p:spPr>
          <a:xfrm>
            <a:off x="4453128" y="240487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Verified repayment outcomes</a:t>
            </a:r>
            <a:endParaRPr lang="en-US" sz="1130" dirty="0"/>
          </a:p>
        </p:txBody>
      </p:sp>
      <p:sp>
        <p:nvSpPr>
          <p:cNvPr id="13" name="Shape 11"/>
          <p:cNvSpPr/>
          <p:nvPr/>
        </p:nvSpPr>
        <p:spPr>
          <a:xfrm>
            <a:off x="7973568" y="1874520"/>
            <a:ext cx="3337560" cy="1188720"/>
          </a:xfrm>
          <a:prstGeom prst="roundRect">
            <a:avLst>
              <a:gd name="adj" fmla="val 9231"/>
            </a:avLst>
          </a:prstGeom>
          <a:solidFill>
            <a:srgbClr val="0E2034"/>
          </a:solidFill>
          <a:ln w="12700">
            <a:solidFill>
              <a:srgbClr val="1B3853"/>
            </a:solidFill>
            <a:prstDash val="solid"/>
          </a:ln>
        </p:spPr>
      </p:sp>
      <p:sp>
        <p:nvSpPr>
          <p:cNvPr id="14" name="Text 12"/>
          <p:cNvSpPr/>
          <p:nvPr/>
        </p:nvSpPr>
        <p:spPr>
          <a:xfrm>
            <a:off x="8156448" y="203911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Longer Time Series</a:t>
            </a:r>
            <a:endParaRPr lang="en-US" sz="1500" dirty="0"/>
          </a:p>
        </p:txBody>
      </p:sp>
      <p:sp>
        <p:nvSpPr>
          <p:cNvPr id="15" name="Text 13"/>
          <p:cNvSpPr/>
          <p:nvPr/>
        </p:nvSpPr>
        <p:spPr>
          <a:xfrm>
            <a:off x="8156448" y="240487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Better temporal validation</a:t>
            </a:r>
            <a:endParaRPr lang="en-US" sz="1130" dirty="0"/>
          </a:p>
        </p:txBody>
      </p:sp>
      <p:sp>
        <p:nvSpPr>
          <p:cNvPr id="16" name="Shape 14"/>
          <p:cNvSpPr/>
          <p:nvPr/>
        </p:nvSpPr>
        <p:spPr>
          <a:xfrm>
            <a:off x="566928" y="3337560"/>
            <a:ext cx="3337560" cy="1188720"/>
          </a:xfrm>
          <a:prstGeom prst="roundRect">
            <a:avLst>
              <a:gd name="adj" fmla="val 9231"/>
            </a:avLst>
          </a:prstGeom>
          <a:solidFill>
            <a:srgbClr val="0E2034"/>
          </a:solidFill>
          <a:ln w="12700">
            <a:solidFill>
              <a:srgbClr val="1B3853"/>
            </a:solidFill>
            <a:prstDash val="solid"/>
          </a:ln>
        </p:spPr>
      </p:sp>
      <p:sp>
        <p:nvSpPr>
          <p:cNvPr id="17" name="Text 15"/>
          <p:cNvSpPr/>
          <p:nvPr/>
        </p:nvSpPr>
        <p:spPr>
          <a:xfrm>
            <a:off x="749808" y="350215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Fairness &amp; Calibration</a:t>
            </a:r>
            <a:endParaRPr lang="en-US" sz="1500" dirty="0"/>
          </a:p>
        </p:txBody>
      </p:sp>
      <p:sp>
        <p:nvSpPr>
          <p:cNvPr id="18" name="Text 16"/>
          <p:cNvSpPr/>
          <p:nvPr/>
        </p:nvSpPr>
        <p:spPr>
          <a:xfrm>
            <a:off x="749808" y="386791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Bias checks + calibrated risk</a:t>
            </a:r>
            <a:endParaRPr lang="en-US" sz="1130" dirty="0"/>
          </a:p>
        </p:txBody>
      </p:sp>
      <p:sp>
        <p:nvSpPr>
          <p:cNvPr id="19" name="Shape 17"/>
          <p:cNvSpPr/>
          <p:nvPr/>
        </p:nvSpPr>
        <p:spPr>
          <a:xfrm>
            <a:off x="4270248" y="3337560"/>
            <a:ext cx="3337560" cy="1188720"/>
          </a:xfrm>
          <a:prstGeom prst="roundRect">
            <a:avLst>
              <a:gd name="adj" fmla="val 9231"/>
            </a:avLst>
          </a:prstGeom>
          <a:solidFill>
            <a:srgbClr val="0E2034"/>
          </a:solidFill>
          <a:ln w="12700">
            <a:solidFill>
              <a:srgbClr val="1B3853"/>
            </a:solidFill>
            <a:prstDash val="solid"/>
          </a:ln>
        </p:spPr>
      </p:sp>
      <p:sp>
        <p:nvSpPr>
          <p:cNvPr id="20" name="Text 18"/>
          <p:cNvSpPr/>
          <p:nvPr/>
        </p:nvSpPr>
        <p:spPr>
          <a:xfrm>
            <a:off x="4453128" y="350215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Cloud Deployment</a:t>
            </a:r>
            <a:endParaRPr lang="en-US" sz="1500" dirty="0"/>
          </a:p>
        </p:txBody>
      </p:sp>
      <p:sp>
        <p:nvSpPr>
          <p:cNvPr id="21" name="Text 19"/>
          <p:cNvSpPr/>
          <p:nvPr/>
        </p:nvSpPr>
        <p:spPr>
          <a:xfrm>
            <a:off x="4453128" y="386791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Secure hosted application</a:t>
            </a:r>
            <a:endParaRPr lang="en-US" sz="1130" dirty="0"/>
          </a:p>
        </p:txBody>
      </p:sp>
      <p:sp>
        <p:nvSpPr>
          <p:cNvPr id="22" name="Shape 20"/>
          <p:cNvSpPr/>
          <p:nvPr/>
        </p:nvSpPr>
        <p:spPr>
          <a:xfrm>
            <a:off x="7973568" y="3337560"/>
            <a:ext cx="3337560" cy="1188720"/>
          </a:xfrm>
          <a:prstGeom prst="roundRect">
            <a:avLst>
              <a:gd name="adj" fmla="val 9231"/>
            </a:avLst>
          </a:prstGeom>
          <a:solidFill>
            <a:srgbClr val="0E2034"/>
          </a:solidFill>
          <a:ln w="12700">
            <a:solidFill>
              <a:srgbClr val="1B3853"/>
            </a:solidFill>
            <a:prstDash val="solid"/>
          </a:ln>
        </p:spPr>
      </p:sp>
      <p:sp>
        <p:nvSpPr>
          <p:cNvPr id="23" name="Text 21"/>
          <p:cNvSpPr/>
          <p:nvPr/>
        </p:nvSpPr>
        <p:spPr>
          <a:xfrm>
            <a:off x="8156448" y="3502152"/>
            <a:ext cx="2971800" cy="301752"/>
          </a:xfrm>
          <a:prstGeom prst="rect">
            <a:avLst/>
          </a:prstGeom>
          <a:noFill/>
          <a:ln/>
        </p:spPr>
        <p:txBody>
          <a:bodyPr wrap="square" lIns="0" tIns="0" rIns="0" bIns="0" rtlCol="0" anchor="ctr">
            <a:normAutofit/>
          </a:bodyPr>
          <a:lstStyle/>
          <a:p>
            <a:pPr marL="0" indent="0">
              <a:buNone/>
            </a:pPr>
            <a:r>
              <a:rPr lang="en-US" sz="1500" b="1" dirty="0">
                <a:solidFill>
                  <a:srgbClr val="F2F7FB"/>
                </a:solidFill>
                <a:latin typeface="Aptos" pitchFamily="34" charset="0"/>
                <a:ea typeface="Aptos" pitchFamily="34" charset="-122"/>
                <a:cs typeface="Aptos" pitchFamily="34" charset="-120"/>
              </a:rPr>
              <a:t>Mobile / PWA</a:t>
            </a:r>
            <a:endParaRPr lang="en-US" sz="1500" dirty="0"/>
          </a:p>
        </p:txBody>
      </p:sp>
      <p:sp>
        <p:nvSpPr>
          <p:cNvPr id="24" name="Text 22"/>
          <p:cNvSpPr/>
          <p:nvPr/>
        </p:nvSpPr>
        <p:spPr>
          <a:xfrm>
            <a:off x="8156448" y="3867912"/>
            <a:ext cx="2971800" cy="530352"/>
          </a:xfrm>
          <a:prstGeom prst="rect">
            <a:avLst/>
          </a:prstGeom>
          <a:noFill/>
          <a:ln/>
        </p:spPr>
        <p:txBody>
          <a:bodyPr wrap="square" lIns="0" tIns="0" rIns="0" bIns="0" rtlCol="0" anchor="t">
            <a:normAutofit/>
          </a:bodyPr>
          <a:lstStyle/>
          <a:p>
            <a:pPr marL="0" indent="0">
              <a:buNone/>
            </a:pPr>
            <a:r>
              <a:rPr lang="en-US" sz="1130" dirty="0">
                <a:solidFill>
                  <a:srgbClr val="93A8BB"/>
                </a:solidFill>
                <a:latin typeface="Aptos" pitchFamily="34" charset="0"/>
                <a:ea typeface="Aptos" pitchFamily="34" charset="-122"/>
                <a:cs typeface="Aptos" pitchFamily="34" charset="-120"/>
              </a:rPr>
              <a:t>On-the-go financial insights</a:t>
            </a:r>
            <a:endParaRPr lang="en-US" sz="1130" dirty="0"/>
          </a:p>
        </p:txBody>
      </p:sp>
      <p:sp>
        <p:nvSpPr>
          <p:cNvPr id="25" name="Shape 23"/>
          <p:cNvSpPr/>
          <p:nvPr/>
        </p:nvSpPr>
        <p:spPr>
          <a:xfrm>
            <a:off x="868680" y="5230368"/>
            <a:ext cx="10378440" cy="502920"/>
          </a:xfrm>
          <a:prstGeom prst="roundRect">
            <a:avLst>
              <a:gd name="adj" fmla="val 21818"/>
            </a:avLst>
          </a:prstGeom>
          <a:solidFill>
            <a:srgbClr val="10283F"/>
          </a:solidFill>
          <a:ln w="12700">
            <a:solidFill>
              <a:srgbClr val="1B3853"/>
            </a:solidFill>
            <a:prstDash val="solid"/>
          </a:ln>
        </p:spPr>
      </p:sp>
      <p:sp>
        <p:nvSpPr>
          <p:cNvPr id="26" name="Text 24"/>
          <p:cNvSpPr/>
          <p:nvPr/>
        </p:nvSpPr>
        <p:spPr>
          <a:xfrm>
            <a:off x="1143000" y="5376672"/>
            <a:ext cx="9829800" cy="201168"/>
          </a:xfrm>
          <a:prstGeom prst="rect">
            <a:avLst/>
          </a:prstGeom>
          <a:noFill/>
          <a:ln/>
        </p:spPr>
        <p:txBody>
          <a:bodyPr wrap="square" lIns="0" tIns="0" rIns="0" bIns="0" rtlCol="0" anchor="ctr">
            <a:normAutofit/>
          </a:bodyPr>
          <a:lstStyle/>
          <a:p>
            <a:pPr marL="0" indent="0" algn="ctr">
              <a:buNone/>
            </a:pPr>
            <a:r>
              <a:rPr lang="en-US" sz="1270" b="1" dirty="0">
                <a:solidFill>
                  <a:srgbClr val="35D0BA"/>
                </a:solidFill>
                <a:latin typeface="Aptos" pitchFamily="34" charset="0"/>
                <a:ea typeface="Aptos" pitchFamily="34" charset="-122"/>
                <a:cs typeface="Aptos" pitchFamily="34" charset="-120"/>
              </a:rPr>
              <a:t>Next milestone: stronger real-world data before stronger models</a:t>
            </a:r>
            <a:endParaRPr lang="en-US" sz="1270" dirty="0"/>
          </a:p>
        </p:txBody>
      </p:sp>
      <p:sp>
        <p:nvSpPr>
          <p:cNvPr id="27"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84048"/>
            <a:ext cx="1920240" cy="256032"/>
          </a:xfrm>
          <a:prstGeom prst="rect">
            <a:avLst/>
          </a:prstGeom>
          <a:noFill/>
          <a:ln/>
        </p:spPr>
        <p:txBody>
          <a:bodyPr wrap="square" lIns="0" tIns="0" rIns="0" bIns="0" rtlCol="0" anchor="ctr">
            <a:normAutofit/>
          </a:bodyPr>
          <a:lstStyle/>
          <a:p>
            <a:pPr marL="0" indent="0">
              <a:buNone/>
            </a:pPr>
            <a:r>
              <a:rPr lang="en-US" sz="1100" b="1" kern="0" spc="180" dirty="0">
                <a:solidFill>
                  <a:srgbClr val="35D0BA"/>
                </a:solidFill>
                <a:latin typeface="Aptos" pitchFamily="34" charset="0"/>
                <a:ea typeface="Aptos" pitchFamily="34" charset="-122"/>
                <a:cs typeface="Aptos" pitchFamily="34" charset="-120"/>
              </a:rPr>
              <a:t>FINANCEAI</a:t>
            </a:r>
            <a:endParaRPr lang="en-US" sz="1100" dirty="0"/>
          </a:p>
        </p:txBody>
      </p:sp>
      <p:sp>
        <p:nvSpPr>
          <p:cNvPr id="3" name="Text 1"/>
          <p:cNvSpPr/>
          <p:nvPr/>
        </p:nvSpPr>
        <p:spPr>
          <a:xfrm>
            <a:off x="640080" y="1005840"/>
            <a:ext cx="7680960" cy="1828800"/>
          </a:xfrm>
          <a:prstGeom prst="rect">
            <a:avLst/>
          </a:prstGeom>
          <a:noFill/>
          <a:ln/>
        </p:spPr>
        <p:txBody>
          <a:bodyPr wrap="square" lIns="0" tIns="0" rIns="0" bIns="0" rtlCol="0" anchor="t">
            <a:normAutofit/>
          </a:bodyPr>
          <a:lstStyle/>
          <a:p>
            <a:pPr marL="0" indent="0">
              <a:buNone/>
            </a:pPr>
            <a:r>
              <a:rPr lang="en-US" sz="3200" b="1" dirty="0">
                <a:solidFill>
                  <a:srgbClr val="F2F7FB"/>
                </a:solidFill>
                <a:latin typeface="Aptos Display" pitchFamily="34" charset="0"/>
                <a:ea typeface="Aptos Display" pitchFamily="34" charset="-122"/>
                <a:cs typeface="Aptos Display" pitchFamily="34" charset="-120"/>
              </a:rPr>
              <a:t>Explainable finance.</a:t>
            </a:r>
            <a:endParaRPr lang="en-US" sz="3200" dirty="0"/>
          </a:p>
          <a:p>
            <a:pPr marL="0" indent="0">
              <a:buNone/>
            </a:pPr>
            <a:r>
              <a:rPr lang="en-US" sz="3200" b="1" dirty="0">
                <a:solidFill>
                  <a:srgbClr val="F2F7FB"/>
                </a:solidFill>
                <a:latin typeface="Aptos Display" pitchFamily="34" charset="0"/>
                <a:ea typeface="Aptos Display" pitchFamily="34" charset="-122"/>
                <a:cs typeface="Aptos Display" pitchFamily="34" charset="-120"/>
              </a:rPr>
              <a:t>Responsible machine learning.</a:t>
            </a:r>
            <a:endParaRPr lang="en-US" sz="3200" dirty="0"/>
          </a:p>
          <a:p>
            <a:pPr marL="0" indent="0">
              <a:buNone/>
            </a:pPr>
            <a:r>
              <a:rPr lang="en-US" sz="3200" b="1" dirty="0">
                <a:solidFill>
                  <a:srgbClr val="F2F7FB"/>
                </a:solidFill>
                <a:latin typeface="Aptos Display" pitchFamily="34" charset="0"/>
                <a:ea typeface="Aptos Display" pitchFamily="34" charset="-122"/>
                <a:cs typeface="Aptos Display" pitchFamily="34" charset="-120"/>
              </a:rPr>
              <a:t>One integrated product.</a:t>
            </a:r>
            <a:endParaRPr lang="en-US" sz="3200" dirty="0"/>
          </a:p>
        </p:txBody>
      </p:sp>
      <p:sp>
        <p:nvSpPr>
          <p:cNvPr id="4" name="Shape 2"/>
          <p:cNvSpPr/>
          <p:nvPr/>
        </p:nvSpPr>
        <p:spPr>
          <a:xfrm>
            <a:off x="685800" y="3246120"/>
            <a:ext cx="7955280" cy="1417320"/>
          </a:xfrm>
          <a:prstGeom prst="roundRect">
            <a:avLst>
              <a:gd name="adj" fmla="val 7742"/>
            </a:avLst>
          </a:prstGeom>
          <a:solidFill>
            <a:srgbClr val="10283F"/>
          </a:solidFill>
          <a:ln w="12700">
            <a:solidFill>
              <a:srgbClr val="1B3853"/>
            </a:solidFill>
            <a:prstDash val="solid"/>
          </a:ln>
        </p:spPr>
      </p:sp>
      <p:sp>
        <p:nvSpPr>
          <p:cNvPr id="5" name="Text 3"/>
          <p:cNvSpPr/>
          <p:nvPr/>
        </p:nvSpPr>
        <p:spPr>
          <a:xfrm>
            <a:off x="960120" y="3493008"/>
            <a:ext cx="1600200" cy="219456"/>
          </a:xfrm>
          <a:prstGeom prst="rect">
            <a:avLst/>
          </a:prstGeom>
          <a:noFill/>
          <a:ln/>
        </p:spPr>
        <p:txBody>
          <a:bodyPr wrap="square" lIns="0" tIns="0" rIns="0" bIns="0" rtlCol="0" anchor="ctr">
            <a:normAutofit/>
          </a:bodyPr>
          <a:lstStyle/>
          <a:p>
            <a:pPr marL="0" indent="0">
              <a:buNone/>
            </a:pPr>
            <a:r>
              <a:rPr lang="en-US" sz="1000" b="1" kern="0" spc="110" dirty="0">
                <a:solidFill>
                  <a:srgbClr val="35D0BA"/>
                </a:solidFill>
                <a:latin typeface="Aptos" pitchFamily="34" charset="0"/>
                <a:ea typeface="Aptos" pitchFamily="34" charset="-122"/>
                <a:cs typeface="Aptos" pitchFamily="34" charset="-120"/>
              </a:rPr>
              <a:t>Final Takeaway</a:t>
            </a:r>
            <a:endParaRPr lang="en-US" sz="1000" dirty="0"/>
          </a:p>
        </p:txBody>
      </p:sp>
      <p:sp>
        <p:nvSpPr>
          <p:cNvPr id="6" name="Text 4"/>
          <p:cNvSpPr/>
          <p:nvPr/>
        </p:nvSpPr>
        <p:spPr>
          <a:xfrm>
            <a:off x="960120" y="3867912"/>
            <a:ext cx="7315200" cy="566928"/>
          </a:xfrm>
          <a:prstGeom prst="rect">
            <a:avLst/>
          </a:prstGeom>
          <a:noFill/>
          <a:ln/>
        </p:spPr>
        <p:txBody>
          <a:bodyPr wrap="square" lIns="0" tIns="0" rIns="0" bIns="0" rtlCol="0" anchor="t">
            <a:normAutofit/>
          </a:bodyPr>
          <a:lstStyle/>
          <a:p>
            <a:pPr marL="0" indent="0">
              <a:buNone/>
            </a:pPr>
            <a:r>
              <a:rPr lang="en-US" sz="1400" b="1" dirty="0">
                <a:solidFill>
                  <a:srgbClr val="F2F7FB"/>
                </a:solidFill>
                <a:latin typeface="Aptos" pitchFamily="34" charset="0"/>
                <a:ea typeface="Aptos" pitchFamily="34" charset="-122"/>
                <a:cs typeface="Aptos" pitchFamily="34" charset="-120"/>
              </a:rPr>
              <a:t>FinanceAI demonstrates not only model building, but also integration, authentication, databases, APIs, explainability, testing and responsible communication of limitations.</a:t>
            </a:r>
            <a:endParaRPr lang="en-US" sz="1400" dirty="0"/>
          </a:p>
        </p:txBody>
      </p:sp>
      <p:sp>
        <p:nvSpPr>
          <p:cNvPr id="7" name="Shape 5"/>
          <p:cNvSpPr/>
          <p:nvPr/>
        </p:nvSpPr>
        <p:spPr>
          <a:xfrm>
            <a:off x="9006840" y="1097280"/>
            <a:ext cx="2377440" cy="2377440"/>
          </a:xfrm>
          <a:prstGeom prst="roundRect">
            <a:avLst>
              <a:gd name="adj" fmla="val 4615"/>
            </a:avLst>
          </a:prstGeom>
          <a:solidFill>
            <a:srgbClr val="0E2034"/>
          </a:solidFill>
          <a:ln w="12700">
            <a:solidFill>
              <a:srgbClr val="1B3853"/>
            </a:solidFill>
            <a:prstDash val="solid"/>
          </a:ln>
        </p:spPr>
      </p:sp>
      <p:sp>
        <p:nvSpPr>
          <p:cNvPr id="8" name="Text 6"/>
          <p:cNvSpPr/>
          <p:nvPr/>
        </p:nvSpPr>
        <p:spPr>
          <a:xfrm>
            <a:off x="9189720" y="1389888"/>
            <a:ext cx="2011680" cy="1143000"/>
          </a:xfrm>
          <a:prstGeom prst="rect">
            <a:avLst/>
          </a:prstGeom>
          <a:noFill/>
          <a:ln/>
        </p:spPr>
        <p:txBody>
          <a:bodyPr wrap="square" lIns="0" tIns="0" rIns="0" bIns="0" rtlCol="0" anchor="ctr">
            <a:normAutofit/>
          </a:bodyPr>
          <a:lstStyle/>
          <a:p>
            <a:pPr marL="0" indent="0" algn="ctr">
              <a:buNone/>
            </a:pPr>
            <a:r>
              <a:rPr lang="en-US" sz="2900" b="1" dirty="0">
                <a:solidFill>
                  <a:srgbClr val="35D0BA"/>
                </a:solidFill>
                <a:latin typeface="Aptos Display" pitchFamily="34" charset="0"/>
                <a:ea typeface="Aptos Display" pitchFamily="34" charset="-122"/>
                <a:cs typeface="Aptos Display" pitchFamily="34" charset="-120"/>
              </a:rPr>
              <a:t>THANK</a:t>
            </a:r>
            <a:endParaRPr lang="en-US" sz="2900" dirty="0"/>
          </a:p>
          <a:p>
            <a:pPr marL="0" indent="0" algn="ctr">
              <a:buNone/>
            </a:pPr>
            <a:r>
              <a:rPr lang="en-US" sz="2900" b="1" dirty="0">
                <a:solidFill>
                  <a:srgbClr val="35D0BA"/>
                </a:solidFill>
                <a:latin typeface="Aptos Display" pitchFamily="34" charset="0"/>
                <a:ea typeface="Aptos Display" pitchFamily="34" charset="-122"/>
                <a:cs typeface="Aptos Display" pitchFamily="34" charset="-120"/>
              </a:rPr>
              <a:t>YOU</a:t>
            </a:r>
            <a:endParaRPr lang="en-US" sz="2900" dirty="0"/>
          </a:p>
        </p:txBody>
      </p:sp>
      <p:sp>
        <p:nvSpPr>
          <p:cNvPr id="9" name="Text 7"/>
          <p:cNvSpPr/>
          <p:nvPr/>
        </p:nvSpPr>
        <p:spPr>
          <a:xfrm>
            <a:off x="9253728" y="2816352"/>
            <a:ext cx="1874520" cy="329184"/>
          </a:xfrm>
          <a:prstGeom prst="rect">
            <a:avLst/>
          </a:prstGeom>
          <a:noFill/>
          <a:ln/>
        </p:spPr>
        <p:txBody>
          <a:bodyPr wrap="square" lIns="0" tIns="0" rIns="0" bIns="0" rtlCol="0" anchor="ctr">
            <a:normAutofit/>
          </a:bodyPr>
          <a:lstStyle/>
          <a:p>
            <a:pPr marL="0" indent="0" algn="ctr">
              <a:buNone/>
            </a:pPr>
            <a:r>
              <a:rPr lang="en-US" sz="1500" b="1" dirty="0">
                <a:solidFill>
                  <a:srgbClr val="F2F7FB"/>
                </a:solidFill>
                <a:latin typeface="Aptos" pitchFamily="34" charset="0"/>
                <a:ea typeface="Aptos" pitchFamily="34" charset="-122"/>
                <a:cs typeface="Aptos" pitchFamily="34" charset="-120"/>
              </a:rPr>
              <a:t>Questions?</a:t>
            </a:r>
            <a:endParaRPr lang="en-US" sz="1500" dirty="0"/>
          </a:p>
        </p:txBody>
      </p:sp>
      <p:sp>
        <p:nvSpPr>
          <p:cNvPr id="10" name="Text 8"/>
          <p:cNvSpPr/>
          <p:nvPr/>
        </p:nvSpPr>
        <p:spPr>
          <a:xfrm>
            <a:off x="685800" y="5303520"/>
            <a:ext cx="8138160" cy="237744"/>
          </a:xfrm>
          <a:prstGeom prst="rect">
            <a:avLst/>
          </a:prstGeom>
          <a:noFill/>
          <a:ln/>
        </p:spPr>
        <p:txBody>
          <a:bodyPr wrap="square" lIns="0" tIns="0" rIns="0" bIns="0" rtlCol="0" anchor="ctr">
            <a:normAutofit/>
          </a:bodyPr>
          <a:lstStyle/>
          <a:p>
            <a:pPr marL="0" indent="0">
              <a:buNone/>
            </a:pPr>
            <a:r>
              <a:rPr lang="en-US" sz="1170" b="1" dirty="0">
                <a:solidFill>
                  <a:srgbClr val="93A8BB"/>
                </a:solidFill>
                <a:latin typeface="Aptos" pitchFamily="34" charset="0"/>
                <a:ea typeface="Aptos" pitchFamily="34" charset="-122"/>
                <a:cs typeface="Aptos" pitchFamily="34" charset="-120"/>
              </a:rPr>
              <a:t>Ajit Kumar · Ajeet Kumar · Sonu Kumar · Pranav Kr Mishra</a:t>
            </a:r>
            <a:endParaRPr lang="en-US" sz="1170" dirty="0"/>
          </a:p>
        </p:txBody>
      </p:sp>
      <p:sp>
        <p:nvSpPr>
          <p:cNvPr id="11" name="Shape 9"/>
          <p:cNvSpPr/>
          <p:nvPr/>
        </p:nvSpPr>
        <p:spPr>
          <a:xfrm>
            <a:off x="9006840" y="5230368"/>
            <a:ext cx="2286000" cy="310896"/>
          </a:xfrm>
          <a:prstGeom prst="roundRect">
            <a:avLst>
              <a:gd name="adj" fmla="val 47059"/>
            </a:avLst>
          </a:prstGeom>
          <a:solidFill>
            <a:srgbClr val="35D0BA">
              <a:alpha val="18000"/>
            </a:srgbClr>
          </a:solidFill>
          <a:ln w="12700">
            <a:solidFill>
              <a:srgbClr val="35D0BA">
                <a:alpha val="30000"/>
              </a:srgbClr>
            </a:solidFill>
            <a:prstDash val="solid"/>
          </a:ln>
        </p:spPr>
      </p:sp>
      <p:sp>
        <p:nvSpPr>
          <p:cNvPr id="12" name="Text 10"/>
          <p:cNvSpPr/>
          <p:nvPr/>
        </p:nvSpPr>
        <p:spPr>
          <a:xfrm>
            <a:off x="9079992" y="5248656"/>
            <a:ext cx="2139696" cy="274320"/>
          </a:xfrm>
          <a:prstGeom prst="rect">
            <a:avLst/>
          </a:prstGeom>
          <a:noFill/>
          <a:ln/>
        </p:spPr>
        <p:txBody>
          <a:bodyPr wrap="square" lIns="0" tIns="0" rIns="0" bIns="0" rtlCol="0" anchor="ctr">
            <a:normAutofit/>
          </a:bodyPr>
          <a:lstStyle/>
          <a:p>
            <a:pPr marL="0" indent="0" algn="ctr">
              <a:buNone/>
            </a:pPr>
            <a:r>
              <a:rPr lang="en-US" sz="950" b="1" dirty="0">
                <a:solidFill>
                  <a:srgbClr val="35D0BA"/>
                </a:solidFill>
                <a:latin typeface="Aptos" pitchFamily="34" charset="0"/>
                <a:ea typeface="Aptos" pitchFamily="34" charset="-122"/>
                <a:cs typeface="Aptos" pitchFamily="34" charset="-120"/>
              </a:rPr>
              <a:t>TEAM LEADER · AJIT KUMAR</a:t>
            </a:r>
            <a:endParaRPr lang="en-US" sz="950" dirty="0"/>
          </a:p>
        </p:txBody>
      </p:sp>
      <p:sp>
        <p:nvSpPr>
          <p:cNvPr id="25" name="Slide Number Placeholder 0"/>
          <p:cNvSpPr>
            <a:spLocks noGrp="1"/>
          </p:cNvSpPr>
          <p:nvPr>
            <p:ph type="sldNum" sz="quarter" idx="4294967295"/>
          </p:nvPr>
        </p:nvSpPr>
        <p:spPr>
          <a:xfrm>
            <a:off x="11841480"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50">
                <a:solidFill>
                  <a:srgbClr val="6D859D"/>
                </a:solidFill>
              </a:defRPr>
            </a:lvl1pPr>
          </a:lstStyle>
          <a:p>
            <a:pPr algn="l"/>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4185</Words>
  <Application>Microsoft Office PowerPoint</Application>
  <PresentationFormat>Widescreen</PresentationFormat>
  <Paragraphs>401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Sandip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FinanceAI — Seminar Presentation</dc:title>
  <dc:subject>FinanceAI Seminar Presentation</dc:subject>
  <dc:creator>FinanceAI Team</dc:creator>
  <cp:lastModifiedBy>AJIT KUMAR</cp:lastModifiedBy>
  <cp:revision>2</cp:revision>
  <dcterms:created xsi:type="dcterms:W3CDTF">2026-09-11T14:29:53Z</dcterms:created>
  <dcterms:modified xsi:type="dcterms:W3CDTF">2026-09-13T05:28:38Z</dcterms:modified>
</cp:coreProperties>
</file>